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9" r:id="rId3"/>
    <p:sldId id="261" r:id="rId5"/>
    <p:sldId id="260" r:id="rId6"/>
    <p:sldId id="257" r:id="rId7"/>
    <p:sldId id="258" r:id="rId8"/>
  </p:sldIdLst>
  <p:sldSz cx="18288000" cy="10287000"/>
  <p:notesSz cx="6858000" cy="9144000"/>
  <p:embeddedFontLst>
    <p:embeddedFont>
      <p:font typeface="Times New Roman Bold" panose="02020803070505020304"/>
      <p:bold r:id="rId13"/>
    </p:embeddedFont>
    <p:embeddedFont>
      <p:font typeface="Calibri" panose="020F050202020403020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 ISSA Oussama" initials="AO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98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7" autoAdjust="0"/>
    <p:restoredTop sz="94622" autoAdjust="0"/>
  </p:normalViewPr>
  <p:slideViewPr>
    <p:cSldViewPr showGuides="1">
      <p:cViewPr varScale="1">
        <p:scale>
          <a:sx n="54" d="100"/>
          <a:sy n="54" d="100"/>
        </p:scale>
        <p:origin x="1229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4B06AF-99A8-4468-B34E-2CD055DD3283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1300C-3C3E-44B5-A6E5-DADE835CE91D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1300C-3C3E-44B5-A6E5-DADE835CE91D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1300C-3C3E-44B5-A6E5-DADE835CE91D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1300C-3C3E-44B5-A6E5-DADE835CE91D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1300C-3C3E-44B5-A6E5-DADE835CE91D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3" Type="http://schemas.openxmlformats.org/officeDocument/2006/relationships/notesSlide" Target="../notesSlides/notesSlide1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1.sv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25.png"/><Relationship Id="rId7" Type="http://schemas.openxmlformats.org/officeDocument/2006/relationships/image" Target="../media/image7.svg"/><Relationship Id="rId6" Type="http://schemas.openxmlformats.org/officeDocument/2006/relationships/image" Target="../media/image24.png"/><Relationship Id="rId5" Type="http://schemas.openxmlformats.org/officeDocument/2006/relationships/image" Target="../media/image5.svg"/><Relationship Id="rId4" Type="http://schemas.openxmlformats.org/officeDocument/2006/relationships/image" Target="../media/image23.png"/><Relationship Id="rId3" Type="http://schemas.openxmlformats.org/officeDocument/2006/relationships/image" Target="../media/image3.svg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1.svg"/><Relationship Id="rId20" Type="http://schemas.openxmlformats.org/officeDocument/2006/relationships/image" Target="../media/image31.png"/><Relationship Id="rId2" Type="http://schemas.openxmlformats.org/officeDocument/2006/relationships/image" Target="../media/image22.png"/><Relationship Id="rId19" Type="http://schemas.openxmlformats.org/officeDocument/2006/relationships/image" Target="../media/image19.svg"/><Relationship Id="rId18" Type="http://schemas.openxmlformats.org/officeDocument/2006/relationships/image" Target="../media/image30.png"/><Relationship Id="rId17" Type="http://schemas.openxmlformats.org/officeDocument/2006/relationships/image" Target="../media/image17.svg"/><Relationship Id="rId16" Type="http://schemas.openxmlformats.org/officeDocument/2006/relationships/image" Target="../media/image29.png"/><Relationship Id="rId15" Type="http://schemas.openxmlformats.org/officeDocument/2006/relationships/image" Target="../media/image15.svg"/><Relationship Id="rId14" Type="http://schemas.openxmlformats.org/officeDocument/2006/relationships/image" Target="../media/image28.png"/><Relationship Id="rId13" Type="http://schemas.openxmlformats.org/officeDocument/2006/relationships/image" Target="../media/image13.svg"/><Relationship Id="rId12" Type="http://schemas.openxmlformats.org/officeDocument/2006/relationships/image" Target="../media/image27.png"/><Relationship Id="rId11" Type="http://schemas.openxmlformats.org/officeDocument/2006/relationships/image" Target="../media/image11.svg"/><Relationship Id="rId10" Type="http://schemas.openxmlformats.org/officeDocument/2006/relationships/image" Target="../media/image26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25.png"/><Relationship Id="rId7" Type="http://schemas.openxmlformats.org/officeDocument/2006/relationships/image" Target="../media/image7.svg"/><Relationship Id="rId6" Type="http://schemas.openxmlformats.org/officeDocument/2006/relationships/image" Target="../media/image24.png"/><Relationship Id="rId5" Type="http://schemas.openxmlformats.org/officeDocument/2006/relationships/image" Target="../media/image5.svg"/><Relationship Id="rId4" Type="http://schemas.openxmlformats.org/officeDocument/2006/relationships/image" Target="../media/image23.png"/><Relationship Id="rId3" Type="http://schemas.openxmlformats.org/officeDocument/2006/relationships/image" Target="../media/image3.svg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1.svg"/><Relationship Id="rId20" Type="http://schemas.openxmlformats.org/officeDocument/2006/relationships/image" Target="../media/image31.png"/><Relationship Id="rId2" Type="http://schemas.openxmlformats.org/officeDocument/2006/relationships/image" Target="../media/image22.png"/><Relationship Id="rId19" Type="http://schemas.openxmlformats.org/officeDocument/2006/relationships/image" Target="../media/image19.svg"/><Relationship Id="rId18" Type="http://schemas.openxmlformats.org/officeDocument/2006/relationships/image" Target="../media/image30.png"/><Relationship Id="rId17" Type="http://schemas.openxmlformats.org/officeDocument/2006/relationships/image" Target="../media/image17.svg"/><Relationship Id="rId16" Type="http://schemas.openxmlformats.org/officeDocument/2006/relationships/image" Target="../media/image29.png"/><Relationship Id="rId15" Type="http://schemas.openxmlformats.org/officeDocument/2006/relationships/image" Target="../media/image15.svg"/><Relationship Id="rId14" Type="http://schemas.openxmlformats.org/officeDocument/2006/relationships/image" Target="../media/image28.png"/><Relationship Id="rId13" Type="http://schemas.openxmlformats.org/officeDocument/2006/relationships/image" Target="../media/image13.svg"/><Relationship Id="rId12" Type="http://schemas.openxmlformats.org/officeDocument/2006/relationships/image" Target="../media/image27.png"/><Relationship Id="rId11" Type="http://schemas.openxmlformats.org/officeDocument/2006/relationships/image" Target="../media/image11.svg"/><Relationship Id="rId10" Type="http://schemas.openxmlformats.org/officeDocument/2006/relationships/image" Target="../media/image26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25.png"/><Relationship Id="rId7" Type="http://schemas.openxmlformats.org/officeDocument/2006/relationships/image" Target="../media/image7.svg"/><Relationship Id="rId6" Type="http://schemas.openxmlformats.org/officeDocument/2006/relationships/image" Target="../media/image24.png"/><Relationship Id="rId5" Type="http://schemas.openxmlformats.org/officeDocument/2006/relationships/image" Target="../media/image5.svg"/><Relationship Id="rId4" Type="http://schemas.openxmlformats.org/officeDocument/2006/relationships/image" Target="../media/image23.png"/><Relationship Id="rId3" Type="http://schemas.openxmlformats.org/officeDocument/2006/relationships/image" Target="../media/image3.sv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1.svg"/><Relationship Id="rId20" Type="http://schemas.openxmlformats.org/officeDocument/2006/relationships/image" Target="../media/image31.png"/><Relationship Id="rId2" Type="http://schemas.openxmlformats.org/officeDocument/2006/relationships/image" Target="../media/image22.png"/><Relationship Id="rId19" Type="http://schemas.openxmlformats.org/officeDocument/2006/relationships/image" Target="../media/image19.svg"/><Relationship Id="rId18" Type="http://schemas.openxmlformats.org/officeDocument/2006/relationships/image" Target="../media/image30.png"/><Relationship Id="rId17" Type="http://schemas.openxmlformats.org/officeDocument/2006/relationships/image" Target="../media/image17.svg"/><Relationship Id="rId16" Type="http://schemas.openxmlformats.org/officeDocument/2006/relationships/image" Target="../media/image29.png"/><Relationship Id="rId15" Type="http://schemas.openxmlformats.org/officeDocument/2006/relationships/image" Target="../media/image15.svg"/><Relationship Id="rId14" Type="http://schemas.openxmlformats.org/officeDocument/2006/relationships/image" Target="../media/image28.png"/><Relationship Id="rId13" Type="http://schemas.openxmlformats.org/officeDocument/2006/relationships/image" Target="../media/image13.svg"/><Relationship Id="rId12" Type="http://schemas.openxmlformats.org/officeDocument/2006/relationships/image" Target="../media/image27.png"/><Relationship Id="rId11" Type="http://schemas.openxmlformats.org/officeDocument/2006/relationships/image" Target="../media/image11.svg"/><Relationship Id="rId10" Type="http://schemas.openxmlformats.org/officeDocument/2006/relationships/image" Target="../media/image26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25.png"/><Relationship Id="rId7" Type="http://schemas.openxmlformats.org/officeDocument/2006/relationships/image" Target="../media/image7.svg"/><Relationship Id="rId6" Type="http://schemas.openxmlformats.org/officeDocument/2006/relationships/image" Target="../media/image24.png"/><Relationship Id="rId5" Type="http://schemas.openxmlformats.org/officeDocument/2006/relationships/image" Target="../media/image5.svg"/><Relationship Id="rId4" Type="http://schemas.openxmlformats.org/officeDocument/2006/relationships/image" Target="../media/image23.png"/><Relationship Id="rId3" Type="http://schemas.openxmlformats.org/officeDocument/2006/relationships/image" Target="../media/image3.svg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1.svg"/><Relationship Id="rId20" Type="http://schemas.openxmlformats.org/officeDocument/2006/relationships/image" Target="../media/image31.png"/><Relationship Id="rId2" Type="http://schemas.openxmlformats.org/officeDocument/2006/relationships/image" Target="../media/image22.png"/><Relationship Id="rId19" Type="http://schemas.openxmlformats.org/officeDocument/2006/relationships/image" Target="../media/image19.svg"/><Relationship Id="rId18" Type="http://schemas.openxmlformats.org/officeDocument/2006/relationships/image" Target="../media/image30.png"/><Relationship Id="rId17" Type="http://schemas.openxmlformats.org/officeDocument/2006/relationships/image" Target="../media/image17.svg"/><Relationship Id="rId16" Type="http://schemas.openxmlformats.org/officeDocument/2006/relationships/image" Target="../media/image29.png"/><Relationship Id="rId15" Type="http://schemas.openxmlformats.org/officeDocument/2006/relationships/image" Target="../media/image15.svg"/><Relationship Id="rId14" Type="http://schemas.openxmlformats.org/officeDocument/2006/relationships/image" Target="../media/image28.png"/><Relationship Id="rId13" Type="http://schemas.openxmlformats.org/officeDocument/2006/relationships/image" Target="../media/image13.svg"/><Relationship Id="rId12" Type="http://schemas.openxmlformats.org/officeDocument/2006/relationships/image" Target="../media/image27.png"/><Relationship Id="rId11" Type="http://schemas.openxmlformats.org/officeDocument/2006/relationships/image" Target="../media/image11.svg"/><Relationship Id="rId10" Type="http://schemas.openxmlformats.org/officeDocument/2006/relationships/image" Target="../media/image26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e 117"/>
          <p:cNvGrpSpPr/>
          <p:nvPr/>
        </p:nvGrpSpPr>
        <p:grpSpPr>
          <a:xfrm>
            <a:off x="10980061" y="1165588"/>
            <a:ext cx="3523628" cy="3295078"/>
            <a:chOff x="10980061" y="1165588"/>
            <a:chExt cx="3523628" cy="3295078"/>
          </a:xfrm>
        </p:grpSpPr>
        <p:sp>
          <p:nvSpPr>
            <p:cNvPr id="31" name="Freeform 31"/>
            <p:cNvSpPr/>
            <p:nvPr/>
          </p:nvSpPr>
          <p:spPr>
            <a:xfrm>
              <a:off x="10998489" y="1165588"/>
              <a:ext cx="3505200" cy="3295078"/>
            </a:xfrm>
            <a:custGeom>
              <a:avLst/>
              <a:gdLst/>
              <a:ahLst/>
              <a:cxnLst/>
              <a:rect l="l" t="t" r="r" b="b"/>
              <a:pathLst>
                <a:path w="936875" h="880713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849792"/>
                  </a:lnTo>
                  <a:cubicBezTo>
                    <a:pt x="936875" y="866869"/>
                    <a:pt x="923031" y="880713"/>
                    <a:pt x="905953" y="880713"/>
                  </a:cubicBezTo>
                  <a:lnTo>
                    <a:pt x="30922" y="880713"/>
                  </a:lnTo>
                  <a:cubicBezTo>
                    <a:pt x="22721" y="880713"/>
                    <a:pt x="14856" y="877455"/>
                    <a:pt x="9057" y="871656"/>
                  </a:cubicBezTo>
                  <a:cubicBezTo>
                    <a:pt x="3258" y="865858"/>
                    <a:pt x="0" y="857992"/>
                    <a:pt x="0" y="849792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7" name="Flèche : pentagone 246"/>
            <p:cNvSpPr/>
            <p:nvPr/>
          </p:nvSpPr>
          <p:spPr>
            <a:xfrm>
              <a:off x="10992541" y="1927406"/>
              <a:ext cx="216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8" name="Flèche : pentagone 247"/>
            <p:cNvSpPr/>
            <p:nvPr/>
          </p:nvSpPr>
          <p:spPr>
            <a:xfrm>
              <a:off x="10991018" y="2332959"/>
              <a:ext cx="252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9" name="Flèche : pentagone 248"/>
            <p:cNvSpPr/>
            <p:nvPr/>
          </p:nvSpPr>
          <p:spPr>
            <a:xfrm>
              <a:off x="10991018" y="2963513"/>
              <a:ext cx="252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0" name="Flèche : pentagone 249"/>
            <p:cNvSpPr/>
            <p:nvPr/>
          </p:nvSpPr>
          <p:spPr>
            <a:xfrm>
              <a:off x="10980061" y="3638675"/>
              <a:ext cx="252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1" name="Flèche : pentagone 250"/>
            <p:cNvSpPr/>
            <p:nvPr/>
          </p:nvSpPr>
          <p:spPr>
            <a:xfrm>
              <a:off x="10991018" y="3996061"/>
              <a:ext cx="252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4" name="Flèche : pentagone 253"/>
            <p:cNvSpPr/>
            <p:nvPr/>
          </p:nvSpPr>
          <p:spPr>
            <a:xfrm>
              <a:off x="10996489" y="1540488"/>
              <a:ext cx="252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11" name="Groupe 110"/>
          <p:cNvGrpSpPr/>
          <p:nvPr/>
        </p:nvGrpSpPr>
        <p:grpSpPr>
          <a:xfrm>
            <a:off x="14635363" y="1165588"/>
            <a:ext cx="3528000" cy="6219064"/>
            <a:chOff x="14635363" y="1165588"/>
            <a:chExt cx="3528000" cy="6219064"/>
          </a:xfrm>
        </p:grpSpPr>
        <p:sp>
          <p:nvSpPr>
            <p:cNvPr id="22" name="Freeform 22"/>
            <p:cNvSpPr/>
            <p:nvPr/>
          </p:nvSpPr>
          <p:spPr>
            <a:xfrm>
              <a:off x="14635363" y="1165588"/>
              <a:ext cx="3528000" cy="6219064"/>
            </a:xfrm>
            <a:custGeom>
              <a:avLst/>
              <a:gdLst/>
              <a:ahLst/>
              <a:cxnLst/>
              <a:rect l="l" t="t" r="r" b="b"/>
              <a:pathLst>
                <a:path w="936875" h="1662241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1631319"/>
                  </a:lnTo>
                  <a:cubicBezTo>
                    <a:pt x="936875" y="1648397"/>
                    <a:pt x="923031" y="1662241"/>
                    <a:pt x="905953" y="1662241"/>
                  </a:cubicBezTo>
                  <a:lnTo>
                    <a:pt x="30922" y="1662241"/>
                  </a:lnTo>
                  <a:cubicBezTo>
                    <a:pt x="13844" y="1662241"/>
                    <a:pt x="0" y="1648397"/>
                    <a:pt x="0" y="1631319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Flèche : pentagone 107"/>
            <p:cNvSpPr/>
            <p:nvPr/>
          </p:nvSpPr>
          <p:spPr>
            <a:xfrm>
              <a:off x="14641239" y="5975940"/>
              <a:ext cx="144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9" name="Flèche : pentagone 108"/>
            <p:cNvSpPr/>
            <p:nvPr/>
          </p:nvSpPr>
          <p:spPr>
            <a:xfrm>
              <a:off x="14635363" y="6374808"/>
              <a:ext cx="144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0" name="Flèche : pentagone 109"/>
            <p:cNvSpPr/>
            <p:nvPr/>
          </p:nvSpPr>
          <p:spPr>
            <a:xfrm>
              <a:off x="14664274" y="6909931"/>
              <a:ext cx="144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92" name="Groupe 291"/>
          <p:cNvGrpSpPr/>
          <p:nvPr/>
        </p:nvGrpSpPr>
        <p:grpSpPr>
          <a:xfrm>
            <a:off x="7267358" y="7541814"/>
            <a:ext cx="3513732" cy="2622007"/>
            <a:chOff x="7267358" y="7541814"/>
            <a:chExt cx="3513732" cy="2622007"/>
          </a:xfrm>
        </p:grpSpPr>
        <p:grpSp>
          <p:nvGrpSpPr>
            <p:cNvPr id="58" name="Group 58"/>
            <p:cNvGrpSpPr/>
            <p:nvPr/>
          </p:nvGrpSpPr>
          <p:grpSpPr>
            <a:xfrm>
              <a:off x="7275890" y="7541814"/>
              <a:ext cx="3505200" cy="2622007"/>
              <a:chOff x="0" y="0"/>
              <a:chExt cx="936875" cy="70081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936875" cy="700814"/>
              </a:xfrm>
              <a:custGeom>
                <a:avLst/>
                <a:gdLst/>
                <a:ahLst/>
                <a:cxnLst/>
                <a:rect l="l" t="t" r="r" b="b"/>
                <a:pathLst>
                  <a:path w="936875" h="700814">
                    <a:moveTo>
                      <a:pt x="30922" y="0"/>
                    </a:moveTo>
                    <a:lnTo>
                      <a:pt x="905953" y="0"/>
                    </a:lnTo>
                    <a:cubicBezTo>
                      <a:pt x="914154" y="0"/>
                      <a:pt x="922019" y="3258"/>
                      <a:pt x="927818" y="9057"/>
                    </a:cubicBezTo>
                    <a:cubicBezTo>
                      <a:pt x="933617" y="14856"/>
                      <a:pt x="936875" y="22721"/>
                      <a:pt x="936875" y="30922"/>
                    </a:cubicBezTo>
                    <a:lnTo>
                      <a:pt x="936875" y="669892"/>
                    </a:lnTo>
                    <a:cubicBezTo>
                      <a:pt x="936875" y="686970"/>
                      <a:pt x="923031" y="700814"/>
                      <a:pt x="905953" y="700814"/>
                    </a:cubicBezTo>
                    <a:lnTo>
                      <a:pt x="30922" y="700814"/>
                    </a:lnTo>
                    <a:cubicBezTo>
                      <a:pt x="13844" y="700814"/>
                      <a:pt x="0" y="686970"/>
                      <a:pt x="0" y="669892"/>
                    </a:cubicBezTo>
                    <a:lnTo>
                      <a:pt x="0" y="30922"/>
                    </a:lnTo>
                    <a:cubicBezTo>
                      <a:pt x="0" y="13844"/>
                      <a:pt x="13844" y="0"/>
                      <a:pt x="309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76069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19050"/>
                <a:ext cx="936875" cy="7198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id="291" name="Flèche : pentagone 290"/>
            <p:cNvSpPr/>
            <p:nvPr/>
          </p:nvSpPr>
          <p:spPr>
            <a:xfrm>
              <a:off x="7268643" y="9426747"/>
              <a:ext cx="147406" cy="112293"/>
            </a:xfrm>
            <a:prstGeom prst="homePlat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89" name="Flèche : pentagone 288"/>
            <p:cNvSpPr/>
            <p:nvPr/>
          </p:nvSpPr>
          <p:spPr>
            <a:xfrm>
              <a:off x="7267358" y="7993070"/>
              <a:ext cx="172959" cy="112293"/>
            </a:xfrm>
            <a:prstGeom prst="homePlat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0" name="Flèche : pentagone 289"/>
            <p:cNvSpPr/>
            <p:nvPr/>
          </p:nvSpPr>
          <p:spPr>
            <a:xfrm>
              <a:off x="7268644" y="9056147"/>
              <a:ext cx="147406" cy="112293"/>
            </a:xfrm>
            <a:prstGeom prst="homePlat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578" y="7542042"/>
            <a:ext cx="7100587" cy="2621779"/>
            <a:chOff x="0" y="0"/>
            <a:chExt cx="1897855" cy="7007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7855" cy="700753"/>
            </a:xfrm>
            <a:custGeom>
              <a:avLst/>
              <a:gdLst/>
              <a:ahLst/>
              <a:cxnLst/>
              <a:rect l="l" t="t" r="r" b="b"/>
              <a:pathLst>
                <a:path w="1897855" h="700753">
                  <a:moveTo>
                    <a:pt x="15264" y="0"/>
                  </a:moveTo>
                  <a:lnTo>
                    <a:pt x="1882591" y="0"/>
                  </a:lnTo>
                  <a:cubicBezTo>
                    <a:pt x="1891021" y="0"/>
                    <a:pt x="1897855" y="6834"/>
                    <a:pt x="1897855" y="15264"/>
                  </a:cubicBezTo>
                  <a:lnTo>
                    <a:pt x="1897855" y="685489"/>
                  </a:lnTo>
                  <a:cubicBezTo>
                    <a:pt x="1897855" y="693919"/>
                    <a:pt x="1891021" y="700753"/>
                    <a:pt x="1882591" y="700753"/>
                  </a:cubicBezTo>
                  <a:lnTo>
                    <a:pt x="15264" y="700753"/>
                  </a:lnTo>
                  <a:cubicBezTo>
                    <a:pt x="6834" y="700753"/>
                    <a:pt x="0" y="693919"/>
                    <a:pt x="0" y="685489"/>
                  </a:cubicBezTo>
                  <a:lnTo>
                    <a:pt x="0" y="15264"/>
                  </a:lnTo>
                  <a:cubicBezTo>
                    <a:pt x="0" y="6834"/>
                    <a:pt x="6834" y="0"/>
                    <a:pt x="152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897855" cy="71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280" name="Freeform 25"/>
          <p:cNvSpPr/>
          <p:nvPr/>
        </p:nvSpPr>
        <p:spPr>
          <a:xfrm>
            <a:off x="2362200" y="9607135"/>
            <a:ext cx="3156927" cy="496910"/>
          </a:xfrm>
          <a:custGeom>
            <a:avLst/>
            <a:gdLst/>
            <a:ahLst/>
            <a:cxnLst/>
            <a:rect l="l" t="t" r="r" b="b"/>
            <a:pathLst>
              <a:path w="595069" h="229772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88654"/>
                </a:lnTo>
                <a:cubicBezTo>
                  <a:pt x="595069" y="199559"/>
                  <a:pt x="590737" y="210018"/>
                  <a:pt x="583025" y="217729"/>
                </a:cubicBezTo>
                <a:cubicBezTo>
                  <a:pt x="575314" y="225440"/>
                  <a:pt x="564856" y="229772"/>
                  <a:pt x="553950" y="229772"/>
                </a:cubicBezTo>
                <a:lnTo>
                  <a:pt x="41118" y="229772"/>
                </a:lnTo>
                <a:cubicBezTo>
                  <a:pt x="30213" y="229772"/>
                  <a:pt x="19755" y="225440"/>
                  <a:pt x="12043" y="217729"/>
                </a:cubicBezTo>
                <a:cubicBezTo>
                  <a:pt x="4332" y="210018"/>
                  <a:pt x="0" y="199559"/>
                  <a:pt x="0" y="188654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FFFF00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81" name="TextBox 26"/>
          <p:cNvSpPr txBox="1"/>
          <p:nvPr/>
        </p:nvSpPr>
        <p:spPr>
          <a:xfrm>
            <a:off x="4857051" y="7891349"/>
            <a:ext cx="2259402" cy="5950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278" name="TextBox 26"/>
          <p:cNvSpPr txBox="1"/>
          <p:nvPr/>
        </p:nvSpPr>
        <p:spPr>
          <a:xfrm>
            <a:off x="2510169" y="7891349"/>
            <a:ext cx="2259402" cy="5950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grpSp>
        <p:nvGrpSpPr>
          <p:cNvPr id="27" name="Group 27"/>
          <p:cNvGrpSpPr/>
          <p:nvPr/>
        </p:nvGrpSpPr>
        <p:grpSpPr>
          <a:xfrm>
            <a:off x="3687497" y="4562701"/>
            <a:ext cx="3505200" cy="2841001"/>
            <a:chOff x="0" y="0"/>
            <a:chExt cx="936875" cy="75934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36875" cy="759347"/>
            </a:xfrm>
            <a:custGeom>
              <a:avLst/>
              <a:gdLst/>
              <a:ahLst/>
              <a:cxnLst/>
              <a:rect l="l" t="t" r="r" b="b"/>
              <a:pathLst>
                <a:path w="936875" h="759347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728425"/>
                  </a:lnTo>
                  <a:cubicBezTo>
                    <a:pt x="936875" y="745503"/>
                    <a:pt x="923031" y="759347"/>
                    <a:pt x="905953" y="759347"/>
                  </a:cubicBezTo>
                  <a:lnTo>
                    <a:pt x="30922" y="759347"/>
                  </a:lnTo>
                  <a:cubicBezTo>
                    <a:pt x="13844" y="759347"/>
                    <a:pt x="0" y="745503"/>
                    <a:pt x="0" y="728425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936875" cy="77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6" name="Freeform 16"/>
          <p:cNvSpPr/>
          <p:nvPr/>
        </p:nvSpPr>
        <p:spPr>
          <a:xfrm>
            <a:off x="3713540" y="1165588"/>
            <a:ext cx="3505200" cy="3292398"/>
          </a:xfrm>
          <a:custGeom>
            <a:avLst/>
            <a:gdLst/>
            <a:ahLst/>
            <a:cxnLst/>
            <a:rect l="l" t="t" r="r" b="b"/>
            <a:pathLst>
              <a:path w="936875" h="872344">
                <a:moveTo>
                  <a:pt x="30922" y="0"/>
                </a:moveTo>
                <a:lnTo>
                  <a:pt x="905953" y="0"/>
                </a:lnTo>
                <a:cubicBezTo>
                  <a:pt x="914154" y="0"/>
                  <a:pt x="922019" y="3258"/>
                  <a:pt x="927818" y="9057"/>
                </a:cubicBezTo>
                <a:cubicBezTo>
                  <a:pt x="933617" y="14856"/>
                  <a:pt x="936875" y="22721"/>
                  <a:pt x="936875" y="30922"/>
                </a:cubicBezTo>
                <a:lnTo>
                  <a:pt x="936875" y="841422"/>
                </a:lnTo>
                <a:cubicBezTo>
                  <a:pt x="936875" y="858500"/>
                  <a:pt x="923031" y="872344"/>
                  <a:pt x="905953" y="872344"/>
                </a:cubicBezTo>
                <a:lnTo>
                  <a:pt x="30922" y="872344"/>
                </a:lnTo>
                <a:cubicBezTo>
                  <a:pt x="22721" y="872344"/>
                  <a:pt x="14856" y="869086"/>
                  <a:pt x="9057" y="863287"/>
                </a:cubicBezTo>
                <a:cubicBezTo>
                  <a:pt x="3258" y="857488"/>
                  <a:pt x="0" y="849623"/>
                  <a:pt x="0" y="841422"/>
                </a:cubicBezTo>
                <a:lnTo>
                  <a:pt x="0" y="30922"/>
                </a:lnTo>
                <a:cubicBezTo>
                  <a:pt x="0" y="13844"/>
                  <a:pt x="13844" y="0"/>
                  <a:pt x="3092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229883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/>
          <p:cNvSpPr txBox="1"/>
          <p:nvPr/>
        </p:nvSpPr>
        <p:spPr>
          <a:xfrm>
            <a:off x="3713540" y="1094315"/>
            <a:ext cx="3505200" cy="333503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255" name="Flèche : pentagone 254"/>
          <p:cNvSpPr/>
          <p:nvPr/>
        </p:nvSpPr>
        <p:spPr>
          <a:xfrm>
            <a:off x="3729522" y="1540488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20" name="Groupe 119"/>
          <p:cNvGrpSpPr/>
          <p:nvPr/>
        </p:nvGrpSpPr>
        <p:grpSpPr>
          <a:xfrm>
            <a:off x="10888980" y="4553176"/>
            <a:ext cx="3643620" cy="2841001"/>
            <a:chOff x="10888980" y="4553176"/>
            <a:chExt cx="3643620" cy="2841001"/>
          </a:xfrm>
        </p:grpSpPr>
        <p:sp>
          <p:nvSpPr>
            <p:cNvPr id="34" name="Freeform 34"/>
            <p:cNvSpPr/>
            <p:nvPr/>
          </p:nvSpPr>
          <p:spPr>
            <a:xfrm>
              <a:off x="10896600" y="4553176"/>
              <a:ext cx="3636000" cy="2841001"/>
            </a:xfrm>
            <a:custGeom>
              <a:avLst/>
              <a:gdLst/>
              <a:ahLst/>
              <a:cxnLst/>
              <a:rect l="l" t="t" r="r" b="b"/>
              <a:pathLst>
                <a:path w="960249" h="759347">
                  <a:moveTo>
                    <a:pt x="30169" y="0"/>
                  </a:moveTo>
                  <a:lnTo>
                    <a:pt x="930080" y="0"/>
                  </a:lnTo>
                  <a:cubicBezTo>
                    <a:pt x="938081" y="0"/>
                    <a:pt x="945755" y="3179"/>
                    <a:pt x="951412" y="8836"/>
                  </a:cubicBezTo>
                  <a:cubicBezTo>
                    <a:pt x="957070" y="14494"/>
                    <a:pt x="960249" y="22168"/>
                    <a:pt x="960249" y="30169"/>
                  </a:cubicBezTo>
                  <a:lnTo>
                    <a:pt x="960249" y="729178"/>
                  </a:lnTo>
                  <a:cubicBezTo>
                    <a:pt x="960249" y="737179"/>
                    <a:pt x="957070" y="744853"/>
                    <a:pt x="951412" y="750511"/>
                  </a:cubicBezTo>
                  <a:cubicBezTo>
                    <a:pt x="945755" y="756168"/>
                    <a:pt x="938081" y="759347"/>
                    <a:pt x="930080" y="759347"/>
                  </a:cubicBezTo>
                  <a:lnTo>
                    <a:pt x="30169" y="759347"/>
                  </a:lnTo>
                  <a:cubicBezTo>
                    <a:pt x="13507" y="759347"/>
                    <a:pt x="0" y="745840"/>
                    <a:pt x="0" y="729178"/>
                  </a:cubicBezTo>
                  <a:lnTo>
                    <a:pt x="0" y="30169"/>
                  </a:lnTo>
                  <a:cubicBezTo>
                    <a:pt x="0" y="22168"/>
                    <a:pt x="3179" y="14494"/>
                    <a:pt x="8836" y="8836"/>
                  </a:cubicBezTo>
                  <a:cubicBezTo>
                    <a:pt x="14494" y="3179"/>
                    <a:pt x="22168" y="0"/>
                    <a:pt x="3016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5" name="Flèche : droite 234"/>
            <p:cNvSpPr/>
            <p:nvPr/>
          </p:nvSpPr>
          <p:spPr>
            <a:xfrm>
              <a:off x="10888980" y="4974150"/>
              <a:ext cx="144000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7" name="Flèche : droite 236"/>
            <p:cNvSpPr/>
            <p:nvPr/>
          </p:nvSpPr>
          <p:spPr>
            <a:xfrm>
              <a:off x="10888980" y="5455248"/>
              <a:ext cx="144000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9" name="Flèche : droite 238"/>
            <p:cNvSpPr/>
            <p:nvPr/>
          </p:nvSpPr>
          <p:spPr>
            <a:xfrm>
              <a:off x="10896600" y="5981700"/>
              <a:ext cx="144000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1" name="Flèche : droite 240"/>
            <p:cNvSpPr/>
            <p:nvPr/>
          </p:nvSpPr>
          <p:spPr>
            <a:xfrm>
              <a:off x="10897219" y="6215681"/>
              <a:ext cx="144000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2" name="Flèche : droite 241"/>
            <p:cNvSpPr/>
            <p:nvPr/>
          </p:nvSpPr>
          <p:spPr>
            <a:xfrm>
              <a:off x="10907768" y="6717391"/>
              <a:ext cx="144000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3" name="Flèche : droite 242"/>
            <p:cNvSpPr/>
            <p:nvPr/>
          </p:nvSpPr>
          <p:spPr>
            <a:xfrm>
              <a:off x="10895746" y="6954216"/>
              <a:ext cx="144000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4" name="Flèche : droite 243"/>
            <p:cNvSpPr/>
            <p:nvPr/>
          </p:nvSpPr>
          <p:spPr>
            <a:xfrm>
              <a:off x="10897549" y="7198489"/>
              <a:ext cx="144000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10428" y="1149928"/>
            <a:ext cx="3505200" cy="6234724"/>
            <a:chOff x="0" y="0"/>
            <a:chExt cx="936875" cy="16664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6875" cy="1666426"/>
            </a:xfrm>
            <a:custGeom>
              <a:avLst/>
              <a:gdLst/>
              <a:ahLst/>
              <a:cxnLst/>
              <a:rect l="l" t="t" r="r" b="b"/>
              <a:pathLst>
                <a:path w="936875" h="1666426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1635505"/>
                  </a:lnTo>
                  <a:cubicBezTo>
                    <a:pt x="936875" y="1652582"/>
                    <a:pt x="923031" y="1666426"/>
                    <a:pt x="905953" y="1666426"/>
                  </a:cubicBezTo>
                  <a:lnTo>
                    <a:pt x="30922" y="1666426"/>
                  </a:lnTo>
                  <a:cubicBezTo>
                    <a:pt x="22721" y="1666426"/>
                    <a:pt x="14856" y="1663169"/>
                    <a:pt x="9057" y="1657370"/>
                  </a:cubicBezTo>
                  <a:cubicBezTo>
                    <a:pt x="3258" y="1651571"/>
                    <a:pt x="0" y="1643706"/>
                    <a:pt x="0" y="1635505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36875" cy="1685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1529" y="5524500"/>
            <a:ext cx="3528060" cy="1845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Fournisseurs techniques: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HITECH NEW ENERGY CO. Ltd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(Chine)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DEYE</a:t>
            </a:r>
            <a:endParaRPr lang="fr-FR" sz="1700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JINKO</a:t>
            </a:r>
            <a:endParaRPr lang="fr-FR" sz="1700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HUAWEI</a:t>
            </a:r>
            <a:endParaRPr lang="fr-FR" sz="1700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 algn="ctr"/>
            <a:r>
              <a:rPr lang="fr-FR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(composants certifiés)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866815" y="7542042"/>
            <a:ext cx="7273748" cy="2621779"/>
            <a:chOff x="0" y="0"/>
            <a:chExt cx="1944138" cy="7007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4138" cy="700753"/>
            </a:xfrm>
            <a:custGeom>
              <a:avLst/>
              <a:gdLst/>
              <a:ahLst/>
              <a:cxnLst/>
              <a:rect l="l" t="t" r="r" b="b"/>
              <a:pathLst>
                <a:path w="1944138" h="700753">
                  <a:moveTo>
                    <a:pt x="14901" y="0"/>
                  </a:moveTo>
                  <a:lnTo>
                    <a:pt x="1929237" y="0"/>
                  </a:lnTo>
                  <a:cubicBezTo>
                    <a:pt x="1933189" y="0"/>
                    <a:pt x="1936979" y="1570"/>
                    <a:pt x="1939774" y="4364"/>
                  </a:cubicBezTo>
                  <a:cubicBezTo>
                    <a:pt x="1942568" y="7159"/>
                    <a:pt x="1944138" y="10949"/>
                    <a:pt x="1944138" y="14901"/>
                  </a:cubicBezTo>
                  <a:lnTo>
                    <a:pt x="1944138" y="685852"/>
                  </a:lnTo>
                  <a:cubicBezTo>
                    <a:pt x="1944138" y="689804"/>
                    <a:pt x="1942568" y="693594"/>
                    <a:pt x="1939774" y="696389"/>
                  </a:cubicBezTo>
                  <a:cubicBezTo>
                    <a:pt x="1936979" y="699183"/>
                    <a:pt x="1933189" y="700753"/>
                    <a:pt x="1929237" y="700753"/>
                  </a:cubicBezTo>
                  <a:lnTo>
                    <a:pt x="14901" y="700753"/>
                  </a:lnTo>
                  <a:cubicBezTo>
                    <a:pt x="10949" y="700753"/>
                    <a:pt x="7159" y="699183"/>
                    <a:pt x="4364" y="696389"/>
                  </a:cubicBezTo>
                  <a:cubicBezTo>
                    <a:pt x="1570" y="693594"/>
                    <a:pt x="0" y="689804"/>
                    <a:pt x="0" y="685852"/>
                  </a:cubicBezTo>
                  <a:lnTo>
                    <a:pt x="0" y="14901"/>
                  </a:lnTo>
                  <a:cubicBezTo>
                    <a:pt x="0" y="10949"/>
                    <a:pt x="1570" y="7159"/>
                    <a:pt x="4364" y="4364"/>
                  </a:cubicBezTo>
                  <a:cubicBezTo>
                    <a:pt x="7159" y="1570"/>
                    <a:pt x="10949" y="0"/>
                    <a:pt x="1490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944138" cy="71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841039" y="7565627"/>
            <a:ext cx="7273748" cy="366344"/>
            <a:chOff x="0" y="0"/>
            <a:chExt cx="1944138" cy="979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44138" cy="97917"/>
            </a:xfrm>
            <a:custGeom>
              <a:avLst/>
              <a:gdLst/>
              <a:ahLst/>
              <a:cxnLst/>
              <a:rect l="l" t="t" r="r" b="b"/>
              <a:pathLst>
                <a:path w="1944138" h="97917">
                  <a:moveTo>
                    <a:pt x="14901" y="0"/>
                  </a:moveTo>
                  <a:lnTo>
                    <a:pt x="1929237" y="0"/>
                  </a:lnTo>
                  <a:cubicBezTo>
                    <a:pt x="1933189" y="0"/>
                    <a:pt x="1936979" y="1570"/>
                    <a:pt x="1939774" y="4364"/>
                  </a:cubicBezTo>
                  <a:cubicBezTo>
                    <a:pt x="1942568" y="7159"/>
                    <a:pt x="1944138" y="10949"/>
                    <a:pt x="1944138" y="14901"/>
                  </a:cubicBezTo>
                  <a:lnTo>
                    <a:pt x="1944138" y="83016"/>
                  </a:lnTo>
                  <a:cubicBezTo>
                    <a:pt x="1944138" y="86968"/>
                    <a:pt x="1942568" y="90758"/>
                    <a:pt x="1939774" y="93553"/>
                  </a:cubicBezTo>
                  <a:cubicBezTo>
                    <a:pt x="1936979" y="96347"/>
                    <a:pt x="1933189" y="97917"/>
                    <a:pt x="1929237" y="97917"/>
                  </a:cubicBezTo>
                  <a:lnTo>
                    <a:pt x="14901" y="97917"/>
                  </a:lnTo>
                  <a:cubicBezTo>
                    <a:pt x="10949" y="97917"/>
                    <a:pt x="7159" y="96347"/>
                    <a:pt x="4364" y="93553"/>
                  </a:cubicBezTo>
                  <a:cubicBezTo>
                    <a:pt x="1570" y="90758"/>
                    <a:pt x="0" y="86968"/>
                    <a:pt x="0" y="83016"/>
                  </a:cubicBezTo>
                  <a:lnTo>
                    <a:pt x="0" y="14901"/>
                  </a:lnTo>
                  <a:cubicBezTo>
                    <a:pt x="0" y="10949"/>
                    <a:pt x="1570" y="7159"/>
                    <a:pt x="4364" y="4364"/>
                  </a:cubicBezTo>
                  <a:cubicBezTo>
                    <a:pt x="7159" y="1570"/>
                    <a:pt x="10949" y="0"/>
                    <a:pt x="14901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944138" cy="116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290177" y="1149928"/>
            <a:ext cx="3505200" cy="6253774"/>
            <a:chOff x="0" y="0"/>
            <a:chExt cx="936875" cy="16715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6875" cy="1671518"/>
            </a:xfrm>
            <a:custGeom>
              <a:avLst/>
              <a:gdLst/>
              <a:ahLst/>
              <a:cxnLst/>
              <a:rect l="l" t="t" r="r" b="b"/>
              <a:pathLst>
                <a:path w="936875" h="1671518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1640596"/>
                  </a:lnTo>
                  <a:cubicBezTo>
                    <a:pt x="936875" y="1657674"/>
                    <a:pt x="923031" y="1671518"/>
                    <a:pt x="905953" y="1671518"/>
                  </a:cubicBezTo>
                  <a:lnTo>
                    <a:pt x="30922" y="1671518"/>
                  </a:lnTo>
                  <a:cubicBezTo>
                    <a:pt x="13844" y="1671518"/>
                    <a:pt x="0" y="1657674"/>
                    <a:pt x="0" y="1640596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936875" cy="169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635363" y="1094315"/>
            <a:ext cx="3505200" cy="629033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26" name="TextBox 26"/>
          <p:cNvSpPr txBox="1"/>
          <p:nvPr/>
        </p:nvSpPr>
        <p:spPr>
          <a:xfrm>
            <a:off x="163288" y="7891349"/>
            <a:ext cx="2259402" cy="5950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32" name="TextBox 32"/>
          <p:cNvSpPr txBox="1"/>
          <p:nvPr/>
        </p:nvSpPr>
        <p:spPr>
          <a:xfrm>
            <a:off x="10998489" y="1094315"/>
            <a:ext cx="3505200" cy="33663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35" name="TextBox 35"/>
          <p:cNvSpPr txBox="1"/>
          <p:nvPr/>
        </p:nvSpPr>
        <p:spPr>
          <a:xfrm>
            <a:off x="10896600" y="4481903"/>
            <a:ext cx="3636000" cy="291227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grpSp>
        <p:nvGrpSpPr>
          <p:cNvPr id="36" name="Group 36"/>
          <p:cNvGrpSpPr/>
          <p:nvPr/>
        </p:nvGrpSpPr>
        <p:grpSpPr>
          <a:xfrm>
            <a:off x="0" y="0"/>
            <a:ext cx="1126809" cy="1126809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8025" y="0"/>
                  </a:moveTo>
                  <a:lnTo>
                    <a:pt x="654775" y="0"/>
                  </a:lnTo>
                  <a:cubicBezTo>
                    <a:pt x="742050" y="0"/>
                    <a:pt x="812800" y="70750"/>
                    <a:pt x="812800" y="158025"/>
                  </a:cubicBezTo>
                  <a:lnTo>
                    <a:pt x="812800" y="654775"/>
                  </a:lnTo>
                  <a:cubicBezTo>
                    <a:pt x="812800" y="742050"/>
                    <a:pt x="742050" y="812800"/>
                    <a:pt x="654775" y="812800"/>
                  </a:cubicBezTo>
                  <a:lnTo>
                    <a:pt x="158025" y="812800"/>
                  </a:lnTo>
                  <a:cubicBezTo>
                    <a:pt x="70750" y="812800"/>
                    <a:pt x="0" y="742050"/>
                    <a:pt x="0" y="654775"/>
                  </a:cubicBezTo>
                  <a:lnTo>
                    <a:pt x="0" y="158025"/>
                  </a:lnTo>
                  <a:cubicBezTo>
                    <a:pt x="0" y="70750"/>
                    <a:pt x="70750" y="0"/>
                    <a:pt x="158025" y="0"/>
                  </a:cubicBez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09082" y="57150"/>
            <a:ext cx="2418978" cy="352425"/>
            <a:chOff x="0" y="0"/>
            <a:chExt cx="637097" cy="928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7097" cy="92820"/>
            </a:xfrm>
            <a:custGeom>
              <a:avLst/>
              <a:gdLst/>
              <a:ahLst/>
              <a:cxnLst/>
              <a:rect l="l" t="t" r="r" b="b"/>
              <a:pathLst>
                <a:path w="637097" h="92820">
                  <a:moveTo>
                    <a:pt x="38406" y="0"/>
                  </a:moveTo>
                  <a:lnTo>
                    <a:pt x="598691" y="0"/>
                  </a:lnTo>
                  <a:cubicBezTo>
                    <a:pt x="619902" y="0"/>
                    <a:pt x="637097" y="17195"/>
                    <a:pt x="637097" y="38406"/>
                  </a:cubicBezTo>
                  <a:lnTo>
                    <a:pt x="637097" y="54414"/>
                  </a:lnTo>
                  <a:cubicBezTo>
                    <a:pt x="637097" y="75625"/>
                    <a:pt x="619902" y="92820"/>
                    <a:pt x="598691" y="92820"/>
                  </a:cubicBezTo>
                  <a:lnTo>
                    <a:pt x="38406" y="92820"/>
                  </a:lnTo>
                  <a:cubicBezTo>
                    <a:pt x="17195" y="92820"/>
                    <a:pt x="0" y="75625"/>
                    <a:pt x="0" y="54414"/>
                  </a:cubicBezTo>
                  <a:lnTo>
                    <a:pt x="0" y="38406"/>
                  </a:lnTo>
                  <a:cubicBezTo>
                    <a:pt x="0" y="17195"/>
                    <a:pt x="17195" y="0"/>
                    <a:pt x="38406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637097" cy="111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sp>
        <p:nvSpPr>
          <p:cNvPr id="42" name="Freeform 42"/>
          <p:cNvSpPr/>
          <p:nvPr/>
        </p:nvSpPr>
        <p:spPr>
          <a:xfrm>
            <a:off x="3737092" y="1176155"/>
            <a:ext cx="3458097" cy="293602"/>
          </a:xfrm>
          <a:custGeom>
            <a:avLst/>
            <a:gdLst/>
            <a:ahLst/>
            <a:cxnLst/>
            <a:rect l="l" t="t" r="r" b="b"/>
            <a:pathLst>
              <a:path w="924285" h="86559">
                <a:moveTo>
                  <a:pt x="31343" y="0"/>
                </a:moveTo>
                <a:lnTo>
                  <a:pt x="892942" y="0"/>
                </a:lnTo>
                <a:cubicBezTo>
                  <a:pt x="901255" y="0"/>
                  <a:pt x="909227" y="3302"/>
                  <a:pt x="915105" y="9180"/>
                </a:cubicBezTo>
                <a:cubicBezTo>
                  <a:pt x="920983" y="15058"/>
                  <a:pt x="924285" y="23030"/>
                  <a:pt x="924285" y="31343"/>
                </a:cubicBezTo>
                <a:lnTo>
                  <a:pt x="924285" y="55216"/>
                </a:lnTo>
                <a:cubicBezTo>
                  <a:pt x="924285" y="72526"/>
                  <a:pt x="910253" y="86559"/>
                  <a:pt x="892942" y="86559"/>
                </a:cubicBezTo>
                <a:lnTo>
                  <a:pt x="31343" y="86559"/>
                </a:lnTo>
                <a:cubicBezTo>
                  <a:pt x="14033" y="86559"/>
                  <a:pt x="0" y="72526"/>
                  <a:pt x="0" y="55216"/>
                </a:cubicBezTo>
                <a:lnTo>
                  <a:pt x="0" y="31343"/>
                </a:lnTo>
                <a:cubicBezTo>
                  <a:pt x="0" y="14033"/>
                  <a:pt x="14033" y="0"/>
                  <a:pt x="31343" y="0"/>
                </a:cubicBezTo>
                <a:close/>
              </a:path>
            </a:pathLst>
          </a:custGeom>
          <a:solidFill>
            <a:srgbClr val="229883"/>
          </a:solidFill>
          <a:ln w="47625" cap="sq">
            <a:solidFill>
              <a:srgbClr val="229883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Box 43"/>
          <p:cNvSpPr txBox="1"/>
          <p:nvPr/>
        </p:nvSpPr>
        <p:spPr>
          <a:xfrm>
            <a:off x="3737092" y="1104882"/>
            <a:ext cx="3458097" cy="3951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44" name="Freeform 44"/>
          <p:cNvSpPr/>
          <p:nvPr/>
        </p:nvSpPr>
        <p:spPr>
          <a:xfrm>
            <a:off x="3793758" y="1184638"/>
            <a:ext cx="276225" cy="279786"/>
          </a:xfrm>
          <a:custGeom>
            <a:avLst/>
            <a:gdLst/>
            <a:ahLst/>
            <a:cxnLst/>
            <a:rect l="l" t="t" r="r" b="b"/>
            <a:pathLst>
              <a:path w="276225" h="279786">
                <a:moveTo>
                  <a:pt x="0" y="0"/>
                </a:moveTo>
                <a:lnTo>
                  <a:pt x="276225" y="0"/>
                </a:lnTo>
                <a:lnTo>
                  <a:pt x="276225" y="279786"/>
                </a:lnTo>
                <a:lnTo>
                  <a:pt x="0" y="279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5" name="Group 45"/>
          <p:cNvGrpSpPr/>
          <p:nvPr/>
        </p:nvGrpSpPr>
        <p:grpSpPr>
          <a:xfrm>
            <a:off x="125668" y="1168978"/>
            <a:ext cx="3458097" cy="365097"/>
            <a:chOff x="0" y="0"/>
            <a:chExt cx="924285" cy="97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24285" cy="97584"/>
            </a:xfrm>
            <a:custGeom>
              <a:avLst/>
              <a:gdLst/>
              <a:ahLst/>
              <a:cxnLst/>
              <a:rect l="l" t="t" r="r" b="b"/>
              <a:pathLst>
                <a:path w="924285" h="97584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66241"/>
                  </a:lnTo>
                  <a:cubicBezTo>
                    <a:pt x="924285" y="83551"/>
                    <a:pt x="910253" y="97584"/>
                    <a:pt x="892942" y="97584"/>
                  </a:cubicBezTo>
                  <a:lnTo>
                    <a:pt x="31343" y="97584"/>
                  </a:lnTo>
                  <a:cubicBezTo>
                    <a:pt x="23030" y="97584"/>
                    <a:pt x="15058" y="94282"/>
                    <a:pt x="9180" y="88404"/>
                  </a:cubicBezTo>
                  <a:cubicBezTo>
                    <a:pt x="3302" y="82526"/>
                    <a:pt x="0" y="74553"/>
                    <a:pt x="0" y="66241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924285" cy="116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48" name="Freeform 48"/>
          <p:cNvSpPr/>
          <p:nvPr/>
        </p:nvSpPr>
        <p:spPr>
          <a:xfrm>
            <a:off x="162074" y="1221695"/>
            <a:ext cx="313670" cy="278311"/>
          </a:xfrm>
          <a:custGeom>
            <a:avLst/>
            <a:gdLst/>
            <a:ahLst/>
            <a:cxnLst/>
            <a:rect l="l" t="t" r="r" b="b"/>
            <a:pathLst>
              <a:path w="313670" h="278311">
                <a:moveTo>
                  <a:pt x="0" y="0"/>
                </a:moveTo>
                <a:lnTo>
                  <a:pt x="313670" y="0"/>
                </a:lnTo>
                <a:lnTo>
                  <a:pt x="313670" y="278310"/>
                </a:lnTo>
                <a:lnTo>
                  <a:pt x="0" y="278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49" name="Group 49"/>
          <p:cNvGrpSpPr/>
          <p:nvPr/>
        </p:nvGrpSpPr>
        <p:grpSpPr>
          <a:xfrm>
            <a:off x="3704015" y="4582630"/>
            <a:ext cx="3458097" cy="365097"/>
            <a:chOff x="0" y="0"/>
            <a:chExt cx="924285" cy="975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24285" cy="97584"/>
            </a:xfrm>
            <a:custGeom>
              <a:avLst/>
              <a:gdLst/>
              <a:ahLst/>
              <a:cxnLst/>
              <a:rect l="l" t="t" r="r" b="b"/>
              <a:pathLst>
                <a:path w="924285" h="97584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66241"/>
                  </a:lnTo>
                  <a:cubicBezTo>
                    <a:pt x="924285" y="83551"/>
                    <a:pt x="910253" y="97584"/>
                    <a:pt x="892942" y="97584"/>
                  </a:cubicBezTo>
                  <a:lnTo>
                    <a:pt x="31343" y="97584"/>
                  </a:lnTo>
                  <a:cubicBezTo>
                    <a:pt x="23030" y="97584"/>
                    <a:pt x="15058" y="94282"/>
                    <a:pt x="9180" y="88404"/>
                  </a:cubicBezTo>
                  <a:cubicBezTo>
                    <a:pt x="3302" y="82526"/>
                    <a:pt x="0" y="74553"/>
                    <a:pt x="0" y="66241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924285" cy="116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2" name="Freeform 52"/>
          <p:cNvSpPr/>
          <p:nvPr/>
        </p:nvSpPr>
        <p:spPr>
          <a:xfrm>
            <a:off x="3769157" y="4611428"/>
            <a:ext cx="276225" cy="275123"/>
          </a:xfrm>
          <a:custGeom>
            <a:avLst/>
            <a:gdLst/>
            <a:ahLst/>
            <a:cxnLst/>
            <a:rect l="l" t="t" r="r" b="b"/>
            <a:pathLst>
              <a:path w="276225" h="275123">
                <a:moveTo>
                  <a:pt x="0" y="0"/>
                </a:moveTo>
                <a:lnTo>
                  <a:pt x="276225" y="0"/>
                </a:lnTo>
                <a:lnTo>
                  <a:pt x="276225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3" name="Group 53"/>
          <p:cNvGrpSpPr/>
          <p:nvPr/>
        </p:nvGrpSpPr>
        <p:grpSpPr>
          <a:xfrm>
            <a:off x="11003296" y="1184638"/>
            <a:ext cx="3505200" cy="268951"/>
            <a:chOff x="0" y="0"/>
            <a:chExt cx="936875" cy="8047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36875" cy="80473"/>
            </a:xfrm>
            <a:custGeom>
              <a:avLst/>
              <a:gdLst/>
              <a:ahLst/>
              <a:cxnLst/>
              <a:rect l="l" t="t" r="r" b="b"/>
              <a:pathLst>
                <a:path w="936875" h="80473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49551"/>
                  </a:lnTo>
                  <a:cubicBezTo>
                    <a:pt x="936875" y="66629"/>
                    <a:pt x="923031" y="80473"/>
                    <a:pt x="905953" y="80473"/>
                  </a:cubicBezTo>
                  <a:lnTo>
                    <a:pt x="30922" y="80473"/>
                  </a:lnTo>
                  <a:cubicBezTo>
                    <a:pt x="13844" y="80473"/>
                    <a:pt x="0" y="66629"/>
                    <a:pt x="0" y="49551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936875" cy="99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6" name="Freeform 56"/>
          <p:cNvSpPr/>
          <p:nvPr/>
        </p:nvSpPr>
        <p:spPr>
          <a:xfrm>
            <a:off x="11062077" y="1203688"/>
            <a:ext cx="285750" cy="249901"/>
          </a:xfrm>
          <a:custGeom>
            <a:avLst/>
            <a:gdLst/>
            <a:ahLst/>
            <a:cxnLst/>
            <a:rect l="l" t="t" r="r" b="b"/>
            <a:pathLst>
              <a:path w="285750" h="249901">
                <a:moveTo>
                  <a:pt x="0" y="0"/>
                </a:moveTo>
                <a:lnTo>
                  <a:pt x="285750" y="0"/>
                </a:lnTo>
                <a:lnTo>
                  <a:pt x="285750" y="249901"/>
                </a:lnTo>
                <a:lnTo>
                  <a:pt x="0" y="2499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7" name="Freeform 57"/>
          <p:cNvSpPr/>
          <p:nvPr/>
        </p:nvSpPr>
        <p:spPr>
          <a:xfrm>
            <a:off x="10939374" y="7589439"/>
            <a:ext cx="333375" cy="268224"/>
          </a:xfrm>
          <a:custGeom>
            <a:avLst/>
            <a:gdLst/>
            <a:ahLst/>
            <a:cxnLst/>
            <a:rect l="l" t="t" r="r" b="b"/>
            <a:pathLst>
              <a:path w="333375" h="268224">
                <a:moveTo>
                  <a:pt x="0" y="0"/>
                </a:moveTo>
                <a:lnTo>
                  <a:pt x="333375" y="0"/>
                </a:lnTo>
                <a:lnTo>
                  <a:pt x="333375" y="268224"/>
                </a:lnTo>
                <a:lnTo>
                  <a:pt x="0" y="2682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9" name="TextBox 69"/>
          <p:cNvSpPr txBox="1"/>
          <p:nvPr/>
        </p:nvSpPr>
        <p:spPr>
          <a:xfrm>
            <a:off x="5519128" y="6802884"/>
            <a:ext cx="2259402" cy="62478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75" name="TextBox 75"/>
          <p:cNvSpPr txBox="1"/>
          <p:nvPr/>
        </p:nvSpPr>
        <p:spPr>
          <a:xfrm>
            <a:off x="10952540" y="7973061"/>
            <a:ext cx="2333625" cy="116791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grpSp>
        <p:nvGrpSpPr>
          <p:cNvPr id="76" name="Group 76"/>
          <p:cNvGrpSpPr/>
          <p:nvPr/>
        </p:nvGrpSpPr>
        <p:grpSpPr>
          <a:xfrm>
            <a:off x="14642664" y="1184638"/>
            <a:ext cx="3505200" cy="315368"/>
            <a:chOff x="0" y="0"/>
            <a:chExt cx="936875" cy="8429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36875" cy="84292"/>
            </a:xfrm>
            <a:custGeom>
              <a:avLst/>
              <a:gdLst/>
              <a:ahLst/>
              <a:cxnLst/>
              <a:rect l="l" t="t" r="r" b="b"/>
              <a:pathLst>
                <a:path w="936875" h="84292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53370"/>
                  </a:lnTo>
                  <a:cubicBezTo>
                    <a:pt x="936875" y="70448"/>
                    <a:pt x="923031" y="84292"/>
                    <a:pt x="905953" y="84292"/>
                  </a:cubicBezTo>
                  <a:lnTo>
                    <a:pt x="30922" y="84292"/>
                  </a:lnTo>
                  <a:cubicBezTo>
                    <a:pt x="22721" y="84292"/>
                    <a:pt x="14856" y="81034"/>
                    <a:pt x="9057" y="75235"/>
                  </a:cubicBezTo>
                  <a:cubicBezTo>
                    <a:pt x="3258" y="69436"/>
                    <a:pt x="0" y="61571"/>
                    <a:pt x="0" y="53370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936875" cy="103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79" name="Freeform 79"/>
          <p:cNvSpPr/>
          <p:nvPr/>
        </p:nvSpPr>
        <p:spPr>
          <a:xfrm>
            <a:off x="14713239" y="1186577"/>
            <a:ext cx="304800" cy="300921"/>
          </a:xfrm>
          <a:custGeom>
            <a:avLst/>
            <a:gdLst/>
            <a:ahLst/>
            <a:cxnLst/>
            <a:rect l="l" t="t" r="r" b="b"/>
            <a:pathLst>
              <a:path w="304800" h="300921">
                <a:moveTo>
                  <a:pt x="0" y="0"/>
                </a:moveTo>
                <a:lnTo>
                  <a:pt x="304800" y="0"/>
                </a:lnTo>
                <a:lnTo>
                  <a:pt x="304800" y="300921"/>
                </a:lnTo>
                <a:lnTo>
                  <a:pt x="0" y="3009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0" name="Group 80"/>
          <p:cNvGrpSpPr/>
          <p:nvPr/>
        </p:nvGrpSpPr>
        <p:grpSpPr>
          <a:xfrm>
            <a:off x="7294940" y="1184638"/>
            <a:ext cx="3505200" cy="293534"/>
            <a:chOff x="0" y="0"/>
            <a:chExt cx="936875" cy="81467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936875" cy="81467"/>
            </a:xfrm>
            <a:custGeom>
              <a:avLst/>
              <a:gdLst/>
              <a:ahLst/>
              <a:cxnLst/>
              <a:rect l="l" t="t" r="r" b="b"/>
              <a:pathLst>
                <a:path w="936875" h="81467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50546"/>
                  </a:lnTo>
                  <a:cubicBezTo>
                    <a:pt x="936875" y="67623"/>
                    <a:pt x="923031" y="81467"/>
                    <a:pt x="905953" y="81467"/>
                  </a:cubicBezTo>
                  <a:lnTo>
                    <a:pt x="30922" y="81467"/>
                  </a:lnTo>
                  <a:cubicBezTo>
                    <a:pt x="13844" y="81467"/>
                    <a:pt x="0" y="67623"/>
                    <a:pt x="0" y="50546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936875" cy="100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83" name="Freeform 83"/>
          <p:cNvSpPr/>
          <p:nvPr/>
        </p:nvSpPr>
        <p:spPr>
          <a:xfrm>
            <a:off x="7352090" y="11655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4" name="Group 84"/>
          <p:cNvGrpSpPr/>
          <p:nvPr/>
        </p:nvGrpSpPr>
        <p:grpSpPr>
          <a:xfrm>
            <a:off x="16551113" y="420581"/>
            <a:ext cx="238839" cy="182345"/>
            <a:chOff x="0" y="0"/>
            <a:chExt cx="62904" cy="4802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229883"/>
            </a:solidFill>
            <a:ln w="95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6551113" y="672309"/>
            <a:ext cx="238839" cy="182345"/>
            <a:chOff x="0" y="0"/>
            <a:chExt cx="62904" cy="4802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7ED957"/>
            </a:solidFill>
            <a:ln w="9525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6551113" y="171561"/>
            <a:ext cx="238839" cy="182345"/>
            <a:chOff x="0" y="0"/>
            <a:chExt cx="62904" cy="48025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FEBF00"/>
            </a:solidFill>
            <a:ln w="9525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9904" y="7546577"/>
            <a:ext cx="7100587" cy="321789"/>
            <a:chOff x="0" y="0"/>
            <a:chExt cx="1897855" cy="98955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897855" cy="98955"/>
            </a:xfrm>
            <a:custGeom>
              <a:avLst/>
              <a:gdLst/>
              <a:ahLst/>
              <a:cxnLst/>
              <a:rect l="l" t="t" r="r" b="b"/>
              <a:pathLst>
                <a:path w="1897855" h="98955">
                  <a:moveTo>
                    <a:pt x="15264" y="0"/>
                  </a:moveTo>
                  <a:lnTo>
                    <a:pt x="1882591" y="0"/>
                  </a:lnTo>
                  <a:cubicBezTo>
                    <a:pt x="1891021" y="0"/>
                    <a:pt x="1897855" y="6834"/>
                    <a:pt x="1897855" y="15264"/>
                  </a:cubicBezTo>
                  <a:lnTo>
                    <a:pt x="1897855" y="83691"/>
                  </a:lnTo>
                  <a:cubicBezTo>
                    <a:pt x="1897855" y="92121"/>
                    <a:pt x="1891021" y="98955"/>
                    <a:pt x="1882591" y="98955"/>
                  </a:cubicBezTo>
                  <a:lnTo>
                    <a:pt x="15264" y="98955"/>
                  </a:lnTo>
                  <a:cubicBezTo>
                    <a:pt x="6834" y="98955"/>
                    <a:pt x="0" y="92121"/>
                    <a:pt x="0" y="83691"/>
                  </a:cubicBezTo>
                  <a:lnTo>
                    <a:pt x="0" y="15264"/>
                  </a:lnTo>
                  <a:cubicBezTo>
                    <a:pt x="0" y="6834"/>
                    <a:pt x="6834" y="0"/>
                    <a:pt x="15264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19050"/>
              <a:ext cx="1897855" cy="118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96" name="Freeform 96"/>
          <p:cNvSpPr/>
          <p:nvPr/>
        </p:nvSpPr>
        <p:spPr>
          <a:xfrm>
            <a:off x="176034" y="7575152"/>
            <a:ext cx="285750" cy="293214"/>
          </a:xfrm>
          <a:custGeom>
            <a:avLst/>
            <a:gdLst/>
            <a:ahLst/>
            <a:cxnLst/>
            <a:rect l="l" t="t" r="r" b="b"/>
            <a:pathLst>
              <a:path w="285750" h="293214">
                <a:moveTo>
                  <a:pt x="0" y="0"/>
                </a:moveTo>
                <a:lnTo>
                  <a:pt x="285750" y="0"/>
                </a:lnTo>
                <a:lnTo>
                  <a:pt x="285750" y="293213"/>
                </a:lnTo>
                <a:lnTo>
                  <a:pt x="0" y="2932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97" name="Group 97"/>
          <p:cNvGrpSpPr/>
          <p:nvPr/>
        </p:nvGrpSpPr>
        <p:grpSpPr>
          <a:xfrm>
            <a:off x="7275890" y="7565627"/>
            <a:ext cx="3505200" cy="351178"/>
            <a:chOff x="0" y="0"/>
            <a:chExt cx="936875" cy="93863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936875" cy="93863"/>
            </a:xfrm>
            <a:custGeom>
              <a:avLst/>
              <a:gdLst/>
              <a:ahLst/>
              <a:cxnLst/>
              <a:rect l="l" t="t" r="r" b="b"/>
              <a:pathLst>
                <a:path w="936875" h="93863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62942"/>
                  </a:lnTo>
                  <a:cubicBezTo>
                    <a:pt x="936875" y="80019"/>
                    <a:pt x="923031" y="93863"/>
                    <a:pt x="905953" y="93863"/>
                  </a:cubicBezTo>
                  <a:lnTo>
                    <a:pt x="30922" y="93863"/>
                  </a:lnTo>
                  <a:cubicBezTo>
                    <a:pt x="22721" y="93863"/>
                    <a:pt x="14856" y="90605"/>
                    <a:pt x="9057" y="84807"/>
                  </a:cubicBezTo>
                  <a:cubicBezTo>
                    <a:pt x="3258" y="79008"/>
                    <a:pt x="0" y="71143"/>
                    <a:pt x="0" y="62942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760690"/>
            </a:solidFill>
            <a:ln w="38100" cap="sq">
              <a:solidFill>
                <a:srgbClr val="76069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936875" cy="112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00" name="Freeform 100"/>
          <p:cNvSpPr/>
          <p:nvPr/>
        </p:nvSpPr>
        <p:spPr>
          <a:xfrm>
            <a:off x="7362736" y="7569956"/>
            <a:ext cx="333375" cy="290945"/>
          </a:xfrm>
          <a:custGeom>
            <a:avLst/>
            <a:gdLst/>
            <a:ahLst/>
            <a:cxnLst/>
            <a:rect l="l" t="t" r="r" b="b"/>
            <a:pathLst>
              <a:path w="333375" h="290945">
                <a:moveTo>
                  <a:pt x="0" y="0"/>
                </a:moveTo>
                <a:lnTo>
                  <a:pt x="333375" y="0"/>
                </a:lnTo>
                <a:lnTo>
                  <a:pt x="333375" y="290946"/>
                </a:lnTo>
                <a:lnTo>
                  <a:pt x="0" y="2909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01" name="Group 101"/>
          <p:cNvGrpSpPr/>
          <p:nvPr/>
        </p:nvGrpSpPr>
        <p:grpSpPr>
          <a:xfrm>
            <a:off x="10926194" y="4532083"/>
            <a:ext cx="3592649" cy="333653"/>
            <a:chOff x="0" y="0"/>
            <a:chExt cx="960249" cy="96631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960249" cy="96631"/>
            </a:xfrm>
            <a:custGeom>
              <a:avLst/>
              <a:gdLst/>
              <a:ahLst/>
              <a:cxnLst/>
              <a:rect l="l" t="t" r="r" b="b"/>
              <a:pathLst>
                <a:path w="960249" h="96631">
                  <a:moveTo>
                    <a:pt x="30169" y="0"/>
                  </a:moveTo>
                  <a:lnTo>
                    <a:pt x="930080" y="0"/>
                  </a:lnTo>
                  <a:cubicBezTo>
                    <a:pt x="938081" y="0"/>
                    <a:pt x="945755" y="3179"/>
                    <a:pt x="951412" y="8836"/>
                  </a:cubicBezTo>
                  <a:cubicBezTo>
                    <a:pt x="957070" y="14494"/>
                    <a:pt x="960249" y="22168"/>
                    <a:pt x="960249" y="30169"/>
                  </a:cubicBezTo>
                  <a:lnTo>
                    <a:pt x="960249" y="66461"/>
                  </a:lnTo>
                  <a:cubicBezTo>
                    <a:pt x="960249" y="74463"/>
                    <a:pt x="957070" y="82136"/>
                    <a:pt x="951412" y="87794"/>
                  </a:cubicBezTo>
                  <a:cubicBezTo>
                    <a:pt x="945755" y="93452"/>
                    <a:pt x="938081" y="96631"/>
                    <a:pt x="930080" y="96631"/>
                  </a:cubicBezTo>
                  <a:lnTo>
                    <a:pt x="30169" y="96631"/>
                  </a:lnTo>
                  <a:cubicBezTo>
                    <a:pt x="22168" y="96631"/>
                    <a:pt x="14494" y="93452"/>
                    <a:pt x="8836" y="87794"/>
                  </a:cubicBezTo>
                  <a:cubicBezTo>
                    <a:pt x="3179" y="82136"/>
                    <a:pt x="0" y="74463"/>
                    <a:pt x="0" y="66461"/>
                  </a:cubicBezTo>
                  <a:lnTo>
                    <a:pt x="0" y="30169"/>
                  </a:lnTo>
                  <a:cubicBezTo>
                    <a:pt x="0" y="22168"/>
                    <a:pt x="3179" y="14494"/>
                    <a:pt x="8836" y="8836"/>
                  </a:cubicBezTo>
                  <a:cubicBezTo>
                    <a:pt x="14494" y="3179"/>
                    <a:pt x="22168" y="0"/>
                    <a:pt x="30169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19050"/>
              <a:ext cx="960249" cy="115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04" name="Freeform 104"/>
          <p:cNvSpPr/>
          <p:nvPr/>
        </p:nvSpPr>
        <p:spPr>
          <a:xfrm>
            <a:off x="10992541" y="4589737"/>
            <a:ext cx="333375" cy="224998"/>
          </a:xfrm>
          <a:custGeom>
            <a:avLst/>
            <a:gdLst/>
            <a:ahLst/>
            <a:cxnLst/>
            <a:rect l="l" t="t" r="r" b="b"/>
            <a:pathLst>
              <a:path w="333375" h="224998">
                <a:moveTo>
                  <a:pt x="0" y="0"/>
                </a:moveTo>
                <a:lnTo>
                  <a:pt x="333375" y="0"/>
                </a:lnTo>
                <a:lnTo>
                  <a:pt x="333375" y="224997"/>
                </a:lnTo>
                <a:lnTo>
                  <a:pt x="0" y="22499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8" name="TextBox 128"/>
          <p:cNvSpPr txBox="1"/>
          <p:nvPr/>
        </p:nvSpPr>
        <p:spPr>
          <a:xfrm>
            <a:off x="193768" y="9539040"/>
            <a:ext cx="4642330" cy="54363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173" name="TextBox 173"/>
          <p:cNvSpPr txBox="1"/>
          <p:nvPr/>
        </p:nvSpPr>
        <p:spPr>
          <a:xfrm>
            <a:off x="1342519" y="1184638"/>
            <a:ext cx="2185541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Partenaires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4" name="TextBox 174"/>
          <p:cNvSpPr txBox="1"/>
          <p:nvPr/>
        </p:nvSpPr>
        <p:spPr>
          <a:xfrm>
            <a:off x="1126809" y="390525"/>
            <a:ext cx="2193386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Lomé, Togo</a:t>
            </a:r>
            <a:endParaRPr lang="en-US" sz="15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1800"/>
              </a:lnSpc>
            </a:pPr>
            <a:r>
              <a:rPr lang="en-US" sz="1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Certifié ISO 9001</a:t>
            </a: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2015</a:t>
            </a:r>
            <a:endParaRPr lang="en-US" sz="15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Lancement : </a:t>
            </a:r>
            <a:r>
              <a:rPr lang="en-US" sz="1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Janvier 2026</a:t>
            </a:r>
            <a:endParaRPr lang="en-US" sz="1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5" name="TextBox 175"/>
          <p:cNvSpPr txBox="1"/>
          <p:nvPr/>
        </p:nvSpPr>
        <p:spPr>
          <a:xfrm>
            <a:off x="12310303" y="1175113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Relations clientèle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6" name="TextBox 176"/>
          <p:cNvSpPr txBox="1"/>
          <p:nvPr/>
        </p:nvSpPr>
        <p:spPr>
          <a:xfrm>
            <a:off x="4915817" y="4592378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Ressources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7" name="TextBox 177"/>
          <p:cNvSpPr txBox="1"/>
          <p:nvPr/>
        </p:nvSpPr>
        <p:spPr>
          <a:xfrm>
            <a:off x="4944392" y="1180918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Activités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8" name="TextBox 178"/>
          <p:cNvSpPr txBox="1"/>
          <p:nvPr/>
        </p:nvSpPr>
        <p:spPr>
          <a:xfrm>
            <a:off x="15790110" y="1175113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Segments de clientèle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9" name="TextBox 179"/>
          <p:cNvSpPr txBox="1"/>
          <p:nvPr/>
        </p:nvSpPr>
        <p:spPr>
          <a:xfrm>
            <a:off x="12384261" y="4563580"/>
            <a:ext cx="1750437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Canaux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0" name="TextBox 180"/>
          <p:cNvSpPr txBox="1"/>
          <p:nvPr/>
        </p:nvSpPr>
        <p:spPr>
          <a:xfrm>
            <a:off x="4989786" y="7570389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Structure de coûts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1" name="TextBox 181"/>
          <p:cNvSpPr txBox="1"/>
          <p:nvPr/>
        </p:nvSpPr>
        <p:spPr>
          <a:xfrm>
            <a:off x="15935363" y="7546577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Sources de Revenus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2" name="TextBox 182"/>
          <p:cNvSpPr txBox="1"/>
          <p:nvPr/>
        </p:nvSpPr>
        <p:spPr>
          <a:xfrm>
            <a:off x="8050310" y="7556102"/>
            <a:ext cx="269755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Mission, vision et valeurs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3" name="TextBox 183"/>
          <p:cNvSpPr txBox="1"/>
          <p:nvPr/>
        </p:nvSpPr>
        <p:spPr>
          <a:xfrm>
            <a:off x="1188566" y="92653"/>
            <a:ext cx="2399957" cy="26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Projet n° : 001-26-KYA</a:t>
            </a:r>
            <a:endParaRPr lang="en-US" sz="18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4" name="TextBox 184"/>
          <p:cNvSpPr txBox="1"/>
          <p:nvPr/>
        </p:nvSpPr>
        <p:spPr>
          <a:xfrm>
            <a:off x="3619614" y="-12356"/>
            <a:ext cx="12335586" cy="996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fr-FR" sz="3300" b="1" dirty="0">
                <a:solidFill>
                  <a:srgbClr val="FF75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Commercialisation des groupes électrosolaires pour des institutions au Togo.</a:t>
            </a:r>
            <a:endParaRPr lang="en-US" sz="3300" b="1" dirty="0">
              <a:solidFill>
                <a:srgbClr val="FF75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6" name="TextBox 186"/>
          <p:cNvSpPr txBox="1"/>
          <p:nvPr/>
        </p:nvSpPr>
        <p:spPr>
          <a:xfrm>
            <a:off x="16886802" y="92653"/>
            <a:ext cx="1186934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Désirabilité 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Faisabilité  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Viabilité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7" name="TextBox 187"/>
          <p:cNvSpPr txBox="1"/>
          <p:nvPr/>
        </p:nvSpPr>
        <p:spPr>
          <a:xfrm>
            <a:off x="8002033" y="1121353"/>
            <a:ext cx="269755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Proposition de Valeur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8" name="TextBox 188"/>
          <p:cNvSpPr txBox="1"/>
          <p:nvPr/>
        </p:nvSpPr>
        <p:spPr>
          <a:xfrm>
            <a:off x="7334090" y="1522039"/>
            <a:ext cx="3365501" cy="829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</a:pPr>
            <a:r>
              <a:rPr lang="en-US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“</a:t>
            </a:r>
            <a:r>
              <a:rPr lang="fr-FR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Une électricité solaire 37% moins cher que le réseau public, accessible à crédit sur 7 ans </a:t>
            </a:r>
            <a:r>
              <a:rPr lang="en-US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“</a:t>
            </a:r>
            <a:endParaRPr lang="en-US" sz="1800" b="1" dirty="0">
              <a:solidFill>
                <a:srgbClr val="FFC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9" name="TextBox 189"/>
          <p:cNvSpPr txBox="1"/>
          <p:nvPr/>
        </p:nvSpPr>
        <p:spPr>
          <a:xfrm>
            <a:off x="7345055" y="2307711"/>
            <a:ext cx="3410111" cy="5129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Produit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conçu, assemblé et maintenu localement au Togo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clé en main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étude, dimensionnement, installation, maintenance garantie sur 7ans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Énergie solaire fiable et 37% moins chère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le réseau public (76 vs 121 FCFA/kWh HT)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Paiement mensuel échelonné sur 7 ans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(via partenaire bancaire SIAB)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Système hybride et modulaire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s'adapte à chaque besoin et peut évoluer dans le temps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Réduction des raccordements anarchiques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(« araignées »)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Zéro pollution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remplacement des groupes électrogènes fossiles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TextBox 190"/>
          <p:cNvSpPr txBox="1"/>
          <p:nvPr/>
        </p:nvSpPr>
        <p:spPr>
          <a:xfrm>
            <a:off x="3759128" y="1427579"/>
            <a:ext cx="3483164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dimensionnement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Assemblage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des KYA-SoP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prospection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/>
              <a:t>auprès </a:t>
            </a:r>
            <a:endParaRPr lang="fr-FR" dirty="0"/>
          </a:p>
          <a:p>
            <a:r>
              <a:rPr lang="fr-FR" dirty="0"/>
              <a:t>       des institutions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Étude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besoins énergétiques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clients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Négociation et signature de contrats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mise en service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suivi technique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Recherche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Développement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Gestion des partenariats financiers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TextBox 191"/>
          <p:cNvSpPr txBox="1"/>
          <p:nvPr/>
        </p:nvSpPr>
        <p:spPr>
          <a:xfrm>
            <a:off x="3788276" y="4951851"/>
            <a:ext cx="3375402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/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 Prof. Yao AZOUMAH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expertise 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reconnue, réseau panafricain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 ingénieurs et  techniciens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qualifiés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Ligne d'assemblage locale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Logiciel propriétaire </a:t>
            </a:r>
            <a:r>
              <a:rPr lang="fr-F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KYA- SolDesign</a:t>
            </a:r>
            <a:endParaRPr lang="fr-FR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Gestionnaire intelligent 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KYA-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FlexyControl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Composants certifiés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Accords bancaires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SIAB, ECOBANK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lvl="0" algn="just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ISO 9001: 2015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93" name="TextBox 193"/>
          <p:cNvSpPr txBox="1"/>
          <p:nvPr/>
        </p:nvSpPr>
        <p:spPr>
          <a:xfrm>
            <a:off x="14706304" y="1575098"/>
            <a:ext cx="3276896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publiques :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Centres de santé / hôpitaux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Établissements scolaires et universités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Administrations publiques</a:t>
            </a:r>
            <a:endParaRPr lang="en-US" b="1" dirty="0">
              <a:solidFill>
                <a:schemeClr val="accent6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207" name="TextBox 207"/>
          <p:cNvSpPr txBox="1"/>
          <p:nvPr/>
        </p:nvSpPr>
        <p:spPr>
          <a:xfrm>
            <a:off x="207381" y="9321508"/>
            <a:ext cx="680252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17" name="TextBox 217"/>
          <p:cNvSpPr txBox="1"/>
          <p:nvPr/>
        </p:nvSpPr>
        <p:spPr>
          <a:xfrm>
            <a:off x="7416049" y="9003534"/>
            <a:ext cx="345769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dirty="0">
                <a:solidFill>
                  <a:srgbClr val="FF75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Démocratiser l’accès à l’énergie durable.</a:t>
            </a:r>
            <a:endParaRPr lang="en-US" sz="1600" dirty="0">
              <a:solidFill>
                <a:srgbClr val="FF75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TextBox 218"/>
          <p:cNvSpPr txBox="1"/>
          <p:nvPr/>
        </p:nvSpPr>
        <p:spPr>
          <a:xfrm>
            <a:off x="7458669" y="7912921"/>
            <a:ext cx="3285531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600" dirty="0">
                <a:solidFill>
                  <a:srgbClr val="76069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Transformer, de façon innovante, des ressources énergétiques renouvelables pour produire de l’énergie propre, fiable et abordable à tous.</a:t>
            </a:r>
            <a:endParaRPr lang="en-US" sz="1600" dirty="0">
              <a:solidFill>
                <a:srgbClr val="76069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TextBox 219"/>
          <p:cNvSpPr txBox="1"/>
          <p:nvPr/>
        </p:nvSpPr>
        <p:spPr>
          <a:xfrm>
            <a:off x="7431036" y="9362621"/>
            <a:ext cx="328564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600" dirty="0">
                <a:solidFill>
                  <a:srgbClr val="22988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Professionnalisme, Rigueur, Esprit d’équipe, Ecoute du client, Intégrité, Transparence, Equité et Innovation.</a:t>
            </a:r>
            <a:endParaRPr lang="en-US" sz="1600" dirty="0">
              <a:solidFill>
                <a:srgbClr val="22988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1" name="TextBox 5"/>
          <p:cNvSpPr txBox="1"/>
          <p:nvPr/>
        </p:nvSpPr>
        <p:spPr>
          <a:xfrm>
            <a:off x="19046" y="1617490"/>
            <a:ext cx="3583765" cy="1322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Partenaires Financiers :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SIAB et ECOBANK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(accords signés) : </a:t>
            </a:r>
            <a:r>
              <a:rPr lang="fr-FR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SIAB paie l'installation, le client rembourse sur 7 ans;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ORABANK et BOAD</a:t>
            </a:r>
            <a:endParaRPr lang="en-US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222" name="TextBox 5"/>
          <p:cNvSpPr txBox="1"/>
          <p:nvPr/>
        </p:nvSpPr>
        <p:spPr>
          <a:xfrm>
            <a:off x="134668" y="3063113"/>
            <a:ext cx="358376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/>
            <a:r>
              <a:rPr lang="en-US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Partenaires Institutionnels :</a:t>
            </a:r>
            <a:endParaRPr lang="en-US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CCIT</a:t>
            </a:r>
            <a:endParaRPr lang="fr-FR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CNP</a:t>
            </a:r>
            <a:endParaRPr lang="fr-FR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224" name="TextBox 5"/>
          <p:cNvSpPr txBox="1"/>
          <p:nvPr/>
        </p:nvSpPr>
        <p:spPr>
          <a:xfrm>
            <a:off x="43865" y="4016807"/>
            <a:ext cx="3583765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/>
            <a:r>
              <a:rPr lang="en-US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Partenaires Étatiques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 : 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ARSE</a:t>
            </a:r>
            <a:endParaRPr lang="fr-FR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AT2ER</a:t>
            </a:r>
            <a:endParaRPr lang="fr-FR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Ministère de l'Énergie</a:t>
            </a:r>
            <a:endParaRPr lang="fr-FR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Ministère de l'Économie</a:t>
            </a:r>
            <a:endParaRPr lang="en-US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226" name="TextBox 193"/>
          <p:cNvSpPr txBox="1"/>
          <p:nvPr/>
        </p:nvSpPr>
        <p:spPr>
          <a:xfrm>
            <a:off x="14706304" y="3001613"/>
            <a:ext cx="3299178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privées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PME / PMI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Pharmacies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Exploitations agroalimentaires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Fermes agricoles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Grandes entreprises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Zones</a:t>
            </a: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rurales, semi-urbaines et urbaines au Togo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Freeform 67"/>
          <p:cNvSpPr/>
          <p:nvPr/>
        </p:nvSpPr>
        <p:spPr>
          <a:xfrm>
            <a:off x="533400" y="7962900"/>
            <a:ext cx="6174842" cy="7298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fr-FR"/>
          </a:p>
        </p:txBody>
      </p:sp>
      <p:sp>
        <p:nvSpPr>
          <p:cNvPr id="275" name="TextBox 68"/>
          <p:cNvSpPr txBox="1"/>
          <p:nvPr/>
        </p:nvSpPr>
        <p:spPr>
          <a:xfrm>
            <a:off x="201388" y="9566587"/>
            <a:ext cx="2259402" cy="4435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  <a:endParaRPr dirty="0"/>
          </a:p>
        </p:txBody>
      </p:sp>
      <p:sp>
        <p:nvSpPr>
          <p:cNvPr id="284" name="Freeform 67"/>
          <p:cNvSpPr/>
          <p:nvPr/>
        </p:nvSpPr>
        <p:spPr>
          <a:xfrm>
            <a:off x="4046183" y="8778250"/>
            <a:ext cx="2330583" cy="733425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92D050"/>
          </a:solidFill>
          <a:ln w="3810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85" name="Freeform 67"/>
          <p:cNvSpPr/>
          <p:nvPr/>
        </p:nvSpPr>
        <p:spPr>
          <a:xfrm>
            <a:off x="1204229" y="8767172"/>
            <a:ext cx="2330583" cy="729897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C00000"/>
          </a:solidFill>
          <a:ln w="3810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3" name="Freeform 25"/>
          <p:cNvSpPr/>
          <p:nvPr/>
        </p:nvSpPr>
        <p:spPr>
          <a:xfrm>
            <a:off x="10962286" y="8038163"/>
            <a:ext cx="2296514" cy="654635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1" name="Flèche : pentagone 20"/>
          <p:cNvSpPr/>
          <p:nvPr/>
        </p:nvSpPr>
        <p:spPr>
          <a:xfrm>
            <a:off x="3732806" y="1821709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Flèche : pentagone 23"/>
          <p:cNvSpPr/>
          <p:nvPr/>
        </p:nvSpPr>
        <p:spPr>
          <a:xfrm>
            <a:off x="3711389" y="4274814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Flèche : pentagone 29"/>
          <p:cNvSpPr/>
          <p:nvPr/>
        </p:nvSpPr>
        <p:spPr>
          <a:xfrm>
            <a:off x="3736328" y="2067742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Flèche : pentagone 32"/>
          <p:cNvSpPr/>
          <p:nvPr/>
        </p:nvSpPr>
        <p:spPr>
          <a:xfrm>
            <a:off x="3725474" y="2618345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Flèche : pentagone 60"/>
          <p:cNvSpPr/>
          <p:nvPr/>
        </p:nvSpPr>
        <p:spPr>
          <a:xfrm>
            <a:off x="3725384" y="3175547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Flèche : pentagone 61"/>
          <p:cNvSpPr/>
          <p:nvPr/>
        </p:nvSpPr>
        <p:spPr>
          <a:xfrm>
            <a:off x="3725384" y="3466188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Flèche : pentagone 62"/>
          <p:cNvSpPr/>
          <p:nvPr/>
        </p:nvSpPr>
        <p:spPr>
          <a:xfrm>
            <a:off x="3723913" y="3743822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Flèche : pentagone 63"/>
          <p:cNvSpPr/>
          <p:nvPr/>
        </p:nvSpPr>
        <p:spPr>
          <a:xfrm>
            <a:off x="3724581" y="3987896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Flèche : pentagone 64"/>
          <p:cNvSpPr/>
          <p:nvPr/>
        </p:nvSpPr>
        <p:spPr>
          <a:xfrm>
            <a:off x="3722352" y="7223315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Flèche : pentagone 65"/>
          <p:cNvSpPr/>
          <p:nvPr/>
        </p:nvSpPr>
        <p:spPr>
          <a:xfrm>
            <a:off x="3698276" y="5031962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Flèche : pentagone 66"/>
          <p:cNvSpPr/>
          <p:nvPr/>
        </p:nvSpPr>
        <p:spPr>
          <a:xfrm>
            <a:off x="3722352" y="5514647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Flèche : pentagone 67"/>
          <p:cNvSpPr/>
          <p:nvPr/>
        </p:nvSpPr>
        <p:spPr>
          <a:xfrm>
            <a:off x="3722080" y="5999143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Flèche : pentagone 69"/>
          <p:cNvSpPr/>
          <p:nvPr/>
        </p:nvSpPr>
        <p:spPr>
          <a:xfrm>
            <a:off x="3722352" y="5777406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Flèche : pentagone 70"/>
          <p:cNvSpPr/>
          <p:nvPr/>
        </p:nvSpPr>
        <p:spPr>
          <a:xfrm>
            <a:off x="3722352" y="6274689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Flèche : pentagone 71"/>
          <p:cNvSpPr/>
          <p:nvPr/>
        </p:nvSpPr>
        <p:spPr>
          <a:xfrm>
            <a:off x="3708563" y="6729835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Flèche : pentagone 72"/>
          <p:cNvSpPr/>
          <p:nvPr/>
        </p:nvSpPr>
        <p:spPr>
          <a:xfrm>
            <a:off x="3691803" y="6965236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TextBox 193"/>
          <p:cNvSpPr txBox="1"/>
          <p:nvPr/>
        </p:nvSpPr>
        <p:spPr>
          <a:xfrm>
            <a:off x="14635423" y="5608630"/>
            <a:ext cx="2034404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6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Premiers adopteurs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193"/>
          <p:cNvSpPr txBox="1"/>
          <p:nvPr/>
        </p:nvSpPr>
        <p:spPr>
          <a:xfrm>
            <a:off x="14774558" y="5857868"/>
            <a:ext cx="3299178" cy="32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PME engagées dans l'écoresponsabilité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93"/>
          <p:cNvSpPr txBox="1"/>
          <p:nvPr/>
        </p:nvSpPr>
        <p:spPr>
          <a:xfrm>
            <a:off x="14841385" y="6279961"/>
            <a:ext cx="329917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clientes des banques SIAB 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et ECOBANK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93"/>
          <p:cNvSpPr txBox="1"/>
          <p:nvPr/>
        </p:nvSpPr>
        <p:spPr>
          <a:xfrm>
            <a:off x="14858212" y="6849084"/>
            <a:ext cx="3215524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Exploitations agricoles cherchant à 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réduire leurs coûts énergétiques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93"/>
          <p:cNvSpPr txBox="1"/>
          <p:nvPr/>
        </p:nvSpPr>
        <p:spPr>
          <a:xfrm>
            <a:off x="11241304" y="1466009"/>
            <a:ext cx="3365148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Assistance technique personnalisée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113" name="TextBox 193"/>
          <p:cNvSpPr txBox="1"/>
          <p:nvPr/>
        </p:nvSpPr>
        <p:spPr>
          <a:xfrm>
            <a:off x="11241304" y="1853742"/>
            <a:ext cx="3090855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Contrats de maintenance 7 ans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114" name="TextBox 193"/>
          <p:cNvSpPr txBox="1"/>
          <p:nvPr/>
        </p:nvSpPr>
        <p:spPr>
          <a:xfrm>
            <a:off x="11241304" y="2241475"/>
            <a:ext cx="3090855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Suivi et monitoring à distance (KYA- FlexyControl)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115" name="TextBox 193"/>
          <p:cNvSpPr txBox="1"/>
          <p:nvPr/>
        </p:nvSpPr>
        <p:spPr>
          <a:xfrm>
            <a:off x="11241304" y="2885689"/>
            <a:ext cx="3090855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Accompagnement financier via banque partenaire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116" name="TextBox 193"/>
          <p:cNvSpPr txBox="1"/>
          <p:nvPr/>
        </p:nvSpPr>
        <p:spPr>
          <a:xfrm>
            <a:off x="11241304" y="3529903"/>
            <a:ext cx="3090855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Formation des utilisateurs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117" name="TextBox 193"/>
          <p:cNvSpPr txBox="1"/>
          <p:nvPr/>
        </p:nvSpPr>
        <p:spPr>
          <a:xfrm>
            <a:off x="11056527" y="4837562"/>
            <a:ext cx="3497480" cy="2564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vente directe B2B </a:t>
            </a:r>
            <a:r>
              <a:rPr lang="fr-FR" sz="1700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(prospection institutionnel)</a:t>
            </a:r>
            <a:endParaRPr lang="fr-FR" sz="1700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Réseau bancaire partenaire (</a:t>
            </a:r>
            <a:r>
              <a:rPr lang="fr-FR" sz="1700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SIAB, ECOBANK</a:t>
            </a: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)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Partenariats CCIT et CNP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Relations directes </a:t>
            </a:r>
            <a:r>
              <a:rPr lang="fr-FR" sz="1700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Ministères, ARSE, AT2ER</a:t>
            </a:r>
            <a:endParaRPr lang="fr-FR" sz="1700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Salons et événements énergie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Communication digitale et marketing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Bouche-à-oreille et références clients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121" name="TextBox 193"/>
          <p:cNvSpPr txBox="1"/>
          <p:nvPr/>
        </p:nvSpPr>
        <p:spPr>
          <a:xfrm>
            <a:off x="11265129" y="3915855"/>
            <a:ext cx="3090855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040"/>
              </a:lnSpc>
            </a:pP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Prospection directe B2B et appels d'offres institutionnels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124" name="TextBox 203"/>
          <p:cNvSpPr txBox="1"/>
          <p:nvPr/>
        </p:nvSpPr>
        <p:spPr>
          <a:xfrm>
            <a:off x="2420289" y="9616732"/>
            <a:ext cx="300802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Coûts total du projet Sur 5 ans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5 664 000 000 F CFA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25" name="TextBox 203"/>
          <p:cNvSpPr txBox="1"/>
          <p:nvPr/>
        </p:nvSpPr>
        <p:spPr>
          <a:xfrm>
            <a:off x="1284617" y="8776739"/>
            <a:ext cx="2105200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Financement sollicité </a:t>
            </a:r>
            <a:endParaRPr lang="en-US" sz="160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615 000 000  F CFA</a:t>
            </a:r>
            <a:endParaRPr lang="en-US" sz="160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Année 1</a:t>
            </a:r>
            <a:endParaRPr lang="en-US" sz="160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26" name="TextBox 203"/>
          <p:cNvSpPr txBox="1"/>
          <p:nvPr/>
        </p:nvSpPr>
        <p:spPr>
          <a:xfrm>
            <a:off x="4049529" y="8801100"/>
            <a:ext cx="2275071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Apport en fonds propres 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154 000 000 F CFA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Année 1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29" name="TextBox 203"/>
          <p:cNvSpPr txBox="1"/>
          <p:nvPr/>
        </p:nvSpPr>
        <p:spPr>
          <a:xfrm>
            <a:off x="835558" y="7956991"/>
            <a:ext cx="5489042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Coûts de démarrage Année 1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769 000 000 F CFA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CAPEX ( 80 000 000 F CFA) + OPEX (689 000 000 F CFA)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30" name="TextBox 203"/>
          <p:cNvSpPr txBox="1"/>
          <p:nvPr/>
        </p:nvSpPr>
        <p:spPr>
          <a:xfrm>
            <a:off x="10981816" y="8093209"/>
            <a:ext cx="2275071" cy="523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7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Vente groupes KYA-</a:t>
            </a:r>
            <a:r>
              <a:rPr lang="en-US" sz="1700" b="1" dirty="0" err="1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SoP</a:t>
            </a:r>
            <a:endParaRPr lang="en-US" sz="17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/>
            <a:r>
              <a:rPr lang="fr-FR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821 unités sur 5 ans </a:t>
            </a:r>
            <a:endParaRPr lang="en-US" sz="17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31" name="Freeform 25"/>
          <p:cNvSpPr/>
          <p:nvPr/>
        </p:nvSpPr>
        <p:spPr>
          <a:xfrm>
            <a:off x="13351198" y="8038163"/>
            <a:ext cx="2296514" cy="654635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32" name="Freeform 25"/>
          <p:cNvSpPr/>
          <p:nvPr/>
        </p:nvSpPr>
        <p:spPr>
          <a:xfrm>
            <a:off x="15740111" y="8038163"/>
            <a:ext cx="2333625" cy="654635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33" name="TextBox 203"/>
          <p:cNvSpPr txBox="1"/>
          <p:nvPr/>
        </p:nvSpPr>
        <p:spPr>
          <a:xfrm>
            <a:off x="13411200" y="8121120"/>
            <a:ext cx="2275071" cy="523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17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Prix unitaire HT </a:t>
            </a:r>
            <a:endParaRPr lang="fr-FR" sz="17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/>
            <a:r>
              <a:rPr lang="fr-FR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7 652 542 FCFA / unité</a:t>
            </a:r>
            <a:endParaRPr lang="en-US" sz="17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34" name="TextBox 203"/>
          <p:cNvSpPr txBox="1"/>
          <p:nvPr/>
        </p:nvSpPr>
        <p:spPr>
          <a:xfrm>
            <a:off x="15719279" y="8080981"/>
            <a:ext cx="2333624" cy="523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17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Contrats de maintenance</a:t>
            </a:r>
            <a:endParaRPr lang="fr-FR" sz="17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/>
            <a:r>
              <a:rPr lang="en-US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Revenus futurs </a:t>
            </a:r>
            <a:endParaRPr lang="en-US" sz="17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35" name="TextBox 203"/>
          <p:cNvSpPr txBox="1"/>
          <p:nvPr/>
        </p:nvSpPr>
        <p:spPr>
          <a:xfrm>
            <a:off x="10985603" y="8828901"/>
            <a:ext cx="69342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Croissance de ventes : 100 unités (2026) → 244 unités (2030), +25%/an </a:t>
            </a:r>
            <a:endParaRPr lang="en-US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36" name="TextBox 203"/>
          <p:cNvSpPr txBox="1"/>
          <p:nvPr/>
        </p:nvSpPr>
        <p:spPr>
          <a:xfrm>
            <a:off x="10992541" y="9190449"/>
            <a:ext cx="6934200" cy="276999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Résultats nets cumulés sur la durée du projet : </a:t>
            </a:r>
            <a:r>
              <a:rPr lang="en-US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337 500 000 F CFA</a:t>
            </a:r>
            <a:endParaRPr lang="en-US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37" name="Freeform 25"/>
          <p:cNvSpPr/>
          <p:nvPr/>
        </p:nvSpPr>
        <p:spPr>
          <a:xfrm>
            <a:off x="11030247" y="9565164"/>
            <a:ext cx="1219201" cy="508635"/>
          </a:xfrm>
          <a:prstGeom prst="rect">
            <a:avLst/>
          </a:prstGeom>
          <a:solidFill>
            <a:srgbClr val="002060"/>
          </a:solidFill>
          <a:ln w="28575" cap="sq">
            <a:solidFill>
              <a:srgbClr val="00B05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38" name="Freeform 25"/>
          <p:cNvSpPr/>
          <p:nvPr/>
        </p:nvSpPr>
        <p:spPr>
          <a:xfrm>
            <a:off x="12684414" y="9565164"/>
            <a:ext cx="2333625" cy="508635"/>
          </a:xfrm>
          <a:prstGeom prst="rect">
            <a:avLst/>
          </a:prstGeom>
          <a:solidFill>
            <a:srgbClr val="002060"/>
          </a:solidFill>
          <a:ln w="28575" cap="sq">
            <a:solidFill>
              <a:srgbClr val="00B05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39" name="Freeform 25"/>
          <p:cNvSpPr/>
          <p:nvPr/>
        </p:nvSpPr>
        <p:spPr>
          <a:xfrm>
            <a:off x="15182553" y="9565164"/>
            <a:ext cx="2800647" cy="508635"/>
          </a:xfrm>
          <a:prstGeom prst="rect">
            <a:avLst/>
          </a:prstGeom>
          <a:solidFill>
            <a:srgbClr val="002060"/>
          </a:solidFill>
          <a:ln w="28575" cap="sq">
            <a:solidFill>
              <a:srgbClr val="00B05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40" name="TextBox 205"/>
          <p:cNvSpPr txBox="1"/>
          <p:nvPr/>
        </p:nvSpPr>
        <p:spPr>
          <a:xfrm>
            <a:off x="11165980" y="9573899"/>
            <a:ext cx="770671" cy="473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58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TRI</a:t>
            </a:r>
            <a:endParaRPr lang="en-US" sz="158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58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89%</a:t>
            </a:r>
            <a:endParaRPr lang="en-US" sz="158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41" name="TextBox 205"/>
          <p:cNvSpPr txBox="1"/>
          <p:nvPr/>
        </p:nvSpPr>
        <p:spPr>
          <a:xfrm>
            <a:off x="12672707" y="9573899"/>
            <a:ext cx="2333625" cy="473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58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VAN</a:t>
            </a:r>
            <a:endParaRPr lang="en-US" sz="158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58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1 444 000 000 F CFA</a:t>
            </a:r>
            <a:endParaRPr lang="en-US" sz="158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42" name="TextBox 205"/>
          <p:cNvSpPr txBox="1"/>
          <p:nvPr/>
        </p:nvSpPr>
        <p:spPr>
          <a:xfrm>
            <a:off x="15324161" y="9594113"/>
            <a:ext cx="2333625" cy="473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sz="158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Seuil de rentabilité </a:t>
            </a:r>
            <a:endParaRPr lang="fr-FR" sz="158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58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5 943 000 000 FCFA</a:t>
            </a:r>
            <a:endParaRPr lang="en-US" sz="158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roupe 291"/>
          <p:cNvGrpSpPr/>
          <p:nvPr/>
        </p:nvGrpSpPr>
        <p:grpSpPr>
          <a:xfrm>
            <a:off x="7267358" y="7541814"/>
            <a:ext cx="3513732" cy="2622007"/>
            <a:chOff x="7267358" y="7541814"/>
            <a:chExt cx="3513732" cy="2622007"/>
          </a:xfrm>
        </p:grpSpPr>
        <p:grpSp>
          <p:nvGrpSpPr>
            <p:cNvPr id="58" name="Group 58"/>
            <p:cNvGrpSpPr/>
            <p:nvPr/>
          </p:nvGrpSpPr>
          <p:grpSpPr>
            <a:xfrm>
              <a:off x="7275890" y="7541814"/>
              <a:ext cx="3505200" cy="2622007"/>
              <a:chOff x="0" y="0"/>
              <a:chExt cx="936875" cy="70081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936875" cy="700814"/>
              </a:xfrm>
              <a:custGeom>
                <a:avLst/>
                <a:gdLst/>
                <a:ahLst/>
                <a:cxnLst/>
                <a:rect l="l" t="t" r="r" b="b"/>
                <a:pathLst>
                  <a:path w="936875" h="700814">
                    <a:moveTo>
                      <a:pt x="30922" y="0"/>
                    </a:moveTo>
                    <a:lnTo>
                      <a:pt x="905953" y="0"/>
                    </a:lnTo>
                    <a:cubicBezTo>
                      <a:pt x="914154" y="0"/>
                      <a:pt x="922019" y="3258"/>
                      <a:pt x="927818" y="9057"/>
                    </a:cubicBezTo>
                    <a:cubicBezTo>
                      <a:pt x="933617" y="14856"/>
                      <a:pt x="936875" y="22721"/>
                      <a:pt x="936875" y="30922"/>
                    </a:cubicBezTo>
                    <a:lnTo>
                      <a:pt x="936875" y="669892"/>
                    </a:lnTo>
                    <a:cubicBezTo>
                      <a:pt x="936875" y="686970"/>
                      <a:pt x="923031" y="700814"/>
                      <a:pt x="905953" y="700814"/>
                    </a:cubicBezTo>
                    <a:lnTo>
                      <a:pt x="30922" y="700814"/>
                    </a:lnTo>
                    <a:cubicBezTo>
                      <a:pt x="13844" y="700814"/>
                      <a:pt x="0" y="686970"/>
                      <a:pt x="0" y="669892"/>
                    </a:cubicBezTo>
                    <a:lnTo>
                      <a:pt x="0" y="30922"/>
                    </a:lnTo>
                    <a:cubicBezTo>
                      <a:pt x="0" y="13844"/>
                      <a:pt x="13844" y="0"/>
                      <a:pt x="309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76069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19050"/>
                <a:ext cx="936875" cy="7198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id="291" name="Flèche : pentagone 290"/>
            <p:cNvSpPr/>
            <p:nvPr/>
          </p:nvSpPr>
          <p:spPr>
            <a:xfrm>
              <a:off x="7268643" y="9426747"/>
              <a:ext cx="147406" cy="112293"/>
            </a:xfrm>
            <a:prstGeom prst="homePlat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89" name="Flèche : pentagone 288"/>
            <p:cNvSpPr/>
            <p:nvPr/>
          </p:nvSpPr>
          <p:spPr>
            <a:xfrm>
              <a:off x="7267358" y="7993070"/>
              <a:ext cx="172959" cy="112293"/>
            </a:xfrm>
            <a:prstGeom prst="homePlat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0" name="Flèche : pentagone 289"/>
            <p:cNvSpPr/>
            <p:nvPr/>
          </p:nvSpPr>
          <p:spPr>
            <a:xfrm>
              <a:off x="7268644" y="9056147"/>
              <a:ext cx="147406" cy="112293"/>
            </a:xfrm>
            <a:prstGeom prst="homePlat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578" y="7542042"/>
            <a:ext cx="7100587" cy="2621779"/>
            <a:chOff x="0" y="0"/>
            <a:chExt cx="1897855" cy="7007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7855" cy="700753"/>
            </a:xfrm>
            <a:custGeom>
              <a:avLst/>
              <a:gdLst/>
              <a:ahLst/>
              <a:cxnLst/>
              <a:rect l="l" t="t" r="r" b="b"/>
              <a:pathLst>
                <a:path w="1897855" h="700753">
                  <a:moveTo>
                    <a:pt x="15264" y="0"/>
                  </a:moveTo>
                  <a:lnTo>
                    <a:pt x="1882591" y="0"/>
                  </a:lnTo>
                  <a:cubicBezTo>
                    <a:pt x="1891021" y="0"/>
                    <a:pt x="1897855" y="6834"/>
                    <a:pt x="1897855" y="15264"/>
                  </a:cubicBezTo>
                  <a:lnTo>
                    <a:pt x="1897855" y="685489"/>
                  </a:lnTo>
                  <a:cubicBezTo>
                    <a:pt x="1897855" y="693919"/>
                    <a:pt x="1891021" y="700753"/>
                    <a:pt x="1882591" y="700753"/>
                  </a:cubicBezTo>
                  <a:lnTo>
                    <a:pt x="15264" y="700753"/>
                  </a:lnTo>
                  <a:cubicBezTo>
                    <a:pt x="6834" y="700753"/>
                    <a:pt x="0" y="693919"/>
                    <a:pt x="0" y="685489"/>
                  </a:cubicBezTo>
                  <a:lnTo>
                    <a:pt x="0" y="15264"/>
                  </a:lnTo>
                  <a:cubicBezTo>
                    <a:pt x="0" y="6834"/>
                    <a:pt x="6834" y="0"/>
                    <a:pt x="152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897855" cy="71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281" name="TextBox 26"/>
          <p:cNvSpPr txBox="1"/>
          <p:nvPr/>
        </p:nvSpPr>
        <p:spPr>
          <a:xfrm>
            <a:off x="4857051" y="7891349"/>
            <a:ext cx="2259402" cy="5950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278" name="TextBox 26"/>
          <p:cNvSpPr txBox="1"/>
          <p:nvPr/>
        </p:nvSpPr>
        <p:spPr>
          <a:xfrm>
            <a:off x="2510169" y="7891349"/>
            <a:ext cx="2259402" cy="5950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grpSp>
        <p:nvGrpSpPr>
          <p:cNvPr id="27" name="Group 27"/>
          <p:cNvGrpSpPr/>
          <p:nvPr/>
        </p:nvGrpSpPr>
        <p:grpSpPr>
          <a:xfrm>
            <a:off x="3687497" y="4562701"/>
            <a:ext cx="3505200" cy="2841001"/>
            <a:chOff x="0" y="0"/>
            <a:chExt cx="936875" cy="75934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36875" cy="759347"/>
            </a:xfrm>
            <a:custGeom>
              <a:avLst/>
              <a:gdLst/>
              <a:ahLst/>
              <a:cxnLst/>
              <a:rect l="l" t="t" r="r" b="b"/>
              <a:pathLst>
                <a:path w="936875" h="759347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728425"/>
                  </a:lnTo>
                  <a:cubicBezTo>
                    <a:pt x="936875" y="745503"/>
                    <a:pt x="923031" y="759347"/>
                    <a:pt x="905953" y="759347"/>
                  </a:cubicBezTo>
                  <a:lnTo>
                    <a:pt x="30922" y="759347"/>
                  </a:lnTo>
                  <a:cubicBezTo>
                    <a:pt x="13844" y="759347"/>
                    <a:pt x="0" y="745503"/>
                    <a:pt x="0" y="728425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936875" cy="77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713540" y="1165588"/>
            <a:ext cx="3505200" cy="3263764"/>
            <a:chOff x="0" y="0"/>
            <a:chExt cx="936875" cy="8723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6875" cy="872344"/>
            </a:xfrm>
            <a:custGeom>
              <a:avLst/>
              <a:gdLst/>
              <a:ahLst/>
              <a:cxnLst/>
              <a:rect l="l" t="t" r="r" b="b"/>
              <a:pathLst>
                <a:path w="936875" h="872344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841422"/>
                  </a:lnTo>
                  <a:cubicBezTo>
                    <a:pt x="936875" y="858500"/>
                    <a:pt x="923031" y="872344"/>
                    <a:pt x="905953" y="872344"/>
                  </a:cubicBezTo>
                  <a:lnTo>
                    <a:pt x="30922" y="872344"/>
                  </a:lnTo>
                  <a:cubicBezTo>
                    <a:pt x="22721" y="872344"/>
                    <a:pt x="14856" y="869086"/>
                    <a:pt x="9057" y="863287"/>
                  </a:cubicBezTo>
                  <a:cubicBezTo>
                    <a:pt x="3258" y="857488"/>
                    <a:pt x="0" y="849623"/>
                    <a:pt x="0" y="841422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36875" cy="891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31" name="Freeform 31"/>
          <p:cNvSpPr/>
          <p:nvPr/>
        </p:nvSpPr>
        <p:spPr>
          <a:xfrm>
            <a:off x="10998489" y="1165588"/>
            <a:ext cx="3505200" cy="3295078"/>
          </a:xfrm>
          <a:custGeom>
            <a:avLst/>
            <a:gdLst/>
            <a:ahLst/>
            <a:cxnLst/>
            <a:rect l="l" t="t" r="r" b="b"/>
            <a:pathLst>
              <a:path w="936875" h="880713">
                <a:moveTo>
                  <a:pt x="30922" y="0"/>
                </a:moveTo>
                <a:lnTo>
                  <a:pt x="905953" y="0"/>
                </a:lnTo>
                <a:cubicBezTo>
                  <a:pt x="914154" y="0"/>
                  <a:pt x="922019" y="3258"/>
                  <a:pt x="927818" y="9057"/>
                </a:cubicBezTo>
                <a:cubicBezTo>
                  <a:pt x="933617" y="14856"/>
                  <a:pt x="936875" y="22721"/>
                  <a:pt x="936875" y="30922"/>
                </a:cubicBezTo>
                <a:lnTo>
                  <a:pt x="936875" y="849792"/>
                </a:lnTo>
                <a:cubicBezTo>
                  <a:pt x="936875" y="866869"/>
                  <a:pt x="923031" y="880713"/>
                  <a:pt x="905953" y="880713"/>
                </a:cubicBezTo>
                <a:lnTo>
                  <a:pt x="30922" y="880713"/>
                </a:lnTo>
                <a:cubicBezTo>
                  <a:pt x="22721" y="880713"/>
                  <a:pt x="14856" y="877455"/>
                  <a:pt x="9057" y="871656"/>
                </a:cubicBezTo>
                <a:cubicBezTo>
                  <a:pt x="3258" y="865858"/>
                  <a:pt x="0" y="857992"/>
                  <a:pt x="0" y="849792"/>
                </a:cubicBezTo>
                <a:lnTo>
                  <a:pt x="0" y="30922"/>
                </a:lnTo>
                <a:cubicBezTo>
                  <a:pt x="0" y="13844"/>
                  <a:pt x="13844" y="0"/>
                  <a:pt x="3092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EBF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4" name="Freeform 34"/>
          <p:cNvSpPr/>
          <p:nvPr/>
        </p:nvSpPr>
        <p:spPr>
          <a:xfrm>
            <a:off x="10896600" y="4553176"/>
            <a:ext cx="3636000" cy="2841001"/>
          </a:xfrm>
          <a:custGeom>
            <a:avLst/>
            <a:gdLst/>
            <a:ahLst/>
            <a:cxnLst/>
            <a:rect l="l" t="t" r="r" b="b"/>
            <a:pathLst>
              <a:path w="960249" h="759347">
                <a:moveTo>
                  <a:pt x="30169" y="0"/>
                </a:moveTo>
                <a:lnTo>
                  <a:pt x="930080" y="0"/>
                </a:lnTo>
                <a:cubicBezTo>
                  <a:pt x="938081" y="0"/>
                  <a:pt x="945755" y="3179"/>
                  <a:pt x="951412" y="8836"/>
                </a:cubicBezTo>
                <a:cubicBezTo>
                  <a:pt x="957070" y="14494"/>
                  <a:pt x="960249" y="22168"/>
                  <a:pt x="960249" y="30169"/>
                </a:cubicBezTo>
                <a:lnTo>
                  <a:pt x="960249" y="729178"/>
                </a:lnTo>
                <a:cubicBezTo>
                  <a:pt x="960249" y="737179"/>
                  <a:pt x="957070" y="744853"/>
                  <a:pt x="951412" y="750511"/>
                </a:cubicBezTo>
                <a:cubicBezTo>
                  <a:pt x="945755" y="756168"/>
                  <a:pt x="938081" y="759347"/>
                  <a:pt x="930080" y="759347"/>
                </a:cubicBezTo>
                <a:lnTo>
                  <a:pt x="30169" y="759347"/>
                </a:lnTo>
                <a:cubicBezTo>
                  <a:pt x="13507" y="759347"/>
                  <a:pt x="0" y="745840"/>
                  <a:pt x="0" y="729178"/>
                </a:cubicBezTo>
                <a:lnTo>
                  <a:pt x="0" y="30169"/>
                </a:lnTo>
                <a:cubicBezTo>
                  <a:pt x="0" y="22168"/>
                  <a:pt x="3179" y="14494"/>
                  <a:pt x="8836" y="8836"/>
                </a:cubicBezTo>
                <a:cubicBezTo>
                  <a:pt x="14494" y="3179"/>
                  <a:pt x="22168" y="0"/>
                  <a:pt x="30169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EBF00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grpSp>
        <p:nvGrpSpPr>
          <p:cNvPr id="2" name="Group 2"/>
          <p:cNvGrpSpPr/>
          <p:nvPr/>
        </p:nvGrpSpPr>
        <p:grpSpPr>
          <a:xfrm>
            <a:off x="110428" y="1149928"/>
            <a:ext cx="3505200" cy="6234724"/>
            <a:chOff x="0" y="0"/>
            <a:chExt cx="936875" cy="16664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6875" cy="1666426"/>
            </a:xfrm>
            <a:custGeom>
              <a:avLst/>
              <a:gdLst/>
              <a:ahLst/>
              <a:cxnLst/>
              <a:rect l="l" t="t" r="r" b="b"/>
              <a:pathLst>
                <a:path w="936875" h="1666426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1635505"/>
                  </a:lnTo>
                  <a:cubicBezTo>
                    <a:pt x="936875" y="1652582"/>
                    <a:pt x="923031" y="1666426"/>
                    <a:pt x="905953" y="1666426"/>
                  </a:cubicBezTo>
                  <a:lnTo>
                    <a:pt x="30922" y="1666426"/>
                  </a:lnTo>
                  <a:cubicBezTo>
                    <a:pt x="22721" y="1666426"/>
                    <a:pt x="14856" y="1663169"/>
                    <a:pt x="9057" y="1657370"/>
                  </a:cubicBezTo>
                  <a:cubicBezTo>
                    <a:pt x="3258" y="1651571"/>
                    <a:pt x="0" y="1643706"/>
                    <a:pt x="0" y="1635505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36875" cy="1685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6200" y="1638300"/>
            <a:ext cx="3528060" cy="6014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Gouvernement Togolais (MDMRE)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/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Ministère Mines et Énergie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/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/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ASRI – recyclage batteries plomb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/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/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Fournisseurs équipements  LED et Li-Ion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/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/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Banques et institutions financières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/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/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Communes des 117 préfectures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/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/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Formateurs techniques externes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183515" lvl="1"/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866815" y="7542042"/>
            <a:ext cx="7273748" cy="2621779"/>
            <a:chOff x="0" y="0"/>
            <a:chExt cx="1944138" cy="7007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4138" cy="700753"/>
            </a:xfrm>
            <a:custGeom>
              <a:avLst/>
              <a:gdLst/>
              <a:ahLst/>
              <a:cxnLst/>
              <a:rect l="l" t="t" r="r" b="b"/>
              <a:pathLst>
                <a:path w="1944138" h="700753">
                  <a:moveTo>
                    <a:pt x="14901" y="0"/>
                  </a:moveTo>
                  <a:lnTo>
                    <a:pt x="1929237" y="0"/>
                  </a:lnTo>
                  <a:cubicBezTo>
                    <a:pt x="1933189" y="0"/>
                    <a:pt x="1936979" y="1570"/>
                    <a:pt x="1939774" y="4364"/>
                  </a:cubicBezTo>
                  <a:cubicBezTo>
                    <a:pt x="1942568" y="7159"/>
                    <a:pt x="1944138" y="10949"/>
                    <a:pt x="1944138" y="14901"/>
                  </a:cubicBezTo>
                  <a:lnTo>
                    <a:pt x="1944138" y="685852"/>
                  </a:lnTo>
                  <a:cubicBezTo>
                    <a:pt x="1944138" y="689804"/>
                    <a:pt x="1942568" y="693594"/>
                    <a:pt x="1939774" y="696389"/>
                  </a:cubicBezTo>
                  <a:cubicBezTo>
                    <a:pt x="1936979" y="699183"/>
                    <a:pt x="1933189" y="700753"/>
                    <a:pt x="1929237" y="700753"/>
                  </a:cubicBezTo>
                  <a:lnTo>
                    <a:pt x="14901" y="700753"/>
                  </a:lnTo>
                  <a:cubicBezTo>
                    <a:pt x="10949" y="700753"/>
                    <a:pt x="7159" y="699183"/>
                    <a:pt x="4364" y="696389"/>
                  </a:cubicBezTo>
                  <a:cubicBezTo>
                    <a:pt x="1570" y="693594"/>
                    <a:pt x="0" y="689804"/>
                    <a:pt x="0" y="685852"/>
                  </a:cubicBezTo>
                  <a:lnTo>
                    <a:pt x="0" y="14901"/>
                  </a:lnTo>
                  <a:cubicBezTo>
                    <a:pt x="0" y="10949"/>
                    <a:pt x="1570" y="7159"/>
                    <a:pt x="4364" y="4364"/>
                  </a:cubicBezTo>
                  <a:cubicBezTo>
                    <a:pt x="7159" y="1570"/>
                    <a:pt x="10949" y="0"/>
                    <a:pt x="1490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944138" cy="71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841039" y="7565627"/>
            <a:ext cx="7273748" cy="366344"/>
            <a:chOff x="0" y="0"/>
            <a:chExt cx="1944138" cy="979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44138" cy="97917"/>
            </a:xfrm>
            <a:custGeom>
              <a:avLst/>
              <a:gdLst/>
              <a:ahLst/>
              <a:cxnLst/>
              <a:rect l="l" t="t" r="r" b="b"/>
              <a:pathLst>
                <a:path w="1944138" h="97917">
                  <a:moveTo>
                    <a:pt x="14901" y="0"/>
                  </a:moveTo>
                  <a:lnTo>
                    <a:pt x="1929237" y="0"/>
                  </a:lnTo>
                  <a:cubicBezTo>
                    <a:pt x="1933189" y="0"/>
                    <a:pt x="1936979" y="1570"/>
                    <a:pt x="1939774" y="4364"/>
                  </a:cubicBezTo>
                  <a:cubicBezTo>
                    <a:pt x="1942568" y="7159"/>
                    <a:pt x="1944138" y="10949"/>
                    <a:pt x="1944138" y="14901"/>
                  </a:cubicBezTo>
                  <a:lnTo>
                    <a:pt x="1944138" y="83016"/>
                  </a:lnTo>
                  <a:cubicBezTo>
                    <a:pt x="1944138" y="86968"/>
                    <a:pt x="1942568" y="90758"/>
                    <a:pt x="1939774" y="93553"/>
                  </a:cubicBezTo>
                  <a:cubicBezTo>
                    <a:pt x="1936979" y="96347"/>
                    <a:pt x="1933189" y="97917"/>
                    <a:pt x="1929237" y="97917"/>
                  </a:cubicBezTo>
                  <a:lnTo>
                    <a:pt x="14901" y="97917"/>
                  </a:lnTo>
                  <a:cubicBezTo>
                    <a:pt x="10949" y="97917"/>
                    <a:pt x="7159" y="96347"/>
                    <a:pt x="4364" y="93553"/>
                  </a:cubicBezTo>
                  <a:cubicBezTo>
                    <a:pt x="1570" y="90758"/>
                    <a:pt x="0" y="86968"/>
                    <a:pt x="0" y="83016"/>
                  </a:cubicBezTo>
                  <a:lnTo>
                    <a:pt x="0" y="14901"/>
                  </a:lnTo>
                  <a:cubicBezTo>
                    <a:pt x="0" y="10949"/>
                    <a:pt x="1570" y="7159"/>
                    <a:pt x="4364" y="4364"/>
                  </a:cubicBezTo>
                  <a:cubicBezTo>
                    <a:pt x="7159" y="1570"/>
                    <a:pt x="10949" y="0"/>
                    <a:pt x="14901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944138" cy="116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290177" y="1149928"/>
            <a:ext cx="3505200" cy="6253774"/>
            <a:chOff x="0" y="0"/>
            <a:chExt cx="936875" cy="16715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6875" cy="1671518"/>
            </a:xfrm>
            <a:custGeom>
              <a:avLst/>
              <a:gdLst/>
              <a:ahLst/>
              <a:cxnLst/>
              <a:rect l="l" t="t" r="r" b="b"/>
              <a:pathLst>
                <a:path w="936875" h="1671518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1640596"/>
                  </a:lnTo>
                  <a:cubicBezTo>
                    <a:pt x="936875" y="1657674"/>
                    <a:pt x="923031" y="1671518"/>
                    <a:pt x="905953" y="1671518"/>
                  </a:cubicBezTo>
                  <a:lnTo>
                    <a:pt x="30922" y="1671518"/>
                  </a:lnTo>
                  <a:cubicBezTo>
                    <a:pt x="13844" y="1671518"/>
                    <a:pt x="0" y="1657674"/>
                    <a:pt x="0" y="1640596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936875" cy="169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4635363" y="1165588"/>
            <a:ext cx="3528000" cy="6219064"/>
          </a:xfrm>
          <a:custGeom>
            <a:avLst/>
            <a:gdLst/>
            <a:ahLst/>
            <a:cxnLst/>
            <a:rect l="l" t="t" r="r" b="b"/>
            <a:pathLst>
              <a:path w="936875" h="1662241">
                <a:moveTo>
                  <a:pt x="30922" y="0"/>
                </a:moveTo>
                <a:lnTo>
                  <a:pt x="905953" y="0"/>
                </a:lnTo>
                <a:cubicBezTo>
                  <a:pt x="914154" y="0"/>
                  <a:pt x="922019" y="3258"/>
                  <a:pt x="927818" y="9057"/>
                </a:cubicBezTo>
                <a:cubicBezTo>
                  <a:pt x="933617" y="14856"/>
                  <a:pt x="936875" y="22721"/>
                  <a:pt x="936875" y="30922"/>
                </a:cubicBezTo>
                <a:lnTo>
                  <a:pt x="936875" y="1631319"/>
                </a:lnTo>
                <a:cubicBezTo>
                  <a:pt x="936875" y="1648397"/>
                  <a:pt x="923031" y="1662241"/>
                  <a:pt x="905953" y="1662241"/>
                </a:cubicBezTo>
                <a:lnTo>
                  <a:pt x="30922" y="1662241"/>
                </a:lnTo>
                <a:cubicBezTo>
                  <a:pt x="13844" y="1662241"/>
                  <a:pt x="0" y="1648397"/>
                  <a:pt x="0" y="1631319"/>
                </a:cubicBezTo>
                <a:lnTo>
                  <a:pt x="0" y="30922"/>
                </a:lnTo>
                <a:cubicBezTo>
                  <a:pt x="0" y="13844"/>
                  <a:pt x="13844" y="0"/>
                  <a:pt x="3092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EBF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Box 23"/>
          <p:cNvSpPr txBox="1"/>
          <p:nvPr/>
        </p:nvSpPr>
        <p:spPr>
          <a:xfrm>
            <a:off x="14635363" y="1094315"/>
            <a:ext cx="3505200" cy="629033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26" name="TextBox 26"/>
          <p:cNvSpPr txBox="1"/>
          <p:nvPr/>
        </p:nvSpPr>
        <p:spPr>
          <a:xfrm>
            <a:off x="163288" y="7891349"/>
            <a:ext cx="2259402" cy="5950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32" name="TextBox 32"/>
          <p:cNvSpPr txBox="1"/>
          <p:nvPr/>
        </p:nvSpPr>
        <p:spPr>
          <a:xfrm>
            <a:off x="10998489" y="1094315"/>
            <a:ext cx="3505200" cy="33663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35" name="TextBox 35"/>
          <p:cNvSpPr txBox="1"/>
          <p:nvPr/>
        </p:nvSpPr>
        <p:spPr>
          <a:xfrm>
            <a:off x="10896600" y="4481903"/>
            <a:ext cx="3636000" cy="291227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grpSp>
        <p:nvGrpSpPr>
          <p:cNvPr id="36" name="Group 36"/>
          <p:cNvGrpSpPr/>
          <p:nvPr/>
        </p:nvGrpSpPr>
        <p:grpSpPr>
          <a:xfrm>
            <a:off x="0" y="0"/>
            <a:ext cx="1126809" cy="1126809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8025" y="0"/>
                  </a:moveTo>
                  <a:lnTo>
                    <a:pt x="654775" y="0"/>
                  </a:lnTo>
                  <a:cubicBezTo>
                    <a:pt x="742050" y="0"/>
                    <a:pt x="812800" y="70750"/>
                    <a:pt x="812800" y="158025"/>
                  </a:cubicBezTo>
                  <a:lnTo>
                    <a:pt x="812800" y="654775"/>
                  </a:lnTo>
                  <a:cubicBezTo>
                    <a:pt x="812800" y="742050"/>
                    <a:pt x="742050" y="812800"/>
                    <a:pt x="654775" y="812800"/>
                  </a:cubicBezTo>
                  <a:lnTo>
                    <a:pt x="158025" y="812800"/>
                  </a:lnTo>
                  <a:cubicBezTo>
                    <a:pt x="70750" y="812800"/>
                    <a:pt x="0" y="742050"/>
                    <a:pt x="0" y="654775"/>
                  </a:cubicBezTo>
                  <a:lnTo>
                    <a:pt x="0" y="158025"/>
                  </a:lnTo>
                  <a:cubicBezTo>
                    <a:pt x="0" y="70750"/>
                    <a:pt x="70750" y="0"/>
                    <a:pt x="158025" y="0"/>
                  </a:cubicBez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09082" y="57150"/>
            <a:ext cx="2418978" cy="352425"/>
            <a:chOff x="0" y="0"/>
            <a:chExt cx="637097" cy="928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7097" cy="92820"/>
            </a:xfrm>
            <a:custGeom>
              <a:avLst/>
              <a:gdLst/>
              <a:ahLst/>
              <a:cxnLst/>
              <a:rect l="l" t="t" r="r" b="b"/>
              <a:pathLst>
                <a:path w="637097" h="92820">
                  <a:moveTo>
                    <a:pt x="38406" y="0"/>
                  </a:moveTo>
                  <a:lnTo>
                    <a:pt x="598691" y="0"/>
                  </a:lnTo>
                  <a:cubicBezTo>
                    <a:pt x="619902" y="0"/>
                    <a:pt x="637097" y="17195"/>
                    <a:pt x="637097" y="38406"/>
                  </a:cubicBezTo>
                  <a:lnTo>
                    <a:pt x="637097" y="54414"/>
                  </a:lnTo>
                  <a:cubicBezTo>
                    <a:pt x="637097" y="75625"/>
                    <a:pt x="619902" y="92820"/>
                    <a:pt x="598691" y="92820"/>
                  </a:cubicBezTo>
                  <a:lnTo>
                    <a:pt x="38406" y="92820"/>
                  </a:lnTo>
                  <a:cubicBezTo>
                    <a:pt x="17195" y="92820"/>
                    <a:pt x="0" y="75625"/>
                    <a:pt x="0" y="54414"/>
                  </a:cubicBezTo>
                  <a:lnTo>
                    <a:pt x="0" y="38406"/>
                  </a:lnTo>
                  <a:cubicBezTo>
                    <a:pt x="0" y="17195"/>
                    <a:pt x="17195" y="0"/>
                    <a:pt x="38406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637097" cy="111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737092" y="1176155"/>
            <a:ext cx="3458097" cy="323850"/>
            <a:chOff x="0" y="0"/>
            <a:chExt cx="924285" cy="8655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24285" cy="86559"/>
            </a:xfrm>
            <a:custGeom>
              <a:avLst/>
              <a:gdLst/>
              <a:ahLst/>
              <a:cxnLst/>
              <a:rect l="l" t="t" r="r" b="b"/>
              <a:pathLst>
                <a:path w="924285" h="86559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55216"/>
                  </a:lnTo>
                  <a:cubicBezTo>
                    <a:pt x="924285" y="72526"/>
                    <a:pt x="910253" y="86559"/>
                    <a:pt x="892942" y="86559"/>
                  </a:cubicBezTo>
                  <a:lnTo>
                    <a:pt x="31343" y="86559"/>
                  </a:lnTo>
                  <a:cubicBezTo>
                    <a:pt x="14033" y="86559"/>
                    <a:pt x="0" y="72526"/>
                    <a:pt x="0" y="55216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924285" cy="105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44" name="Freeform 44"/>
          <p:cNvSpPr/>
          <p:nvPr/>
        </p:nvSpPr>
        <p:spPr>
          <a:xfrm>
            <a:off x="3793758" y="1184638"/>
            <a:ext cx="276225" cy="279786"/>
          </a:xfrm>
          <a:custGeom>
            <a:avLst/>
            <a:gdLst/>
            <a:ahLst/>
            <a:cxnLst/>
            <a:rect l="l" t="t" r="r" b="b"/>
            <a:pathLst>
              <a:path w="276225" h="279786">
                <a:moveTo>
                  <a:pt x="0" y="0"/>
                </a:moveTo>
                <a:lnTo>
                  <a:pt x="276225" y="0"/>
                </a:lnTo>
                <a:lnTo>
                  <a:pt x="276225" y="279786"/>
                </a:lnTo>
                <a:lnTo>
                  <a:pt x="0" y="279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5" name="Group 45"/>
          <p:cNvGrpSpPr/>
          <p:nvPr/>
        </p:nvGrpSpPr>
        <p:grpSpPr>
          <a:xfrm>
            <a:off x="125668" y="1168978"/>
            <a:ext cx="3458097" cy="365097"/>
            <a:chOff x="0" y="0"/>
            <a:chExt cx="924285" cy="97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24285" cy="97584"/>
            </a:xfrm>
            <a:custGeom>
              <a:avLst/>
              <a:gdLst/>
              <a:ahLst/>
              <a:cxnLst/>
              <a:rect l="l" t="t" r="r" b="b"/>
              <a:pathLst>
                <a:path w="924285" h="97584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66241"/>
                  </a:lnTo>
                  <a:cubicBezTo>
                    <a:pt x="924285" y="83551"/>
                    <a:pt x="910253" y="97584"/>
                    <a:pt x="892942" y="97584"/>
                  </a:cubicBezTo>
                  <a:lnTo>
                    <a:pt x="31343" y="97584"/>
                  </a:lnTo>
                  <a:cubicBezTo>
                    <a:pt x="23030" y="97584"/>
                    <a:pt x="15058" y="94282"/>
                    <a:pt x="9180" y="88404"/>
                  </a:cubicBezTo>
                  <a:cubicBezTo>
                    <a:pt x="3302" y="82526"/>
                    <a:pt x="0" y="74553"/>
                    <a:pt x="0" y="66241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924285" cy="116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48" name="Freeform 48"/>
          <p:cNvSpPr/>
          <p:nvPr/>
        </p:nvSpPr>
        <p:spPr>
          <a:xfrm>
            <a:off x="162074" y="1221695"/>
            <a:ext cx="313670" cy="278311"/>
          </a:xfrm>
          <a:custGeom>
            <a:avLst/>
            <a:gdLst/>
            <a:ahLst/>
            <a:cxnLst/>
            <a:rect l="l" t="t" r="r" b="b"/>
            <a:pathLst>
              <a:path w="313670" h="278311">
                <a:moveTo>
                  <a:pt x="0" y="0"/>
                </a:moveTo>
                <a:lnTo>
                  <a:pt x="313670" y="0"/>
                </a:lnTo>
                <a:lnTo>
                  <a:pt x="313670" y="278310"/>
                </a:lnTo>
                <a:lnTo>
                  <a:pt x="0" y="278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49" name="Group 49"/>
          <p:cNvGrpSpPr/>
          <p:nvPr/>
        </p:nvGrpSpPr>
        <p:grpSpPr>
          <a:xfrm>
            <a:off x="3704015" y="4582630"/>
            <a:ext cx="3458097" cy="365097"/>
            <a:chOff x="0" y="0"/>
            <a:chExt cx="924285" cy="975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24285" cy="97584"/>
            </a:xfrm>
            <a:custGeom>
              <a:avLst/>
              <a:gdLst/>
              <a:ahLst/>
              <a:cxnLst/>
              <a:rect l="l" t="t" r="r" b="b"/>
              <a:pathLst>
                <a:path w="924285" h="97584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66241"/>
                  </a:lnTo>
                  <a:cubicBezTo>
                    <a:pt x="924285" y="83551"/>
                    <a:pt x="910253" y="97584"/>
                    <a:pt x="892942" y="97584"/>
                  </a:cubicBezTo>
                  <a:lnTo>
                    <a:pt x="31343" y="97584"/>
                  </a:lnTo>
                  <a:cubicBezTo>
                    <a:pt x="23030" y="97584"/>
                    <a:pt x="15058" y="94282"/>
                    <a:pt x="9180" y="88404"/>
                  </a:cubicBezTo>
                  <a:cubicBezTo>
                    <a:pt x="3302" y="82526"/>
                    <a:pt x="0" y="74553"/>
                    <a:pt x="0" y="66241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924285" cy="116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2" name="Freeform 52"/>
          <p:cNvSpPr/>
          <p:nvPr/>
        </p:nvSpPr>
        <p:spPr>
          <a:xfrm>
            <a:off x="3769157" y="4611428"/>
            <a:ext cx="276225" cy="275123"/>
          </a:xfrm>
          <a:custGeom>
            <a:avLst/>
            <a:gdLst/>
            <a:ahLst/>
            <a:cxnLst/>
            <a:rect l="l" t="t" r="r" b="b"/>
            <a:pathLst>
              <a:path w="276225" h="275123">
                <a:moveTo>
                  <a:pt x="0" y="0"/>
                </a:moveTo>
                <a:lnTo>
                  <a:pt x="276225" y="0"/>
                </a:lnTo>
                <a:lnTo>
                  <a:pt x="276225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3" name="Group 53"/>
          <p:cNvGrpSpPr/>
          <p:nvPr/>
        </p:nvGrpSpPr>
        <p:grpSpPr>
          <a:xfrm>
            <a:off x="11003296" y="1184638"/>
            <a:ext cx="3505200" cy="268951"/>
            <a:chOff x="0" y="0"/>
            <a:chExt cx="936875" cy="8047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36875" cy="80473"/>
            </a:xfrm>
            <a:custGeom>
              <a:avLst/>
              <a:gdLst/>
              <a:ahLst/>
              <a:cxnLst/>
              <a:rect l="l" t="t" r="r" b="b"/>
              <a:pathLst>
                <a:path w="936875" h="80473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49551"/>
                  </a:lnTo>
                  <a:cubicBezTo>
                    <a:pt x="936875" y="66629"/>
                    <a:pt x="923031" y="80473"/>
                    <a:pt x="905953" y="80473"/>
                  </a:cubicBezTo>
                  <a:lnTo>
                    <a:pt x="30922" y="80473"/>
                  </a:lnTo>
                  <a:cubicBezTo>
                    <a:pt x="13844" y="80473"/>
                    <a:pt x="0" y="66629"/>
                    <a:pt x="0" y="49551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936875" cy="99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6" name="Freeform 56"/>
          <p:cNvSpPr/>
          <p:nvPr/>
        </p:nvSpPr>
        <p:spPr>
          <a:xfrm>
            <a:off x="11062077" y="1203688"/>
            <a:ext cx="285750" cy="249901"/>
          </a:xfrm>
          <a:custGeom>
            <a:avLst/>
            <a:gdLst/>
            <a:ahLst/>
            <a:cxnLst/>
            <a:rect l="l" t="t" r="r" b="b"/>
            <a:pathLst>
              <a:path w="285750" h="249901">
                <a:moveTo>
                  <a:pt x="0" y="0"/>
                </a:moveTo>
                <a:lnTo>
                  <a:pt x="285750" y="0"/>
                </a:lnTo>
                <a:lnTo>
                  <a:pt x="285750" y="249901"/>
                </a:lnTo>
                <a:lnTo>
                  <a:pt x="0" y="2499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7" name="Freeform 57"/>
          <p:cNvSpPr/>
          <p:nvPr/>
        </p:nvSpPr>
        <p:spPr>
          <a:xfrm>
            <a:off x="10939374" y="7589439"/>
            <a:ext cx="333375" cy="268224"/>
          </a:xfrm>
          <a:custGeom>
            <a:avLst/>
            <a:gdLst/>
            <a:ahLst/>
            <a:cxnLst/>
            <a:rect l="l" t="t" r="r" b="b"/>
            <a:pathLst>
              <a:path w="333375" h="268224">
                <a:moveTo>
                  <a:pt x="0" y="0"/>
                </a:moveTo>
                <a:lnTo>
                  <a:pt x="333375" y="0"/>
                </a:lnTo>
                <a:lnTo>
                  <a:pt x="333375" y="268224"/>
                </a:lnTo>
                <a:lnTo>
                  <a:pt x="0" y="2682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9" name="TextBox 69"/>
          <p:cNvSpPr txBox="1"/>
          <p:nvPr/>
        </p:nvSpPr>
        <p:spPr>
          <a:xfrm>
            <a:off x="5519128" y="6802884"/>
            <a:ext cx="2259402" cy="62478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75" name="TextBox 75"/>
          <p:cNvSpPr txBox="1"/>
          <p:nvPr/>
        </p:nvSpPr>
        <p:spPr>
          <a:xfrm>
            <a:off x="10952540" y="7973061"/>
            <a:ext cx="2333625" cy="116791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grpSp>
        <p:nvGrpSpPr>
          <p:cNvPr id="76" name="Group 76"/>
          <p:cNvGrpSpPr/>
          <p:nvPr/>
        </p:nvGrpSpPr>
        <p:grpSpPr>
          <a:xfrm>
            <a:off x="14642664" y="1184638"/>
            <a:ext cx="3505200" cy="315368"/>
            <a:chOff x="0" y="0"/>
            <a:chExt cx="936875" cy="8429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36875" cy="84292"/>
            </a:xfrm>
            <a:custGeom>
              <a:avLst/>
              <a:gdLst/>
              <a:ahLst/>
              <a:cxnLst/>
              <a:rect l="l" t="t" r="r" b="b"/>
              <a:pathLst>
                <a:path w="936875" h="84292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53370"/>
                  </a:lnTo>
                  <a:cubicBezTo>
                    <a:pt x="936875" y="70448"/>
                    <a:pt x="923031" y="84292"/>
                    <a:pt x="905953" y="84292"/>
                  </a:cubicBezTo>
                  <a:lnTo>
                    <a:pt x="30922" y="84292"/>
                  </a:lnTo>
                  <a:cubicBezTo>
                    <a:pt x="22721" y="84292"/>
                    <a:pt x="14856" y="81034"/>
                    <a:pt x="9057" y="75235"/>
                  </a:cubicBezTo>
                  <a:cubicBezTo>
                    <a:pt x="3258" y="69436"/>
                    <a:pt x="0" y="61571"/>
                    <a:pt x="0" y="53370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936875" cy="103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79" name="Freeform 79"/>
          <p:cNvSpPr/>
          <p:nvPr/>
        </p:nvSpPr>
        <p:spPr>
          <a:xfrm>
            <a:off x="14713239" y="1186577"/>
            <a:ext cx="304800" cy="300921"/>
          </a:xfrm>
          <a:custGeom>
            <a:avLst/>
            <a:gdLst/>
            <a:ahLst/>
            <a:cxnLst/>
            <a:rect l="l" t="t" r="r" b="b"/>
            <a:pathLst>
              <a:path w="304800" h="300921">
                <a:moveTo>
                  <a:pt x="0" y="0"/>
                </a:moveTo>
                <a:lnTo>
                  <a:pt x="304800" y="0"/>
                </a:lnTo>
                <a:lnTo>
                  <a:pt x="304800" y="300921"/>
                </a:lnTo>
                <a:lnTo>
                  <a:pt x="0" y="3009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0" name="Group 80"/>
          <p:cNvGrpSpPr/>
          <p:nvPr/>
        </p:nvGrpSpPr>
        <p:grpSpPr>
          <a:xfrm>
            <a:off x="7294940" y="1184638"/>
            <a:ext cx="3505200" cy="293534"/>
            <a:chOff x="0" y="0"/>
            <a:chExt cx="936875" cy="81467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936875" cy="81467"/>
            </a:xfrm>
            <a:custGeom>
              <a:avLst/>
              <a:gdLst/>
              <a:ahLst/>
              <a:cxnLst/>
              <a:rect l="l" t="t" r="r" b="b"/>
              <a:pathLst>
                <a:path w="936875" h="81467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50546"/>
                  </a:lnTo>
                  <a:cubicBezTo>
                    <a:pt x="936875" y="67623"/>
                    <a:pt x="923031" y="81467"/>
                    <a:pt x="905953" y="81467"/>
                  </a:cubicBezTo>
                  <a:lnTo>
                    <a:pt x="30922" y="81467"/>
                  </a:lnTo>
                  <a:cubicBezTo>
                    <a:pt x="13844" y="81467"/>
                    <a:pt x="0" y="67623"/>
                    <a:pt x="0" y="50546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936875" cy="100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83" name="Freeform 83"/>
          <p:cNvSpPr/>
          <p:nvPr/>
        </p:nvSpPr>
        <p:spPr>
          <a:xfrm>
            <a:off x="7352090" y="11655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4" name="Group 84"/>
          <p:cNvGrpSpPr/>
          <p:nvPr/>
        </p:nvGrpSpPr>
        <p:grpSpPr>
          <a:xfrm>
            <a:off x="16551113" y="420581"/>
            <a:ext cx="238839" cy="182345"/>
            <a:chOff x="0" y="0"/>
            <a:chExt cx="62904" cy="4802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229883"/>
            </a:solidFill>
            <a:ln w="95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6551113" y="672309"/>
            <a:ext cx="238839" cy="182345"/>
            <a:chOff x="0" y="0"/>
            <a:chExt cx="62904" cy="4802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7ED957"/>
            </a:solidFill>
            <a:ln w="9525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6551113" y="171561"/>
            <a:ext cx="238839" cy="182345"/>
            <a:chOff x="0" y="0"/>
            <a:chExt cx="62904" cy="48025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FEBF00"/>
            </a:solidFill>
            <a:ln w="9525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9904" y="7546577"/>
            <a:ext cx="7100587" cy="321789"/>
            <a:chOff x="0" y="0"/>
            <a:chExt cx="1897855" cy="98955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897855" cy="98955"/>
            </a:xfrm>
            <a:custGeom>
              <a:avLst/>
              <a:gdLst/>
              <a:ahLst/>
              <a:cxnLst/>
              <a:rect l="l" t="t" r="r" b="b"/>
              <a:pathLst>
                <a:path w="1897855" h="98955">
                  <a:moveTo>
                    <a:pt x="15264" y="0"/>
                  </a:moveTo>
                  <a:lnTo>
                    <a:pt x="1882591" y="0"/>
                  </a:lnTo>
                  <a:cubicBezTo>
                    <a:pt x="1891021" y="0"/>
                    <a:pt x="1897855" y="6834"/>
                    <a:pt x="1897855" y="15264"/>
                  </a:cubicBezTo>
                  <a:lnTo>
                    <a:pt x="1897855" y="83691"/>
                  </a:lnTo>
                  <a:cubicBezTo>
                    <a:pt x="1897855" y="92121"/>
                    <a:pt x="1891021" y="98955"/>
                    <a:pt x="1882591" y="98955"/>
                  </a:cubicBezTo>
                  <a:lnTo>
                    <a:pt x="15264" y="98955"/>
                  </a:lnTo>
                  <a:cubicBezTo>
                    <a:pt x="6834" y="98955"/>
                    <a:pt x="0" y="92121"/>
                    <a:pt x="0" y="83691"/>
                  </a:cubicBezTo>
                  <a:lnTo>
                    <a:pt x="0" y="15264"/>
                  </a:lnTo>
                  <a:cubicBezTo>
                    <a:pt x="0" y="6834"/>
                    <a:pt x="6834" y="0"/>
                    <a:pt x="15264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19050"/>
              <a:ext cx="1897855" cy="118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96" name="Freeform 96"/>
          <p:cNvSpPr/>
          <p:nvPr/>
        </p:nvSpPr>
        <p:spPr>
          <a:xfrm>
            <a:off x="176034" y="7575152"/>
            <a:ext cx="285750" cy="293214"/>
          </a:xfrm>
          <a:custGeom>
            <a:avLst/>
            <a:gdLst/>
            <a:ahLst/>
            <a:cxnLst/>
            <a:rect l="l" t="t" r="r" b="b"/>
            <a:pathLst>
              <a:path w="285750" h="293214">
                <a:moveTo>
                  <a:pt x="0" y="0"/>
                </a:moveTo>
                <a:lnTo>
                  <a:pt x="285750" y="0"/>
                </a:lnTo>
                <a:lnTo>
                  <a:pt x="285750" y="293213"/>
                </a:lnTo>
                <a:lnTo>
                  <a:pt x="0" y="2932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97" name="Group 97"/>
          <p:cNvGrpSpPr/>
          <p:nvPr/>
        </p:nvGrpSpPr>
        <p:grpSpPr>
          <a:xfrm>
            <a:off x="7275890" y="7565627"/>
            <a:ext cx="3505200" cy="351178"/>
            <a:chOff x="0" y="0"/>
            <a:chExt cx="936875" cy="93863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936875" cy="93863"/>
            </a:xfrm>
            <a:custGeom>
              <a:avLst/>
              <a:gdLst/>
              <a:ahLst/>
              <a:cxnLst/>
              <a:rect l="l" t="t" r="r" b="b"/>
              <a:pathLst>
                <a:path w="936875" h="93863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62942"/>
                  </a:lnTo>
                  <a:cubicBezTo>
                    <a:pt x="936875" y="80019"/>
                    <a:pt x="923031" y="93863"/>
                    <a:pt x="905953" y="93863"/>
                  </a:cubicBezTo>
                  <a:lnTo>
                    <a:pt x="30922" y="93863"/>
                  </a:lnTo>
                  <a:cubicBezTo>
                    <a:pt x="22721" y="93863"/>
                    <a:pt x="14856" y="90605"/>
                    <a:pt x="9057" y="84807"/>
                  </a:cubicBezTo>
                  <a:cubicBezTo>
                    <a:pt x="3258" y="79008"/>
                    <a:pt x="0" y="71143"/>
                    <a:pt x="0" y="62942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760690"/>
            </a:solidFill>
            <a:ln w="38100" cap="sq">
              <a:solidFill>
                <a:srgbClr val="76069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936875" cy="112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00" name="Freeform 100"/>
          <p:cNvSpPr/>
          <p:nvPr/>
        </p:nvSpPr>
        <p:spPr>
          <a:xfrm>
            <a:off x="7362736" y="7569956"/>
            <a:ext cx="333375" cy="290945"/>
          </a:xfrm>
          <a:custGeom>
            <a:avLst/>
            <a:gdLst/>
            <a:ahLst/>
            <a:cxnLst/>
            <a:rect l="l" t="t" r="r" b="b"/>
            <a:pathLst>
              <a:path w="333375" h="290945">
                <a:moveTo>
                  <a:pt x="0" y="0"/>
                </a:moveTo>
                <a:lnTo>
                  <a:pt x="333375" y="0"/>
                </a:lnTo>
                <a:lnTo>
                  <a:pt x="333375" y="290946"/>
                </a:lnTo>
                <a:lnTo>
                  <a:pt x="0" y="2909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01" name="Group 101"/>
          <p:cNvGrpSpPr/>
          <p:nvPr/>
        </p:nvGrpSpPr>
        <p:grpSpPr>
          <a:xfrm>
            <a:off x="10926194" y="4532083"/>
            <a:ext cx="3592649" cy="333653"/>
            <a:chOff x="0" y="0"/>
            <a:chExt cx="960249" cy="96631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960249" cy="96631"/>
            </a:xfrm>
            <a:custGeom>
              <a:avLst/>
              <a:gdLst/>
              <a:ahLst/>
              <a:cxnLst/>
              <a:rect l="l" t="t" r="r" b="b"/>
              <a:pathLst>
                <a:path w="960249" h="96631">
                  <a:moveTo>
                    <a:pt x="30169" y="0"/>
                  </a:moveTo>
                  <a:lnTo>
                    <a:pt x="930080" y="0"/>
                  </a:lnTo>
                  <a:cubicBezTo>
                    <a:pt x="938081" y="0"/>
                    <a:pt x="945755" y="3179"/>
                    <a:pt x="951412" y="8836"/>
                  </a:cubicBezTo>
                  <a:cubicBezTo>
                    <a:pt x="957070" y="14494"/>
                    <a:pt x="960249" y="22168"/>
                    <a:pt x="960249" y="30169"/>
                  </a:cubicBezTo>
                  <a:lnTo>
                    <a:pt x="960249" y="66461"/>
                  </a:lnTo>
                  <a:cubicBezTo>
                    <a:pt x="960249" y="74463"/>
                    <a:pt x="957070" y="82136"/>
                    <a:pt x="951412" y="87794"/>
                  </a:cubicBezTo>
                  <a:cubicBezTo>
                    <a:pt x="945755" y="93452"/>
                    <a:pt x="938081" y="96631"/>
                    <a:pt x="930080" y="96631"/>
                  </a:cubicBezTo>
                  <a:lnTo>
                    <a:pt x="30169" y="96631"/>
                  </a:lnTo>
                  <a:cubicBezTo>
                    <a:pt x="22168" y="96631"/>
                    <a:pt x="14494" y="93452"/>
                    <a:pt x="8836" y="87794"/>
                  </a:cubicBezTo>
                  <a:cubicBezTo>
                    <a:pt x="3179" y="82136"/>
                    <a:pt x="0" y="74463"/>
                    <a:pt x="0" y="66461"/>
                  </a:cubicBezTo>
                  <a:lnTo>
                    <a:pt x="0" y="30169"/>
                  </a:lnTo>
                  <a:cubicBezTo>
                    <a:pt x="0" y="22168"/>
                    <a:pt x="3179" y="14494"/>
                    <a:pt x="8836" y="8836"/>
                  </a:cubicBezTo>
                  <a:cubicBezTo>
                    <a:pt x="14494" y="3179"/>
                    <a:pt x="22168" y="0"/>
                    <a:pt x="30169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19050"/>
              <a:ext cx="960249" cy="115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04" name="Freeform 104"/>
          <p:cNvSpPr/>
          <p:nvPr/>
        </p:nvSpPr>
        <p:spPr>
          <a:xfrm>
            <a:off x="10992541" y="4589737"/>
            <a:ext cx="333375" cy="224998"/>
          </a:xfrm>
          <a:custGeom>
            <a:avLst/>
            <a:gdLst/>
            <a:ahLst/>
            <a:cxnLst/>
            <a:rect l="l" t="t" r="r" b="b"/>
            <a:pathLst>
              <a:path w="333375" h="224998">
                <a:moveTo>
                  <a:pt x="0" y="0"/>
                </a:moveTo>
                <a:lnTo>
                  <a:pt x="333375" y="0"/>
                </a:lnTo>
                <a:lnTo>
                  <a:pt x="333375" y="224997"/>
                </a:lnTo>
                <a:lnTo>
                  <a:pt x="0" y="22499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8" name="TextBox 128"/>
          <p:cNvSpPr txBox="1"/>
          <p:nvPr/>
        </p:nvSpPr>
        <p:spPr>
          <a:xfrm>
            <a:off x="193768" y="9539040"/>
            <a:ext cx="4642330" cy="54363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173" name="TextBox 173"/>
          <p:cNvSpPr txBox="1"/>
          <p:nvPr/>
        </p:nvSpPr>
        <p:spPr>
          <a:xfrm>
            <a:off x="1342519" y="1184638"/>
            <a:ext cx="2185541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Partenaires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4" name="TextBox 174"/>
          <p:cNvSpPr txBox="1"/>
          <p:nvPr/>
        </p:nvSpPr>
        <p:spPr>
          <a:xfrm>
            <a:off x="1126809" y="390525"/>
            <a:ext cx="2193386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Lomé, Togo</a:t>
            </a:r>
            <a:endParaRPr lang="en-US" sz="15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1800"/>
              </a:lnSpc>
            </a:pPr>
            <a:r>
              <a:rPr lang="en-US" sz="1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Certifié ISO 9001</a:t>
            </a: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2015</a:t>
            </a:r>
            <a:endParaRPr lang="en-US" sz="15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Lancement : </a:t>
            </a:r>
            <a:r>
              <a:rPr lang="en-US" sz="1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Mars 2026</a:t>
            </a:r>
            <a:endParaRPr lang="en-US" sz="1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5" name="TextBox 175"/>
          <p:cNvSpPr txBox="1"/>
          <p:nvPr/>
        </p:nvSpPr>
        <p:spPr>
          <a:xfrm>
            <a:off x="12310303" y="1175113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Relations clientèle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6" name="TextBox 176"/>
          <p:cNvSpPr txBox="1"/>
          <p:nvPr/>
        </p:nvSpPr>
        <p:spPr>
          <a:xfrm>
            <a:off x="4915817" y="4592378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Ressources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7" name="TextBox 177"/>
          <p:cNvSpPr txBox="1"/>
          <p:nvPr/>
        </p:nvSpPr>
        <p:spPr>
          <a:xfrm>
            <a:off x="4944392" y="1180918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Activités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8" name="TextBox 178"/>
          <p:cNvSpPr txBox="1"/>
          <p:nvPr/>
        </p:nvSpPr>
        <p:spPr>
          <a:xfrm>
            <a:off x="15790110" y="1175113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Segments de clientèle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9" name="TextBox 179"/>
          <p:cNvSpPr txBox="1"/>
          <p:nvPr/>
        </p:nvSpPr>
        <p:spPr>
          <a:xfrm>
            <a:off x="12384261" y="4563580"/>
            <a:ext cx="1750437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Canaux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0" name="TextBox 180"/>
          <p:cNvSpPr txBox="1"/>
          <p:nvPr/>
        </p:nvSpPr>
        <p:spPr>
          <a:xfrm>
            <a:off x="4989786" y="7570389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Structure de </a:t>
            </a:r>
            <a:r>
              <a:rPr lang="en-US" sz="1900" b="1" dirty="0" err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coûts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1" name="TextBox 181"/>
          <p:cNvSpPr txBox="1"/>
          <p:nvPr/>
        </p:nvSpPr>
        <p:spPr>
          <a:xfrm>
            <a:off x="15935363" y="7546577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Sources de Revenus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2" name="TextBox 182"/>
          <p:cNvSpPr txBox="1"/>
          <p:nvPr/>
        </p:nvSpPr>
        <p:spPr>
          <a:xfrm>
            <a:off x="8050310" y="7556102"/>
            <a:ext cx="269755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Mission, vision et valeurs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3" name="TextBox 183"/>
          <p:cNvSpPr txBox="1"/>
          <p:nvPr/>
        </p:nvSpPr>
        <p:spPr>
          <a:xfrm>
            <a:off x="1167264" y="94180"/>
            <a:ext cx="2399957" cy="26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Projet n° : 002-26-KYA</a:t>
            </a:r>
            <a:endParaRPr lang="en-US" sz="18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4" name="TextBox 184"/>
          <p:cNvSpPr txBox="1"/>
          <p:nvPr/>
        </p:nvSpPr>
        <p:spPr>
          <a:xfrm>
            <a:off x="3611002" y="160085"/>
            <a:ext cx="12630823" cy="483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fr-FR" sz="3300" b="1" dirty="0">
                <a:solidFill>
                  <a:srgbClr val="FF75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Réhabilitation et Maintenance des Lampadaires Solaires au Togo</a:t>
            </a:r>
            <a:endParaRPr lang="fr-FR" sz="3300" b="1" dirty="0">
              <a:solidFill>
                <a:srgbClr val="FF75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6" name="TextBox 186"/>
          <p:cNvSpPr txBox="1"/>
          <p:nvPr/>
        </p:nvSpPr>
        <p:spPr>
          <a:xfrm>
            <a:off x="16886802" y="92653"/>
            <a:ext cx="1186934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Désirabilité 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Faisabilité  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Viabilité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7" name="TextBox 187"/>
          <p:cNvSpPr txBox="1"/>
          <p:nvPr/>
        </p:nvSpPr>
        <p:spPr>
          <a:xfrm>
            <a:off x="8002033" y="1121353"/>
            <a:ext cx="269755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Proposition de Valeur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8" name="TextBox 188"/>
          <p:cNvSpPr txBox="1"/>
          <p:nvPr/>
        </p:nvSpPr>
        <p:spPr>
          <a:xfrm>
            <a:off x="7334089" y="1516864"/>
            <a:ext cx="3365501" cy="829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</a:pPr>
            <a:r>
              <a:rPr lang="en-US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“</a:t>
            </a:r>
            <a:r>
              <a:rPr lang="fr-FR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Éclairage public fiable et durable sans dépendance au réseau électrique</a:t>
            </a:r>
            <a:r>
              <a:rPr lang="en-US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“</a:t>
            </a:r>
            <a:endParaRPr lang="en-US" sz="1800" b="1" dirty="0">
              <a:solidFill>
                <a:srgbClr val="FFC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9" name="TextBox 189"/>
          <p:cNvSpPr txBox="1"/>
          <p:nvPr/>
        </p:nvSpPr>
        <p:spPr>
          <a:xfrm>
            <a:off x="7326085" y="2281349"/>
            <a:ext cx="3370463" cy="5129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Seule entreprise togolaise certifiée ISO 9001:2015 en systèmes solaires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clé en main :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Réhabilitation de 17 000 lampadaires en 2 ans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durable sur 8 ans (23 000 unités)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Kits assemblés localement → coûts maîtrisés + délais réduits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KYA-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RemoteControl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 de télésurveillance propriétaire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Transfert de compétences aux équipes techniques locales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 de 350 techniciens (70% femmes)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Sécurité publique améliorée  zones éclairées 24h/24, 7j/7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TextBox 190"/>
          <p:cNvSpPr txBox="1"/>
          <p:nvPr/>
        </p:nvSpPr>
        <p:spPr>
          <a:xfrm>
            <a:off x="3875117" y="1616717"/>
            <a:ext cx="3237062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Réhabilitation et remplacement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lampadaires défectueux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systèmes solaires autonomes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Recyclage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batteries plomb (via ASRI)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préventive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/>
              <a:t>Maintenance corrective                                                      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Supervision à distance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techniciens locaux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TextBox 191"/>
          <p:cNvSpPr txBox="1"/>
          <p:nvPr/>
        </p:nvSpPr>
        <p:spPr>
          <a:xfrm>
            <a:off x="3761623" y="4955381"/>
            <a:ext cx="3375402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/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Prof. Yao AZOUMAH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expertise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reconnue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réseau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panafricain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de composants solaires 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Équipe d'ingénieurs, techniciens certifiés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Plateforme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monitoring IoT propriétaire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Flotte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véhicules d'intervention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Agréments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certifications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sectorielles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de données 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géolocalisée des installations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TextBox 193"/>
          <p:cNvSpPr txBox="1"/>
          <p:nvPr/>
        </p:nvSpPr>
        <p:spPr>
          <a:xfrm>
            <a:off x="14706600" y="1866900"/>
            <a:ext cx="349915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040"/>
              </a:lnSpc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État Togolais  - MDMRE </a:t>
            </a:r>
            <a:r>
              <a:rPr lang="fr-FR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(payeur direct)</a:t>
            </a:r>
            <a:endParaRPr lang="en-US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207" name="TextBox 207"/>
          <p:cNvSpPr txBox="1"/>
          <p:nvPr/>
        </p:nvSpPr>
        <p:spPr>
          <a:xfrm>
            <a:off x="207381" y="9321508"/>
            <a:ext cx="680252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17" name="TextBox 217"/>
          <p:cNvSpPr txBox="1"/>
          <p:nvPr/>
        </p:nvSpPr>
        <p:spPr>
          <a:xfrm>
            <a:off x="7416049" y="9003534"/>
            <a:ext cx="345769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dirty="0">
                <a:solidFill>
                  <a:srgbClr val="FF75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Démocratiser l’accès à l’énergie durable.</a:t>
            </a:r>
            <a:endParaRPr lang="en-US" sz="1600" dirty="0">
              <a:solidFill>
                <a:srgbClr val="FF75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TextBox 218"/>
          <p:cNvSpPr txBox="1"/>
          <p:nvPr/>
        </p:nvSpPr>
        <p:spPr>
          <a:xfrm>
            <a:off x="7458669" y="7912921"/>
            <a:ext cx="3285531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600" dirty="0">
                <a:solidFill>
                  <a:srgbClr val="76069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Transformer, de façon innovante, des ressources énergétiques renouvelables pour produire de l’énergie propre, fiable et abordable à tous.</a:t>
            </a:r>
            <a:endParaRPr lang="en-US" sz="1600" dirty="0">
              <a:solidFill>
                <a:srgbClr val="76069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TextBox 219"/>
          <p:cNvSpPr txBox="1"/>
          <p:nvPr/>
        </p:nvSpPr>
        <p:spPr>
          <a:xfrm>
            <a:off x="7431036" y="9362621"/>
            <a:ext cx="328564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600" dirty="0">
                <a:solidFill>
                  <a:srgbClr val="22988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Professionnalisme, Rigueur, Esprit d’équipe, Ecoute du client, Intégrité, Transparence, Equité et Innovation.</a:t>
            </a:r>
            <a:endParaRPr lang="en-US" sz="1600" dirty="0">
              <a:solidFill>
                <a:srgbClr val="22988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3" name="TextBox 193"/>
          <p:cNvSpPr txBox="1"/>
          <p:nvPr/>
        </p:nvSpPr>
        <p:spPr>
          <a:xfrm>
            <a:off x="11112617" y="1434915"/>
            <a:ext cx="3317443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Partenariat institutionnel PPP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coordonnateurs régionaux dédiés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de 40 superviseurs préfectoraux dédiés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Tableaux de bord KYA-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RemoteControl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Réunions de suivi régionales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 coordonnateurs) et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Audit terrain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Rapports de performance mensuels MDMRE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Freeform 67"/>
          <p:cNvSpPr/>
          <p:nvPr/>
        </p:nvSpPr>
        <p:spPr>
          <a:xfrm>
            <a:off x="433398" y="7962900"/>
            <a:ext cx="6396130" cy="595060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FFFF00"/>
          </a:solidFill>
          <a:ln w="3810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75" name="TextBox 68"/>
          <p:cNvSpPr txBox="1"/>
          <p:nvPr/>
        </p:nvSpPr>
        <p:spPr>
          <a:xfrm>
            <a:off x="201388" y="9566587"/>
            <a:ext cx="2259402" cy="4435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  <a:endParaRPr dirty="0"/>
          </a:p>
        </p:txBody>
      </p:sp>
      <p:sp>
        <p:nvSpPr>
          <p:cNvPr id="284" name="Freeform 67"/>
          <p:cNvSpPr/>
          <p:nvPr/>
        </p:nvSpPr>
        <p:spPr>
          <a:xfrm>
            <a:off x="455615" y="8651623"/>
            <a:ext cx="6306056" cy="589214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92D050"/>
          </a:solidFill>
          <a:ln w="3810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85" name="Freeform 67"/>
          <p:cNvSpPr/>
          <p:nvPr/>
        </p:nvSpPr>
        <p:spPr>
          <a:xfrm>
            <a:off x="433398" y="9334500"/>
            <a:ext cx="6396129" cy="729897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C00000"/>
          </a:solidFill>
          <a:ln w="3810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6" name="Freeform 25"/>
          <p:cNvSpPr/>
          <p:nvPr/>
        </p:nvSpPr>
        <p:spPr>
          <a:xfrm>
            <a:off x="10952539" y="8039100"/>
            <a:ext cx="4139415" cy="558865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193"/>
          <p:cNvSpPr txBox="1"/>
          <p:nvPr/>
        </p:nvSpPr>
        <p:spPr>
          <a:xfrm>
            <a:off x="14713239" y="2890937"/>
            <a:ext cx="3499154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Collectivités territoriales et communes</a:t>
            </a:r>
            <a:endParaRPr lang="fr-FR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Populations rurales et périurbaines</a:t>
            </a:r>
            <a:endParaRPr lang="fr-FR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Usagers des routes et espaces publics</a:t>
            </a:r>
            <a:endParaRPr lang="fr-FR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PME et commerçants locaux</a:t>
            </a:r>
            <a:endParaRPr lang="en-US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24" name="TextBox 193"/>
          <p:cNvSpPr txBox="1"/>
          <p:nvPr/>
        </p:nvSpPr>
        <p:spPr>
          <a:xfrm>
            <a:off x="14664209" y="5143500"/>
            <a:ext cx="3499154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Communes couvertes par PRODERE et PUDC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Zones des 6 000 lampadaires déjà réhabilités</a:t>
            </a:r>
            <a:endParaRPr lang="en-US" b="1" dirty="0">
              <a:solidFill>
                <a:schemeClr val="accent6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30" name="TextBox 193"/>
          <p:cNvSpPr txBox="1"/>
          <p:nvPr/>
        </p:nvSpPr>
        <p:spPr>
          <a:xfrm>
            <a:off x="15186251" y="1581698"/>
            <a:ext cx="2111149" cy="306467"/>
          </a:xfrm>
          <a:prstGeom prst="roundRect">
            <a:avLst/>
          </a:prstGeom>
          <a:solidFill>
            <a:schemeClr val="accent6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principal</a:t>
            </a: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193"/>
          <p:cNvSpPr txBox="1"/>
          <p:nvPr/>
        </p:nvSpPr>
        <p:spPr>
          <a:xfrm>
            <a:off x="15186251" y="2552700"/>
            <a:ext cx="2111149" cy="306467"/>
          </a:xfrm>
          <a:prstGeom prst="roundRect">
            <a:avLst/>
          </a:prstGeom>
          <a:solidFill>
            <a:schemeClr val="accent6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Bénéficiaires finaux</a:t>
            </a: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193"/>
          <p:cNvSpPr txBox="1"/>
          <p:nvPr/>
        </p:nvSpPr>
        <p:spPr>
          <a:xfrm>
            <a:off x="15186251" y="4837033"/>
            <a:ext cx="2111149" cy="306467"/>
          </a:xfrm>
          <a:prstGeom prst="roundRect">
            <a:avLst/>
          </a:prstGeom>
          <a:solidFill>
            <a:schemeClr val="accent6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Premiers </a:t>
            </a:r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adopteurs</a:t>
            </a: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193"/>
          <p:cNvSpPr txBox="1"/>
          <p:nvPr/>
        </p:nvSpPr>
        <p:spPr>
          <a:xfrm>
            <a:off x="14946129" y="6362700"/>
            <a:ext cx="2808471" cy="306467"/>
          </a:xfrm>
          <a:prstGeom prst="roundRect">
            <a:avLst/>
          </a:prstGeom>
          <a:solidFill>
            <a:schemeClr val="accent6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Couverture géographique</a:t>
            </a: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193"/>
          <p:cNvSpPr txBox="1"/>
          <p:nvPr/>
        </p:nvSpPr>
        <p:spPr>
          <a:xfrm>
            <a:off x="14661884" y="6762435"/>
            <a:ext cx="3559526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117 communes (tout le territoire togolais)</a:t>
            </a:r>
            <a:endParaRPr lang="en-US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65" name="TextBox 193"/>
          <p:cNvSpPr txBox="1"/>
          <p:nvPr/>
        </p:nvSpPr>
        <p:spPr>
          <a:xfrm>
            <a:off x="11272749" y="4919949"/>
            <a:ext cx="2808471" cy="306467"/>
          </a:xfrm>
          <a:prstGeom prst="roundRect">
            <a:avLst/>
          </a:prstGeom>
          <a:solidFill>
            <a:schemeClr val="accent6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Canaux contractuels</a:t>
            </a: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193"/>
          <p:cNvSpPr txBox="1"/>
          <p:nvPr/>
        </p:nvSpPr>
        <p:spPr>
          <a:xfrm>
            <a:off x="11367102" y="6057900"/>
            <a:ext cx="2808471" cy="306467"/>
          </a:xfrm>
          <a:prstGeom prst="roundRect">
            <a:avLst/>
          </a:prstGeom>
          <a:solidFill>
            <a:schemeClr val="accent6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Canaux opérationnels</a:t>
            </a: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193"/>
          <p:cNvSpPr txBox="1"/>
          <p:nvPr/>
        </p:nvSpPr>
        <p:spPr>
          <a:xfrm>
            <a:off x="10952539" y="5212259"/>
            <a:ext cx="3573837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 err="1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MoU</a:t>
            </a:r>
            <a:r>
              <a:rPr lang="fr-FR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 / accord cadre MDMRE</a:t>
            </a:r>
            <a:endParaRPr lang="fr-FR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Appels d'offres publics (6 marchés gagnés)</a:t>
            </a:r>
            <a:endParaRPr lang="en-US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68" name="TextBox 193"/>
          <p:cNvSpPr txBox="1"/>
          <p:nvPr/>
        </p:nvSpPr>
        <p:spPr>
          <a:xfrm>
            <a:off x="10929108" y="6362700"/>
            <a:ext cx="3574581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Réseau préfectoral (40 superviseurs)</a:t>
            </a:r>
            <a:endParaRPr lang="fr-FR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Réseau communal (117 communes, tout le territoire)</a:t>
            </a:r>
            <a:endParaRPr lang="fr-FR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70" name="TextBox 203"/>
          <p:cNvSpPr txBox="1"/>
          <p:nvPr/>
        </p:nvSpPr>
        <p:spPr>
          <a:xfrm>
            <a:off x="1754366" y="8732354"/>
            <a:ext cx="34491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20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Apport en fonds propres </a:t>
            </a:r>
            <a:endParaRPr lang="en-US" sz="20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20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300 000 000 F CFA</a:t>
            </a:r>
            <a:endParaRPr lang="en-US" sz="20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71" name="TextBox 203"/>
          <p:cNvSpPr txBox="1"/>
          <p:nvPr/>
        </p:nvSpPr>
        <p:spPr>
          <a:xfrm>
            <a:off x="1997843" y="9486900"/>
            <a:ext cx="2962147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2000" b="1" dirty="0" err="1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Financement</a:t>
            </a:r>
            <a:r>
              <a:rPr lang="en-US" sz="20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sollicité</a:t>
            </a:r>
            <a:r>
              <a:rPr lang="en-US" sz="20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endParaRPr lang="en-US" sz="200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20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1 500 000 000  F CFA</a:t>
            </a:r>
            <a:endParaRPr lang="en-US" sz="200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73" name="TextBox 203"/>
          <p:cNvSpPr txBox="1"/>
          <p:nvPr/>
        </p:nvSpPr>
        <p:spPr>
          <a:xfrm>
            <a:off x="318909" y="8039100"/>
            <a:ext cx="6320015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20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Total charges du projet sur 8 ans  </a:t>
            </a:r>
            <a:endParaRPr lang="en-US" sz="20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20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6 409 567 805 F CFA</a:t>
            </a:r>
            <a:endParaRPr lang="en-US" sz="20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74" name="TextBox 203"/>
          <p:cNvSpPr txBox="1"/>
          <p:nvPr/>
        </p:nvSpPr>
        <p:spPr>
          <a:xfrm>
            <a:off x="10948186" y="8085187"/>
            <a:ext cx="4139414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Segment État (MDMRE)</a:t>
            </a:r>
            <a:endParaRPr lang="fr-FR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Contrat PPP - paiements progressifs sur 8 ans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05" name="Freeform 25"/>
          <p:cNvSpPr/>
          <p:nvPr/>
        </p:nvSpPr>
        <p:spPr>
          <a:xfrm>
            <a:off x="15186251" y="8017161"/>
            <a:ext cx="2871774" cy="558865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06" name="TextBox 203"/>
          <p:cNvSpPr txBox="1"/>
          <p:nvPr/>
        </p:nvSpPr>
        <p:spPr>
          <a:xfrm>
            <a:off x="15477127" y="8052936"/>
            <a:ext cx="2290022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Vente de matériel solaire</a:t>
            </a:r>
            <a:endParaRPr lang="fr-FR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Assemblés localement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07" name="Freeform 25"/>
          <p:cNvSpPr/>
          <p:nvPr/>
        </p:nvSpPr>
        <p:spPr>
          <a:xfrm>
            <a:off x="10996127" y="8728075"/>
            <a:ext cx="3481873" cy="810965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10" name="TextBox 203"/>
          <p:cNvSpPr txBox="1"/>
          <p:nvPr/>
        </p:nvSpPr>
        <p:spPr>
          <a:xfrm>
            <a:off x="11345824" y="8746402"/>
            <a:ext cx="2948122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Revenus réhabilitation (one-time) </a:t>
            </a:r>
            <a:r>
              <a:rPr lang="fr-FR" sz="1600" dirty="0">
                <a:solidFill>
                  <a:schemeClr val="accent6">
                    <a:lumMod val="50000"/>
                  </a:schemeClr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17 000 lampadaires</a:t>
            </a:r>
            <a:endParaRPr lang="fr-FR" sz="1600" dirty="0">
              <a:solidFill>
                <a:schemeClr val="accent6">
                  <a:lumMod val="50000"/>
                </a:schemeClr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271 067 F CFA par lampadaires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1" name="Freeform 25"/>
          <p:cNvSpPr/>
          <p:nvPr/>
        </p:nvSpPr>
        <p:spPr>
          <a:xfrm>
            <a:off x="14576152" y="8728075"/>
            <a:ext cx="3481873" cy="810965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12" name="TextBox 203"/>
          <p:cNvSpPr txBox="1"/>
          <p:nvPr/>
        </p:nvSpPr>
        <p:spPr>
          <a:xfrm>
            <a:off x="14530274" y="8734938"/>
            <a:ext cx="3605326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Revenus maintenance </a:t>
            </a:r>
            <a:r>
              <a:rPr lang="fr-FR" sz="14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(récurrents / 8 ans</a:t>
            </a:r>
            <a:r>
              <a:rPr lang="fr-FR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) </a:t>
            </a:r>
            <a:endParaRPr lang="fr-FR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fr-FR" sz="1600" b="1" dirty="0">
                <a:solidFill>
                  <a:schemeClr val="accent6">
                    <a:lumMod val="50000"/>
                  </a:schemeClr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23</a:t>
            </a:r>
            <a:r>
              <a:rPr lang="fr-FR" sz="1600" dirty="0">
                <a:solidFill>
                  <a:schemeClr val="accent6">
                    <a:lumMod val="50000"/>
                  </a:schemeClr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000 lampadaires</a:t>
            </a:r>
            <a:endParaRPr lang="fr-FR" sz="1600" dirty="0">
              <a:solidFill>
                <a:schemeClr val="accent6">
                  <a:lumMod val="50000"/>
                </a:schemeClr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108 605 F CFA par lampadaires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3" name="Freeform 25"/>
          <p:cNvSpPr/>
          <p:nvPr/>
        </p:nvSpPr>
        <p:spPr>
          <a:xfrm>
            <a:off x="10989650" y="9639300"/>
            <a:ext cx="3440409" cy="427350"/>
          </a:xfrm>
          <a:custGeom>
            <a:avLst/>
            <a:gdLst/>
            <a:ahLst/>
            <a:cxnLst/>
            <a:rect l="l" t="t" r="r" b="b"/>
            <a:pathLst>
              <a:path w="595069" h="229772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88654"/>
                </a:lnTo>
                <a:cubicBezTo>
                  <a:pt x="595069" y="199559"/>
                  <a:pt x="590737" y="210018"/>
                  <a:pt x="583025" y="217729"/>
                </a:cubicBezTo>
                <a:cubicBezTo>
                  <a:pt x="575314" y="225440"/>
                  <a:pt x="564856" y="229772"/>
                  <a:pt x="553950" y="229772"/>
                </a:cubicBezTo>
                <a:lnTo>
                  <a:pt x="41118" y="229772"/>
                </a:lnTo>
                <a:cubicBezTo>
                  <a:pt x="30213" y="229772"/>
                  <a:pt x="19755" y="225440"/>
                  <a:pt x="12043" y="217729"/>
                </a:cubicBezTo>
                <a:cubicBezTo>
                  <a:pt x="4332" y="210018"/>
                  <a:pt x="0" y="199559"/>
                  <a:pt x="0" y="188654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 cap="sq">
            <a:solidFill>
              <a:schemeClr val="accent6">
                <a:lumMod val="20000"/>
                <a:lumOff val="80000"/>
              </a:schemeClr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15" name="Freeform 25"/>
          <p:cNvSpPr/>
          <p:nvPr/>
        </p:nvSpPr>
        <p:spPr>
          <a:xfrm>
            <a:off x="14546554" y="9642914"/>
            <a:ext cx="3440409" cy="427350"/>
          </a:xfrm>
          <a:custGeom>
            <a:avLst/>
            <a:gdLst/>
            <a:ahLst/>
            <a:cxnLst/>
            <a:rect l="l" t="t" r="r" b="b"/>
            <a:pathLst>
              <a:path w="595069" h="229772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88654"/>
                </a:lnTo>
                <a:cubicBezTo>
                  <a:pt x="595069" y="199559"/>
                  <a:pt x="590737" y="210018"/>
                  <a:pt x="583025" y="217729"/>
                </a:cubicBezTo>
                <a:cubicBezTo>
                  <a:pt x="575314" y="225440"/>
                  <a:pt x="564856" y="229772"/>
                  <a:pt x="553950" y="229772"/>
                </a:cubicBezTo>
                <a:lnTo>
                  <a:pt x="41118" y="229772"/>
                </a:lnTo>
                <a:cubicBezTo>
                  <a:pt x="30213" y="229772"/>
                  <a:pt x="19755" y="225440"/>
                  <a:pt x="12043" y="217729"/>
                </a:cubicBezTo>
                <a:cubicBezTo>
                  <a:pt x="4332" y="210018"/>
                  <a:pt x="0" y="199559"/>
                  <a:pt x="0" y="188654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 cap="sq">
            <a:solidFill>
              <a:schemeClr val="accent6">
                <a:lumMod val="20000"/>
                <a:lumOff val="80000"/>
              </a:schemeClr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16" name="TextBox 203"/>
          <p:cNvSpPr txBox="1"/>
          <p:nvPr/>
        </p:nvSpPr>
        <p:spPr>
          <a:xfrm>
            <a:off x="14967586" y="9608733"/>
            <a:ext cx="2948122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Résultat net cumulés sur 8 ans</a:t>
            </a:r>
            <a:endParaRPr lang="fr-FR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600" b="1" dirty="0">
                <a:solidFill>
                  <a:schemeClr val="accent6">
                    <a:lumMod val="50000"/>
                  </a:schemeClr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696 480 779  F CFA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7" name="TextBox 203"/>
          <p:cNvSpPr txBox="1"/>
          <p:nvPr/>
        </p:nvSpPr>
        <p:spPr>
          <a:xfrm>
            <a:off x="11064190" y="9602524"/>
            <a:ext cx="324934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Chiffrés d’affaire  cumulés sur 8 ans</a:t>
            </a:r>
            <a:endParaRPr lang="fr-FR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600" b="1" dirty="0">
                <a:solidFill>
                  <a:schemeClr val="accent6">
                    <a:lumMod val="50000"/>
                  </a:schemeClr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7 106 048 584 F CFA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5" name="TextBox 184"/>
          <p:cNvSpPr txBox="1"/>
          <p:nvPr/>
        </p:nvSpPr>
        <p:spPr>
          <a:xfrm>
            <a:off x="3671977" y="510683"/>
            <a:ext cx="12630823" cy="456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3960"/>
              </a:lnSpc>
            </a:pPr>
            <a:r>
              <a:rPr lang="fr-FR" sz="24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Remettre la lumière là où l'État avait investi durablement, localement et intelligemment.</a:t>
            </a:r>
            <a:endParaRPr lang="en-US" sz="24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31"/>
          <p:cNvSpPr/>
          <p:nvPr/>
        </p:nvSpPr>
        <p:spPr>
          <a:xfrm>
            <a:off x="10998489" y="1165588"/>
            <a:ext cx="3505200" cy="3295078"/>
          </a:xfrm>
          <a:custGeom>
            <a:avLst/>
            <a:gdLst/>
            <a:ahLst/>
            <a:cxnLst/>
            <a:rect l="l" t="t" r="r" b="b"/>
            <a:pathLst>
              <a:path w="936875" h="880713">
                <a:moveTo>
                  <a:pt x="30922" y="0"/>
                </a:moveTo>
                <a:lnTo>
                  <a:pt x="905953" y="0"/>
                </a:lnTo>
                <a:cubicBezTo>
                  <a:pt x="914154" y="0"/>
                  <a:pt x="922019" y="3258"/>
                  <a:pt x="927818" y="9057"/>
                </a:cubicBezTo>
                <a:cubicBezTo>
                  <a:pt x="933617" y="14856"/>
                  <a:pt x="936875" y="22721"/>
                  <a:pt x="936875" y="30922"/>
                </a:cubicBezTo>
                <a:lnTo>
                  <a:pt x="936875" y="849792"/>
                </a:lnTo>
                <a:cubicBezTo>
                  <a:pt x="936875" y="866869"/>
                  <a:pt x="923031" y="880713"/>
                  <a:pt x="905953" y="880713"/>
                </a:cubicBezTo>
                <a:lnTo>
                  <a:pt x="30922" y="880713"/>
                </a:lnTo>
                <a:cubicBezTo>
                  <a:pt x="22721" y="880713"/>
                  <a:pt x="14856" y="877455"/>
                  <a:pt x="9057" y="871656"/>
                </a:cubicBezTo>
                <a:cubicBezTo>
                  <a:pt x="3258" y="865858"/>
                  <a:pt x="0" y="857992"/>
                  <a:pt x="0" y="849792"/>
                </a:cubicBezTo>
                <a:lnTo>
                  <a:pt x="0" y="30922"/>
                </a:lnTo>
                <a:cubicBezTo>
                  <a:pt x="0" y="13844"/>
                  <a:pt x="13844" y="0"/>
                  <a:pt x="3092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EBF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14635363" y="1165588"/>
            <a:ext cx="3528000" cy="6219064"/>
          </a:xfrm>
          <a:custGeom>
            <a:avLst/>
            <a:gdLst/>
            <a:ahLst/>
            <a:cxnLst/>
            <a:rect l="l" t="t" r="r" b="b"/>
            <a:pathLst>
              <a:path w="936875" h="1662241">
                <a:moveTo>
                  <a:pt x="30922" y="0"/>
                </a:moveTo>
                <a:lnTo>
                  <a:pt x="905953" y="0"/>
                </a:lnTo>
                <a:cubicBezTo>
                  <a:pt x="914154" y="0"/>
                  <a:pt x="922019" y="3258"/>
                  <a:pt x="927818" y="9057"/>
                </a:cubicBezTo>
                <a:cubicBezTo>
                  <a:pt x="933617" y="14856"/>
                  <a:pt x="936875" y="22721"/>
                  <a:pt x="936875" y="30922"/>
                </a:cubicBezTo>
                <a:lnTo>
                  <a:pt x="936875" y="1631319"/>
                </a:lnTo>
                <a:cubicBezTo>
                  <a:pt x="936875" y="1648397"/>
                  <a:pt x="923031" y="1662241"/>
                  <a:pt x="905953" y="1662241"/>
                </a:cubicBezTo>
                <a:lnTo>
                  <a:pt x="30922" y="1662241"/>
                </a:lnTo>
                <a:cubicBezTo>
                  <a:pt x="13844" y="1662241"/>
                  <a:pt x="0" y="1648397"/>
                  <a:pt x="0" y="1631319"/>
                </a:cubicBezTo>
                <a:lnTo>
                  <a:pt x="0" y="30922"/>
                </a:lnTo>
                <a:cubicBezTo>
                  <a:pt x="0" y="13844"/>
                  <a:pt x="13844" y="0"/>
                  <a:pt x="3092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EBF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292" name="Groupe 291"/>
          <p:cNvGrpSpPr/>
          <p:nvPr/>
        </p:nvGrpSpPr>
        <p:grpSpPr>
          <a:xfrm>
            <a:off x="7267358" y="7541814"/>
            <a:ext cx="3513732" cy="2622007"/>
            <a:chOff x="7267358" y="7541814"/>
            <a:chExt cx="3513732" cy="2622007"/>
          </a:xfrm>
        </p:grpSpPr>
        <p:grpSp>
          <p:nvGrpSpPr>
            <p:cNvPr id="58" name="Group 58"/>
            <p:cNvGrpSpPr/>
            <p:nvPr/>
          </p:nvGrpSpPr>
          <p:grpSpPr>
            <a:xfrm>
              <a:off x="7275890" y="7541814"/>
              <a:ext cx="3505200" cy="2622007"/>
              <a:chOff x="0" y="0"/>
              <a:chExt cx="936875" cy="70081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936875" cy="700814"/>
              </a:xfrm>
              <a:custGeom>
                <a:avLst/>
                <a:gdLst/>
                <a:ahLst/>
                <a:cxnLst/>
                <a:rect l="l" t="t" r="r" b="b"/>
                <a:pathLst>
                  <a:path w="936875" h="700814">
                    <a:moveTo>
                      <a:pt x="30922" y="0"/>
                    </a:moveTo>
                    <a:lnTo>
                      <a:pt x="905953" y="0"/>
                    </a:lnTo>
                    <a:cubicBezTo>
                      <a:pt x="914154" y="0"/>
                      <a:pt x="922019" y="3258"/>
                      <a:pt x="927818" y="9057"/>
                    </a:cubicBezTo>
                    <a:cubicBezTo>
                      <a:pt x="933617" y="14856"/>
                      <a:pt x="936875" y="22721"/>
                      <a:pt x="936875" y="30922"/>
                    </a:cubicBezTo>
                    <a:lnTo>
                      <a:pt x="936875" y="669892"/>
                    </a:lnTo>
                    <a:cubicBezTo>
                      <a:pt x="936875" y="686970"/>
                      <a:pt x="923031" y="700814"/>
                      <a:pt x="905953" y="700814"/>
                    </a:cubicBezTo>
                    <a:lnTo>
                      <a:pt x="30922" y="700814"/>
                    </a:lnTo>
                    <a:cubicBezTo>
                      <a:pt x="13844" y="700814"/>
                      <a:pt x="0" y="686970"/>
                      <a:pt x="0" y="669892"/>
                    </a:cubicBezTo>
                    <a:lnTo>
                      <a:pt x="0" y="30922"/>
                    </a:lnTo>
                    <a:cubicBezTo>
                      <a:pt x="0" y="13844"/>
                      <a:pt x="13844" y="0"/>
                      <a:pt x="309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76069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19050"/>
                <a:ext cx="936875" cy="7198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id="291" name="Flèche : pentagone 290"/>
            <p:cNvSpPr/>
            <p:nvPr/>
          </p:nvSpPr>
          <p:spPr>
            <a:xfrm>
              <a:off x="7268643" y="9426747"/>
              <a:ext cx="147406" cy="112293"/>
            </a:xfrm>
            <a:prstGeom prst="homePlat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89" name="Flèche : pentagone 288"/>
            <p:cNvSpPr/>
            <p:nvPr/>
          </p:nvSpPr>
          <p:spPr>
            <a:xfrm>
              <a:off x="7267358" y="7993070"/>
              <a:ext cx="172959" cy="112293"/>
            </a:xfrm>
            <a:prstGeom prst="homePlat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0" name="Flèche : pentagone 289"/>
            <p:cNvSpPr/>
            <p:nvPr/>
          </p:nvSpPr>
          <p:spPr>
            <a:xfrm>
              <a:off x="7268644" y="9056147"/>
              <a:ext cx="147406" cy="112293"/>
            </a:xfrm>
            <a:prstGeom prst="homePlat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578" y="7542042"/>
            <a:ext cx="7100587" cy="2621779"/>
            <a:chOff x="0" y="0"/>
            <a:chExt cx="1897855" cy="7007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7855" cy="700753"/>
            </a:xfrm>
            <a:custGeom>
              <a:avLst/>
              <a:gdLst/>
              <a:ahLst/>
              <a:cxnLst/>
              <a:rect l="l" t="t" r="r" b="b"/>
              <a:pathLst>
                <a:path w="1897855" h="700753">
                  <a:moveTo>
                    <a:pt x="15264" y="0"/>
                  </a:moveTo>
                  <a:lnTo>
                    <a:pt x="1882591" y="0"/>
                  </a:lnTo>
                  <a:cubicBezTo>
                    <a:pt x="1891021" y="0"/>
                    <a:pt x="1897855" y="6834"/>
                    <a:pt x="1897855" y="15264"/>
                  </a:cubicBezTo>
                  <a:lnTo>
                    <a:pt x="1897855" y="685489"/>
                  </a:lnTo>
                  <a:cubicBezTo>
                    <a:pt x="1897855" y="693919"/>
                    <a:pt x="1891021" y="700753"/>
                    <a:pt x="1882591" y="700753"/>
                  </a:cubicBezTo>
                  <a:lnTo>
                    <a:pt x="15264" y="700753"/>
                  </a:lnTo>
                  <a:cubicBezTo>
                    <a:pt x="6834" y="700753"/>
                    <a:pt x="0" y="693919"/>
                    <a:pt x="0" y="685489"/>
                  </a:cubicBezTo>
                  <a:lnTo>
                    <a:pt x="0" y="15264"/>
                  </a:lnTo>
                  <a:cubicBezTo>
                    <a:pt x="0" y="6834"/>
                    <a:pt x="6834" y="0"/>
                    <a:pt x="152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897855" cy="71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280" name="Freeform 25"/>
          <p:cNvSpPr/>
          <p:nvPr/>
        </p:nvSpPr>
        <p:spPr>
          <a:xfrm>
            <a:off x="1797190" y="9069582"/>
            <a:ext cx="3268469" cy="496910"/>
          </a:xfrm>
          <a:custGeom>
            <a:avLst/>
            <a:gdLst/>
            <a:ahLst/>
            <a:cxnLst/>
            <a:rect l="l" t="t" r="r" b="b"/>
            <a:pathLst>
              <a:path w="595069" h="229772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88654"/>
                </a:lnTo>
                <a:cubicBezTo>
                  <a:pt x="595069" y="199559"/>
                  <a:pt x="590737" y="210018"/>
                  <a:pt x="583025" y="217729"/>
                </a:cubicBezTo>
                <a:cubicBezTo>
                  <a:pt x="575314" y="225440"/>
                  <a:pt x="564856" y="229772"/>
                  <a:pt x="553950" y="229772"/>
                </a:cubicBezTo>
                <a:lnTo>
                  <a:pt x="41118" y="229772"/>
                </a:lnTo>
                <a:cubicBezTo>
                  <a:pt x="30213" y="229772"/>
                  <a:pt x="19755" y="225440"/>
                  <a:pt x="12043" y="217729"/>
                </a:cubicBezTo>
                <a:cubicBezTo>
                  <a:pt x="4332" y="210018"/>
                  <a:pt x="0" y="199559"/>
                  <a:pt x="0" y="188654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FFFF00"/>
          </a:solidFill>
          <a:ln w="1270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81" name="TextBox 26"/>
          <p:cNvSpPr txBox="1"/>
          <p:nvPr/>
        </p:nvSpPr>
        <p:spPr>
          <a:xfrm>
            <a:off x="4857051" y="7891349"/>
            <a:ext cx="2259402" cy="5950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278" name="TextBox 26"/>
          <p:cNvSpPr txBox="1"/>
          <p:nvPr/>
        </p:nvSpPr>
        <p:spPr>
          <a:xfrm>
            <a:off x="2510169" y="7891349"/>
            <a:ext cx="2259402" cy="5950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28" name="Freeform 28"/>
          <p:cNvSpPr/>
          <p:nvPr/>
        </p:nvSpPr>
        <p:spPr>
          <a:xfrm>
            <a:off x="3687497" y="4562701"/>
            <a:ext cx="3505200" cy="2841001"/>
          </a:xfrm>
          <a:custGeom>
            <a:avLst/>
            <a:gdLst/>
            <a:ahLst/>
            <a:cxnLst/>
            <a:rect l="l" t="t" r="r" b="b"/>
            <a:pathLst>
              <a:path w="936875" h="759347">
                <a:moveTo>
                  <a:pt x="30922" y="0"/>
                </a:moveTo>
                <a:lnTo>
                  <a:pt x="905953" y="0"/>
                </a:lnTo>
                <a:cubicBezTo>
                  <a:pt x="914154" y="0"/>
                  <a:pt x="922019" y="3258"/>
                  <a:pt x="927818" y="9057"/>
                </a:cubicBezTo>
                <a:cubicBezTo>
                  <a:pt x="933617" y="14856"/>
                  <a:pt x="936875" y="22721"/>
                  <a:pt x="936875" y="30922"/>
                </a:cubicBezTo>
                <a:lnTo>
                  <a:pt x="936875" y="728425"/>
                </a:lnTo>
                <a:cubicBezTo>
                  <a:pt x="936875" y="745503"/>
                  <a:pt x="923031" y="759347"/>
                  <a:pt x="905953" y="759347"/>
                </a:cubicBezTo>
                <a:lnTo>
                  <a:pt x="30922" y="759347"/>
                </a:lnTo>
                <a:cubicBezTo>
                  <a:pt x="13844" y="759347"/>
                  <a:pt x="0" y="745503"/>
                  <a:pt x="0" y="728425"/>
                </a:cubicBezTo>
                <a:lnTo>
                  <a:pt x="0" y="30922"/>
                </a:lnTo>
                <a:cubicBezTo>
                  <a:pt x="0" y="13844"/>
                  <a:pt x="13844" y="0"/>
                  <a:pt x="3092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229883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9" name="TextBox 29"/>
          <p:cNvSpPr txBox="1"/>
          <p:nvPr/>
        </p:nvSpPr>
        <p:spPr>
          <a:xfrm>
            <a:off x="3687497" y="4491428"/>
            <a:ext cx="3505200" cy="291227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16" name="Freeform 16"/>
          <p:cNvSpPr/>
          <p:nvPr/>
        </p:nvSpPr>
        <p:spPr>
          <a:xfrm>
            <a:off x="3713540" y="1165588"/>
            <a:ext cx="3505200" cy="3292398"/>
          </a:xfrm>
          <a:custGeom>
            <a:avLst/>
            <a:gdLst/>
            <a:ahLst/>
            <a:cxnLst/>
            <a:rect l="l" t="t" r="r" b="b"/>
            <a:pathLst>
              <a:path w="936875" h="872344">
                <a:moveTo>
                  <a:pt x="30922" y="0"/>
                </a:moveTo>
                <a:lnTo>
                  <a:pt x="905953" y="0"/>
                </a:lnTo>
                <a:cubicBezTo>
                  <a:pt x="914154" y="0"/>
                  <a:pt x="922019" y="3258"/>
                  <a:pt x="927818" y="9057"/>
                </a:cubicBezTo>
                <a:cubicBezTo>
                  <a:pt x="933617" y="14856"/>
                  <a:pt x="936875" y="22721"/>
                  <a:pt x="936875" y="30922"/>
                </a:cubicBezTo>
                <a:lnTo>
                  <a:pt x="936875" y="841422"/>
                </a:lnTo>
                <a:cubicBezTo>
                  <a:pt x="936875" y="858500"/>
                  <a:pt x="923031" y="872344"/>
                  <a:pt x="905953" y="872344"/>
                </a:cubicBezTo>
                <a:lnTo>
                  <a:pt x="30922" y="872344"/>
                </a:lnTo>
                <a:cubicBezTo>
                  <a:pt x="22721" y="872344"/>
                  <a:pt x="14856" y="869086"/>
                  <a:pt x="9057" y="863287"/>
                </a:cubicBezTo>
                <a:cubicBezTo>
                  <a:pt x="3258" y="857488"/>
                  <a:pt x="0" y="849623"/>
                  <a:pt x="0" y="841422"/>
                </a:cubicBezTo>
                <a:lnTo>
                  <a:pt x="0" y="30922"/>
                </a:lnTo>
                <a:cubicBezTo>
                  <a:pt x="0" y="13844"/>
                  <a:pt x="13844" y="0"/>
                  <a:pt x="3092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229883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/>
          <p:cNvSpPr txBox="1"/>
          <p:nvPr/>
        </p:nvSpPr>
        <p:spPr>
          <a:xfrm>
            <a:off x="3713540" y="1094315"/>
            <a:ext cx="3505200" cy="333503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255" name="Flèche : pentagone 254"/>
          <p:cNvSpPr/>
          <p:nvPr/>
        </p:nvSpPr>
        <p:spPr>
          <a:xfrm>
            <a:off x="3729522" y="1540488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Freeform 34"/>
          <p:cNvSpPr/>
          <p:nvPr/>
        </p:nvSpPr>
        <p:spPr>
          <a:xfrm>
            <a:off x="10896600" y="4553176"/>
            <a:ext cx="3636000" cy="2841001"/>
          </a:xfrm>
          <a:custGeom>
            <a:avLst/>
            <a:gdLst/>
            <a:ahLst/>
            <a:cxnLst/>
            <a:rect l="l" t="t" r="r" b="b"/>
            <a:pathLst>
              <a:path w="960249" h="759347">
                <a:moveTo>
                  <a:pt x="30169" y="0"/>
                </a:moveTo>
                <a:lnTo>
                  <a:pt x="930080" y="0"/>
                </a:lnTo>
                <a:cubicBezTo>
                  <a:pt x="938081" y="0"/>
                  <a:pt x="945755" y="3179"/>
                  <a:pt x="951412" y="8836"/>
                </a:cubicBezTo>
                <a:cubicBezTo>
                  <a:pt x="957070" y="14494"/>
                  <a:pt x="960249" y="22168"/>
                  <a:pt x="960249" y="30169"/>
                </a:cubicBezTo>
                <a:lnTo>
                  <a:pt x="960249" y="729178"/>
                </a:lnTo>
                <a:cubicBezTo>
                  <a:pt x="960249" y="737179"/>
                  <a:pt x="957070" y="744853"/>
                  <a:pt x="951412" y="750511"/>
                </a:cubicBezTo>
                <a:cubicBezTo>
                  <a:pt x="945755" y="756168"/>
                  <a:pt x="938081" y="759347"/>
                  <a:pt x="930080" y="759347"/>
                </a:cubicBezTo>
                <a:lnTo>
                  <a:pt x="30169" y="759347"/>
                </a:lnTo>
                <a:cubicBezTo>
                  <a:pt x="13507" y="759347"/>
                  <a:pt x="0" y="745840"/>
                  <a:pt x="0" y="729178"/>
                </a:cubicBezTo>
                <a:lnTo>
                  <a:pt x="0" y="30169"/>
                </a:lnTo>
                <a:cubicBezTo>
                  <a:pt x="0" y="22168"/>
                  <a:pt x="3179" y="14494"/>
                  <a:pt x="8836" y="8836"/>
                </a:cubicBezTo>
                <a:cubicBezTo>
                  <a:pt x="14494" y="3179"/>
                  <a:pt x="22168" y="0"/>
                  <a:pt x="30169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EBF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2" name="Group 2"/>
          <p:cNvGrpSpPr/>
          <p:nvPr/>
        </p:nvGrpSpPr>
        <p:grpSpPr>
          <a:xfrm>
            <a:off x="110428" y="1149928"/>
            <a:ext cx="3505200" cy="6234724"/>
            <a:chOff x="0" y="0"/>
            <a:chExt cx="936875" cy="16664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6875" cy="1666426"/>
            </a:xfrm>
            <a:custGeom>
              <a:avLst/>
              <a:gdLst/>
              <a:ahLst/>
              <a:cxnLst/>
              <a:rect l="l" t="t" r="r" b="b"/>
              <a:pathLst>
                <a:path w="936875" h="1666426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1635505"/>
                  </a:lnTo>
                  <a:cubicBezTo>
                    <a:pt x="936875" y="1652582"/>
                    <a:pt x="923031" y="1666426"/>
                    <a:pt x="905953" y="1666426"/>
                  </a:cubicBezTo>
                  <a:lnTo>
                    <a:pt x="30922" y="1666426"/>
                  </a:lnTo>
                  <a:cubicBezTo>
                    <a:pt x="22721" y="1666426"/>
                    <a:pt x="14856" y="1663169"/>
                    <a:pt x="9057" y="1657370"/>
                  </a:cubicBezTo>
                  <a:cubicBezTo>
                    <a:pt x="3258" y="1651571"/>
                    <a:pt x="0" y="1643706"/>
                    <a:pt x="0" y="1635505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36875" cy="1685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866815" y="7542042"/>
            <a:ext cx="7273748" cy="2621779"/>
            <a:chOff x="0" y="0"/>
            <a:chExt cx="1944138" cy="7007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4138" cy="700753"/>
            </a:xfrm>
            <a:custGeom>
              <a:avLst/>
              <a:gdLst/>
              <a:ahLst/>
              <a:cxnLst/>
              <a:rect l="l" t="t" r="r" b="b"/>
              <a:pathLst>
                <a:path w="1944138" h="700753">
                  <a:moveTo>
                    <a:pt x="14901" y="0"/>
                  </a:moveTo>
                  <a:lnTo>
                    <a:pt x="1929237" y="0"/>
                  </a:lnTo>
                  <a:cubicBezTo>
                    <a:pt x="1933189" y="0"/>
                    <a:pt x="1936979" y="1570"/>
                    <a:pt x="1939774" y="4364"/>
                  </a:cubicBezTo>
                  <a:cubicBezTo>
                    <a:pt x="1942568" y="7159"/>
                    <a:pt x="1944138" y="10949"/>
                    <a:pt x="1944138" y="14901"/>
                  </a:cubicBezTo>
                  <a:lnTo>
                    <a:pt x="1944138" y="685852"/>
                  </a:lnTo>
                  <a:cubicBezTo>
                    <a:pt x="1944138" y="689804"/>
                    <a:pt x="1942568" y="693594"/>
                    <a:pt x="1939774" y="696389"/>
                  </a:cubicBezTo>
                  <a:cubicBezTo>
                    <a:pt x="1936979" y="699183"/>
                    <a:pt x="1933189" y="700753"/>
                    <a:pt x="1929237" y="700753"/>
                  </a:cubicBezTo>
                  <a:lnTo>
                    <a:pt x="14901" y="700753"/>
                  </a:lnTo>
                  <a:cubicBezTo>
                    <a:pt x="10949" y="700753"/>
                    <a:pt x="7159" y="699183"/>
                    <a:pt x="4364" y="696389"/>
                  </a:cubicBezTo>
                  <a:cubicBezTo>
                    <a:pt x="1570" y="693594"/>
                    <a:pt x="0" y="689804"/>
                    <a:pt x="0" y="685852"/>
                  </a:cubicBezTo>
                  <a:lnTo>
                    <a:pt x="0" y="14901"/>
                  </a:lnTo>
                  <a:cubicBezTo>
                    <a:pt x="0" y="10949"/>
                    <a:pt x="1570" y="7159"/>
                    <a:pt x="4364" y="4364"/>
                  </a:cubicBezTo>
                  <a:cubicBezTo>
                    <a:pt x="7159" y="1570"/>
                    <a:pt x="10949" y="0"/>
                    <a:pt x="1490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944138" cy="71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841039" y="7565627"/>
            <a:ext cx="7273748" cy="366344"/>
            <a:chOff x="0" y="0"/>
            <a:chExt cx="1944138" cy="979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44138" cy="97917"/>
            </a:xfrm>
            <a:custGeom>
              <a:avLst/>
              <a:gdLst/>
              <a:ahLst/>
              <a:cxnLst/>
              <a:rect l="l" t="t" r="r" b="b"/>
              <a:pathLst>
                <a:path w="1944138" h="97917">
                  <a:moveTo>
                    <a:pt x="14901" y="0"/>
                  </a:moveTo>
                  <a:lnTo>
                    <a:pt x="1929237" y="0"/>
                  </a:lnTo>
                  <a:cubicBezTo>
                    <a:pt x="1933189" y="0"/>
                    <a:pt x="1936979" y="1570"/>
                    <a:pt x="1939774" y="4364"/>
                  </a:cubicBezTo>
                  <a:cubicBezTo>
                    <a:pt x="1942568" y="7159"/>
                    <a:pt x="1944138" y="10949"/>
                    <a:pt x="1944138" y="14901"/>
                  </a:cubicBezTo>
                  <a:lnTo>
                    <a:pt x="1944138" y="83016"/>
                  </a:lnTo>
                  <a:cubicBezTo>
                    <a:pt x="1944138" y="86968"/>
                    <a:pt x="1942568" y="90758"/>
                    <a:pt x="1939774" y="93553"/>
                  </a:cubicBezTo>
                  <a:cubicBezTo>
                    <a:pt x="1936979" y="96347"/>
                    <a:pt x="1933189" y="97917"/>
                    <a:pt x="1929237" y="97917"/>
                  </a:cubicBezTo>
                  <a:lnTo>
                    <a:pt x="14901" y="97917"/>
                  </a:lnTo>
                  <a:cubicBezTo>
                    <a:pt x="10949" y="97917"/>
                    <a:pt x="7159" y="96347"/>
                    <a:pt x="4364" y="93553"/>
                  </a:cubicBezTo>
                  <a:cubicBezTo>
                    <a:pt x="1570" y="90758"/>
                    <a:pt x="0" y="86968"/>
                    <a:pt x="0" y="83016"/>
                  </a:cubicBezTo>
                  <a:lnTo>
                    <a:pt x="0" y="14901"/>
                  </a:lnTo>
                  <a:cubicBezTo>
                    <a:pt x="0" y="10949"/>
                    <a:pt x="1570" y="7159"/>
                    <a:pt x="4364" y="4364"/>
                  </a:cubicBezTo>
                  <a:cubicBezTo>
                    <a:pt x="7159" y="1570"/>
                    <a:pt x="10949" y="0"/>
                    <a:pt x="14901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944138" cy="116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290177" y="1149928"/>
            <a:ext cx="3505200" cy="6253774"/>
            <a:chOff x="0" y="0"/>
            <a:chExt cx="936875" cy="16715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6875" cy="1671518"/>
            </a:xfrm>
            <a:custGeom>
              <a:avLst/>
              <a:gdLst/>
              <a:ahLst/>
              <a:cxnLst/>
              <a:rect l="l" t="t" r="r" b="b"/>
              <a:pathLst>
                <a:path w="936875" h="1671518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1640596"/>
                  </a:lnTo>
                  <a:cubicBezTo>
                    <a:pt x="936875" y="1657674"/>
                    <a:pt x="923031" y="1671518"/>
                    <a:pt x="905953" y="1671518"/>
                  </a:cubicBezTo>
                  <a:lnTo>
                    <a:pt x="30922" y="1671518"/>
                  </a:lnTo>
                  <a:cubicBezTo>
                    <a:pt x="13844" y="1671518"/>
                    <a:pt x="0" y="1657674"/>
                    <a:pt x="0" y="1640596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936875" cy="169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635363" y="1094315"/>
            <a:ext cx="3505200" cy="629033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26" name="TextBox 26"/>
          <p:cNvSpPr txBox="1"/>
          <p:nvPr/>
        </p:nvSpPr>
        <p:spPr>
          <a:xfrm>
            <a:off x="163288" y="7891349"/>
            <a:ext cx="2259402" cy="5950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32" name="TextBox 32"/>
          <p:cNvSpPr txBox="1"/>
          <p:nvPr/>
        </p:nvSpPr>
        <p:spPr>
          <a:xfrm>
            <a:off x="10998489" y="1094315"/>
            <a:ext cx="3505200" cy="33663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35" name="TextBox 35"/>
          <p:cNvSpPr txBox="1"/>
          <p:nvPr/>
        </p:nvSpPr>
        <p:spPr>
          <a:xfrm>
            <a:off x="10896600" y="4481903"/>
            <a:ext cx="3636000" cy="291227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grpSp>
        <p:nvGrpSpPr>
          <p:cNvPr id="36" name="Group 36"/>
          <p:cNvGrpSpPr/>
          <p:nvPr/>
        </p:nvGrpSpPr>
        <p:grpSpPr>
          <a:xfrm>
            <a:off x="0" y="0"/>
            <a:ext cx="1126809" cy="1126809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8025" y="0"/>
                  </a:moveTo>
                  <a:lnTo>
                    <a:pt x="654775" y="0"/>
                  </a:lnTo>
                  <a:cubicBezTo>
                    <a:pt x="742050" y="0"/>
                    <a:pt x="812800" y="70750"/>
                    <a:pt x="812800" y="158025"/>
                  </a:cubicBezTo>
                  <a:lnTo>
                    <a:pt x="812800" y="654775"/>
                  </a:lnTo>
                  <a:cubicBezTo>
                    <a:pt x="812800" y="742050"/>
                    <a:pt x="742050" y="812800"/>
                    <a:pt x="654775" y="812800"/>
                  </a:cubicBezTo>
                  <a:lnTo>
                    <a:pt x="158025" y="812800"/>
                  </a:lnTo>
                  <a:cubicBezTo>
                    <a:pt x="70750" y="812800"/>
                    <a:pt x="0" y="742050"/>
                    <a:pt x="0" y="654775"/>
                  </a:cubicBezTo>
                  <a:lnTo>
                    <a:pt x="0" y="158025"/>
                  </a:lnTo>
                  <a:cubicBezTo>
                    <a:pt x="0" y="70750"/>
                    <a:pt x="70750" y="0"/>
                    <a:pt x="158025" y="0"/>
                  </a:cubicBez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09082" y="57150"/>
            <a:ext cx="2418978" cy="352425"/>
            <a:chOff x="0" y="0"/>
            <a:chExt cx="637097" cy="928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7097" cy="92820"/>
            </a:xfrm>
            <a:custGeom>
              <a:avLst/>
              <a:gdLst/>
              <a:ahLst/>
              <a:cxnLst/>
              <a:rect l="l" t="t" r="r" b="b"/>
              <a:pathLst>
                <a:path w="637097" h="92820">
                  <a:moveTo>
                    <a:pt x="38406" y="0"/>
                  </a:moveTo>
                  <a:lnTo>
                    <a:pt x="598691" y="0"/>
                  </a:lnTo>
                  <a:cubicBezTo>
                    <a:pt x="619902" y="0"/>
                    <a:pt x="637097" y="17195"/>
                    <a:pt x="637097" y="38406"/>
                  </a:cubicBezTo>
                  <a:lnTo>
                    <a:pt x="637097" y="54414"/>
                  </a:lnTo>
                  <a:cubicBezTo>
                    <a:pt x="637097" y="75625"/>
                    <a:pt x="619902" y="92820"/>
                    <a:pt x="598691" y="92820"/>
                  </a:cubicBezTo>
                  <a:lnTo>
                    <a:pt x="38406" y="92820"/>
                  </a:lnTo>
                  <a:cubicBezTo>
                    <a:pt x="17195" y="92820"/>
                    <a:pt x="0" y="75625"/>
                    <a:pt x="0" y="54414"/>
                  </a:cubicBezTo>
                  <a:lnTo>
                    <a:pt x="0" y="38406"/>
                  </a:lnTo>
                  <a:cubicBezTo>
                    <a:pt x="0" y="17195"/>
                    <a:pt x="17195" y="0"/>
                    <a:pt x="38406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637097" cy="111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sp>
        <p:nvSpPr>
          <p:cNvPr id="42" name="Freeform 42"/>
          <p:cNvSpPr/>
          <p:nvPr/>
        </p:nvSpPr>
        <p:spPr>
          <a:xfrm>
            <a:off x="3737092" y="1176155"/>
            <a:ext cx="3458097" cy="293602"/>
          </a:xfrm>
          <a:custGeom>
            <a:avLst/>
            <a:gdLst/>
            <a:ahLst/>
            <a:cxnLst/>
            <a:rect l="l" t="t" r="r" b="b"/>
            <a:pathLst>
              <a:path w="924285" h="86559">
                <a:moveTo>
                  <a:pt x="31343" y="0"/>
                </a:moveTo>
                <a:lnTo>
                  <a:pt x="892942" y="0"/>
                </a:lnTo>
                <a:cubicBezTo>
                  <a:pt x="901255" y="0"/>
                  <a:pt x="909227" y="3302"/>
                  <a:pt x="915105" y="9180"/>
                </a:cubicBezTo>
                <a:cubicBezTo>
                  <a:pt x="920983" y="15058"/>
                  <a:pt x="924285" y="23030"/>
                  <a:pt x="924285" y="31343"/>
                </a:cubicBezTo>
                <a:lnTo>
                  <a:pt x="924285" y="55216"/>
                </a:lnTo>
                <a:cubicBezTo>
                  <a:pt x="924285" y="72526"/>
                  <a:pt x="910253" y="86559"/>
                  <a:pt x="892942" y="86559"/>
                </a:cubicBezTo>
                <a:lnTo>
                  <a:pt x="31343" y="86559"/>
                </a:lnTo>
                <a:cubicBezTo>
                  <a:pt x="14033" y="86559"/>
                  <a:pt x="0" y="72526"/>
                  <a:pt x="0" y="55216"/>
                </a:cubicBezTo>
                <a:lnTo>
                  <a:pt x="0" y="31343"/>
                </a:lnTo>
                <a:cubicBezTo>
                  <a:pt x="0" y="14033"/>
                  <a:pt x="14033" y="0"/>
                  <a:pt x="31343" y="0"/>
                </a:cubicBezTo>
                <a:close/>
              </a:path>
            </a:pathLst>
          </a:custGeom>
          <a:solidFill>
            <a:srgbClr val="229883"/>
          </a:solidFill>
          <a:ln w="47625" cap="sq">
            <a:solidFill>
              <a:srgbClr val="229883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Box 43"/>
          <p:cNvSpPr txBox="1"/>
          <p:nvPr/>
        </p:nvSpPr>
        <p:spPr>
          <a:xfrm>
            <a:off x="3737092" y="1104882"/>
            <a:ext cx="3458097" cy="3951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44" name="Freeform 44"/>
          <p:cNvSpPr/>
          <p:nvPr/>
        </p:nvSpPr>
        <p:spPr>
          <a:xfrm>
            <a:off x="3793758" y="1184638"/>
            <a:ext cx="276225" cy="279786"/>
          </a:xfrm>
          <a:custGeom>
            <a:avLst/>
            <a:gdLst/>
            <a:ahLst/>
            <a:cxnLst/>
            <a:rect l="l" t="t" r="r" b="b"/>
            <a:pathLst>
              <a:path w="276225" h="279786">
                <a:moveTo>
                  <a:pt x="0" y="0"/>
                </a:moveTo>
                <a:lnTo>
                  <a:pt x="276225" y="0"/>
                </a:lnTo>
                <a:lnTo>
                  <a:pt x="276225" y="279786"/>
                </a:lnTo>
                <a:lnTo>
                  <a:pt x="0" y="279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5" name="Group 45"/>
          <p:cNvGrpSpPr/>
          <p:nvPr/>
        </p:nvGrpSpPr>
        <p:grpSpPr>
          <a:xfrm>
            <a:off x="125668" y="1168978"/>
            <a:ext cx="3458097" cy="365097"/>
            <a:chOff x="0" y="0"/>
            <a:chExt cx="924285" cy="97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24285" cy="97584"/>
            </a:xfrm>
            <a:custGeom>
              <a:avLst/>
              <a:gdLst/>
              <a:ahLst/>
              <a:cxnLst/>
              <a:rect l="l" t="t" r="r" b="b"/>
              <a:pathLst>
                <a:path w="924285" h="97584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66241"/>
                  </a:lnTo>
                  <a:cubicBezTo>
                    <a:pt x="924285" y="83551"/>
                    <a:pt x="910253" y="97584"/>
                    <a:pt x="892942" y="97584"/>
                  </a:cubicBezTo>
                  <a:lnTo>
                    <a:pt x="31343" y="97584"/>
                  </a:lnTo>
                  <a:cubicBezTo>
                    <a:pt x="23030" y="97584"/>
                    <a:pt x="15058" y="94282"/>
                    <a:pt x="9180" y="88404"/>
                  </a:cubicBezTo>
                  <a:cubicBezTo>
                    <a:pt x="3302" y="82526"/>
                    <a:pt x="0" y="74553"/>
                    <a:pt x="0" y="66241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924285" cy="116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48" name="Freeform 48"/>
          <p:cNvSpPr/>
          <p:nvPr/>
        </p:nvSpPr>
        <p:spPr>
          <a:xfrm>
            <a:off x="162074" y="1221695"/>
            <a:ext cx="313670" cy="278311"/>
          </a:xfrm>
          <a:custGeom>
            <a:avLst/>
            <a:gdLst/>
            <a:ahLst/>
            <a:cxnLst/>
            <a:rect l="l" t="t" r="r" b="b"/>
            <a:pathLst>
              <a:path w="313670" h="278311">
                <a:moveTo>
                  <a:pt x="0" y="0"/>
                </a:moveTo>
                <a:lnTo>
                  <a:pt x="313670" y="0"/>
                </a:lnTo>
                <a:lnTo>
                  <a:pt x="313670" y="278310"/>
                </a:lnTo>
                <a:lnTo>
                  <a:pt x="0" y="278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49" name="Group 49"/>
          <p:cNvGrpSpPr/>
          <p:nvPr/>
        </p:nvGrpSpPr>
        <p:grpSpPr>
          <a:xfrm>
            <a:off x="3704015" y="4582630"/>
            <a:ext cx="3458097" cy="365097"/>
            <a:chOff x="0" y="0"/>
            <a:chExt cx="924285" cy="975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24285" cy="97584"/>
            </a:xfrm>
            <a:custGeom>
              <a:avLst/>
              <a:gdLst/>
              <a:ahLst/>
              <a:cxnLst/>
              <a:rect l="l" t="t" r="r" b="b"/>
              <a:pathLst>
                <a:path w="924285" h="97584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66241"/>
                  </a:lnTo>
                  <a:cubicBezTo>
                    <a:pt x="924285" y="83551"/>
                    <a:pt x="910253" y="97584"/>
                    <a:pt x="892942" y="97584"/>
                  </a:cubicBezTo>
                  <a:lnTo>
                    <a:pt x="31343" y="97584"/>
                  </a:lnTo>
                  <a:cubicBezTo>
                    <a:pt x="23030" y="97584"/>
                    <a:pt x="15058" y="94282"/>
                    <a:pt x="9180" y="88404"/>
                  </a:cubicBezTo>
                  <a:cubicBezTo>
                    <a:pt x="3302" y="82526"/>
                    <a:pt x="0" y="74553"/>
                    <a:pt x="0" y="66241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924285" cy="116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2" name="Freeform 52"/>
          <p:cNvSpPr/>
          <p:nvPr/>
        </p:nvSpPr>
        <p:spPr>
          <a:xfrm>
            <a:off x="3769157" y="4611428"/>
            <a:ext cx="276225" cy="275123"/>
          </a:xfrm>
          <a:custGeom>
            <a:avLst/>
            <a:gdLst/>
            <a:ahLst/>
            <a:cxnLst/>
            <a:rect l="l" t="t" r="r" b="b"/>
            <a:pathLst>
              <a:path w="276225" h="275123">
                <a:moveTo>
                  <a:pt x="0" y="0"/>
                </a:moveTo>
                <a:lnTo>
                  <a:pt x="276225" y="0"/>
                </a:lnTo>
                <a:lnTo>
                  <a:pt x="276225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3" name="Group 53"/>
          <p:cNvGrpSpPr/>
          <p:nvPr/>
        </p:nvGrpSpPr>
        <p:grpSpPr>
          <a:xfrm>
            <a:off x="11003296" y="1104900"/>
            <a:ext cx="3505200" cy="332619"/>
            <a:chOff x="0" y="-19050"/>
            <a:chExt cx="936875" cy="9952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36875" cy="80473"/>
            </a:xfrm>
            <a:custGeom>
              <a:avLst/>
              <a:gdLst/>
              <a:ahLst/>
              <a:cxnLst/>
              <a:rect l="l" t="t" r="r" b="b"/>
              <a:pathLst>
                <a:path w="936875" h="80473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49551"/>
                  </a:lnTo>
                  <a:cubicBezTo>
                    <a:pt x="936875" y="66629"/>
                    <a:pt x="923031" y="80473"/>
                    <a:pt x="905953" y="80473"/>
                  </a:cubicBezTo>
                  <a:lnTo>
                    <a:pt x="30922" y="80473"/>
                  </a:lnTo>
                  <a:cubicBezTo>
                    <a:pt x="13844" y="80473"/>
                    <a:pt x="0" y="66629"/>
                    <a:pt x="0" y="49551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936875" cy="99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6" name="Freeform 56"/>
          <p:cNvSpPr/>
          <p:nvPr/>
        </p:nvSpPr>
        <p:spPr>
          <a:xfrm>
            <a:off x="11062077" y="1203688"/>
            <a:ext cx="285750" cy="249901"/>
          </a:xfrm>
          <a:custGeom>
            <a:avLst/>
            <a:gdLst/>
            <a:ahLst/>
            <a:cxnLst/>
            <a:rect l="l" t="t" r="r" b="b"/>
            <a:pathLst>
              <a:path w="285750" h="249901">
                <a:moveTo>
                  <a:pt x="0" y="0"/>
                </a:moveTo>
                <a:lnTo>
                  <a:pt x="285750" y="0"/>
                </a:lnTo>
                <a:lnTo>
                  <a:pt x="285750" y="249901"/>
                </a:lnTo>
                <a:lnTo>
                  <a:pt x="0" y="2499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7" name="Freeform 57"/>
          <p:cNvSpPr/>
          <p:nvPr/>
        </p:nvSpPr>
        <p:spPr>
          <a:xfrm>
            <a:off x="10939374" y="7589439"/>
            <a:ext cx="333375" cy="268224"/>
          </a:xfrm>
          <a:custGeom>
            <a:avLst/>
            <a:gdLst/>
            <a:ahLst/>
            <a:cxnLst/>
            <a:rect l="l" t="t" r="r" b="b"/>
            <a:pathLst>
              <a:path w="333375" h="268224">
                <a:moveTo>
                  <a:pt x="0" y="0"/>
                </a:moveTo>
                <a:lnTo>
                  <a:pt x="333375" y="0"/>
                </a:lnTo>
                <a:lnTo>
                  <a:pt x="333375" y="268224"/>
                </a:lnTo>
                <a:lnTo>
                  <a:pt x="0" y="2682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9" name="TextBox 69"/>
          <p:cNvSpPr txBox="1"/>
          <p:nvPr/>
        </p:nvSpPr>
        <p:spPr>
          <a:xfrm>
            <a:off x="5519128" y="6802884"/>
            <a:ext cx="2259402" cy="62478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75" name="TextBox 75"/>
          <p:cNvSpPr txBox="1"/>
          <p:nvPr/>
        </p:nvSpPr>
        <p:spPr>
          <a:xfrm>
            <a:off x="10952540" y="7973061"/>
            <a:ext cx="2333625" cy="116791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grpSp>
        <p:nvGrpSpPr>
          <p:cNvPr id="76" name="Group 76"/>
          <p:cNvGrpSpPr/>
          <p:nvPr/>
        </p:nvGrpSpPr>
        <p:grpSpPr>
          <a:xfrm>
            <a:off x="14642664" y="1184638"/>
            <a:ext cx="3505200" cy="315368"/>
            <a:chOff x="0" y="0"/>
            <a:chExt cx="936875" cy="8429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36875" cy="84292"/>
            </a:xfrm>
            <a:custGeom>
              <a:avLst/>
              <a:gdLst/>
              <a:ahLst/>
              <a:cxnLst/>
              <a:rect l="l" t="t" r="r" b="b"/>
              <a:pathLst>
                <a:path w="936875" h="84292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53370"/>
                  </a:lnTo>
                  <a:cubicBezTo>
                    <a:pt x="936875" y="70448"/>
                    <a:pt x="923031" y="84292"/>
                    <a:pt x="905953" y="84292"/>
                  </a:cubicBezTo>
                  <a:lnTo>
                    <a:pt x="30922" y="84292"/>
                  </a:lnTo>
                  <a:cubicBezTo>
                    <a:pt x="22721" y="84292"/>
                    <a:pt x="14856" y="81034"/>
                    <a:pt x="9057" y="75235"/>
                  </a:cubicBezTo>
                  <a:cubicBezTo>
                    <a:pt x="3258" y="69436"/>
                    <a:pt x="0" y="61571"/>
                    <a:pt x="0" y="53370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936875" cy="103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79" name="Freeform 79"/>
          <p:cNvSpPr/>
          <p:nvPr/>
        </p:nvSpPr>
        <p:spPr>
          <a:xfrm>
            <a:off x="14713239" y="1186577"/>
            <a:ext cx="304800" cy="300921"/>
          </a:xfrm>
          <a:custGeom>
            <a:avLst/>
            <a:gdLst/>
            <a:ahLst/>
            <a:cxnLst/>
            <a:rect l="l" t="t" r="r" b="b"/>
            <a:pathLst>
              <a:path w="304800" h="300921">
                <a:moveTo>
                  <a:pt x="0" y="0"/>
                </a:moveTo>
                <a:lnTo>
                  <a:pt x="304800" y="0"/>
                </a:lnTo>
                <a:lnTo>
                  <a:pt x="304800" y="300921"/>
                </a:lnTo>
                <a:lnTo>
                  <a:pt x="0" y="3009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0" name="Group 80"/>
          <p:cNvGrpSpPr/>
          <p:nvPr/>
        </p:nvGrpSpPr>
        <p:grpSpPr>
          <a:xfrm>
            <a:off x="7296616" y="1140346"/>
            <a:ext cx="3505200" cy="293534"/>
            <a:chOff x="0" y="0"/>
            <a:chExt cx="936875" cy="81467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936875" cy="81467"/>
            </a:xfrm>
            <a:custGeom>
              <a:avLst/>
              <a:gdLst/>
              <a:ahLst/>
              <a:cxnLst/>
              <a:rect l="l" t="t" r="r" b="b"/>
              <a:pathLst>
                <a:path w="936875" h="81467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50546"/>
                  </a:lnTo>
                  <a:cubicBezTo>
                    <a:pt x="936875" y="67623"/>
                    <a:pt x="923031" y="81467"/>
                    <a:pt x="905953" y="81467"/>
                  </a:cubicBezTo>
                  <a:lnTo>
                    <a:pt x="30922" y="81467"/>
                  </a:lnTo>
                  <a:cubicBezTo>
                    <a:pt x="13844" y="81467"/>
                    <a:pt x="0" y="67623"/>
                    <a:pt x="0" y="50546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936875" cy="100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83" name="Freeform 83"/>
          <p:cNvSpPr/>
          <p:nvPr/>
        </p:nvSpPr>
        <p:spPr>
          <a:xfrm>
            <a:off x="7352090" y="11655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4" name="Group 84"/>
          <p:cNvGrpSpPr/>
          <p:nvPr/>
        </p:nvGrpSpPr>
        <p:grpSpPr>
          <a:xfrm>
            <a:off x="16551113" y="420581"/>
            <a:ext cx="238839" cy="182345"/>
            <a:chOff x="0" y="0"/>
            <a:chExt cx="62904" cy="4802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229883"/>
            </a:solidFill>
            <a:ln w="95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6551113" y="672309"/>
            <a:ext cx="238839" cy="182345"/>
            <a:chOff x="0" y="0"/>
            <a:chExt cx="62904" cy="4802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7ED957"/>
            </a:solidFill>
            <a:ln w="9525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6551113" y="171561"/>
            <a:ext cx="238839" cy="182345"/>
            <a:chOff x="0" y="0"/>
            <a:chExt cx="62904" cy="48025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FEBF00"/>
            </a:solidFill>
            <a:ln w="9525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9904" y="7546577"/>
            <a:ext cx="7100587" cy="321789"/>
            <a:chOff x="0" y="0"/>
            <a:chExt cx="1897855" cy="98955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897855" cy="98955"/>
            </a:xfrm>
            <a:custGeom>
              <a:avLst/>
              <a:gdLst/>
              <a:ahLst/>
              <a:cxnLst/>
              <a:rect l="l" t="t" r="r" b="b"/>
              <a:pathLst>
                <a:path w="1897855" h="98955">
                  <a:moveTo>
                    <a:pt x="15264" y="0"/>
                  </a:moveTo>
                  <a:lnTo>
                    <a:pt x="1882591" y="0"/>
                  </a:lnTo>
                  <a:cubicBezTo>
                    <a:pt x="1891021" y="0"/>
                    <a:pt x="1897855" y="6834"/>
                    <a:pt x="1897855" y="15264"/>
                  </a:cubicBezTo>
                  <a:lnTo>
                    <a:pt x="1897855" y="83691"/>
                  </a:lnTo>
                  <a:cubicBezTo>
                    <a:pt x="1897855" y="92121"/>
                    <a:pt x="1891021" y="98955"/>
                    <a:pt x="1882591" y="98955"/>
                  </a:cubicBezTo>
                  <a:lnTo>
                    <a:pt x="15264" y="98955"/>
                  </a:lnTo>
                  <a:cubicBezTo>
                    <a:pt x="6834" y="98955"/>
                    <a:pt x="0" y="92121"/>
                    <a:pt x="0" y="83691"/>
                  </a:cubicBezTo>
                  <a:lnTo>
                    <a:pt x="0" y="15264"/>
                  </a:lnTo>
                  <a:cubicBezTo>
                    <a:pt x="0" y="6834"/>
                    <a:pt x="6834" y="0"/>
                    <a:pt x="15264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19050"/>
              <a:ext cx="1897855" cy="118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96" name="Freeform 96"/>
          <p:cNvSpPr/>
          <p:nvPr/>
        </p:nvSpPr>
        <p:spPr>
          <a:xfrm>
            <a:off x="176034" y="7575152"/>
            <a:ext cx="285750" cy="293214"/>
          </a:xfrm>
          <a:custGeom>
            <a:avLst/>
            <a:gdLst/>
            <a:ahLst/>
            <a:cxnLst/>
            <a:rect l="l" t="t" r="r" b="b"/>
            <a:pathLst>
              <a:path w="285750" h="293214">
                <a:moveTo>
                  <a:pt x="0" y="0"/>
                </a:moveTo>
                <a:lnTo>
                  <a:pt x="285750" y="0"/>
                </a:lnTo>
                <a:lnTo>
                  <a:pt x="285750" y="293213"/>
                </a:lnTo>
                <a:lnTo>
                  <a:pt x="0" y="2932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97" name="Group 97"/>
          <p:cNvGrpSpPr/>
          <p:nvPr/>
        </p:nvGrpSpPr>
        <p:grpSpPr>
          <a:xfrm>
            <a:off x="7275890" y="7565627"/>
            <a:ext cx="3505200" cy="351178"/>
            <a:chOff x="0" y="0"/>
            <a:chExt cx="936875" cy="93863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936875" cy="93863"/>
            </a:xfrm>
            <a:custGeom>
              <a:avLst/>
              <a:gdLst/>
              <a:ahLst/>
              <a:cxnLst/>
              <a:rect l="l" t="t" r="r" b="b"/>
              <a:pathLst>
                <a:path w="936875" h="93863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62942"/>
                  </a:lnTo>
                  <a:cubicBezTo>
                    <a:pt x="936875" y="80019"/>
                    <a:pt x="923031" y="93863"/>
                    <a:pt x="905953" y="93863"/>
                  </a:cubicBezTo>
                  <a:lnTo>
                    <a:pt x="30922" y="93863"/>
                  </a:lnTo>
                  <a:cubicBezTo>
                    <a:pt x="22721" y="93863"/>
                    <a:pt x="14856" y="90605"/>
                    <a:pt x="9057" y="84807"/>
                  </a:cubicBezTo>
                  <a:cubicBezTo>
                    <a:pt x="3258" y="79008"/>
                    <a:pt x="0" y="71143"/>
                    <a:pt x="0" y="62942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760690"/>
            </a:solidFill>
            <a:ln w="38100" cap="sq">
              <a:solidFill>
                <a:srgbClr val="76069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936875" cy="112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00" name="Freeform 100"/>
          <p:cNvSpPr/>
          <p:nvPr/>
        </p:nvSpPr>
        <p:spPr>
          <a:xfrm>
            <a:off x="7362736" y="7569956"/>
            <a:ext cx="333375" cy="290945"/>
          </a:xfrm>
          <a:custGeom>
            <a:avLst/>
            <a:gdLst/>
            <a:ahLst/>
            <a:cxnLst/>
            <a:rect l="l" t="t" r="r" b="b"/>
            <a:pathLst>
              <a:path w="333375" h="290945">
                <a:moveTo>
                  <a:pt x="0" y="0"/>
                </a:moveTo>
                <a:lnTo>
                  <a:pt x="333375" y="0"/>
                </a:lnTo>
                <a:lnTo>
                  <a:pt x="333375" y="290946"/>
                </a:lnTo>
                <a:lnTo>
                  <a:pt x="0" y="2909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2" name="Freeform 102"/>
          <p:cNvSpPr/>
          <p:nvPr/>
        </p:nvSpPr>
        <p:spPr>
          <a:xfrm>
            <a:off x="10926194" y="4532083"/>
            <a:ext cx="3592649" cy="311375"/>
          </a:xfrm>
          <a:custGeom>
            <a:avLst/>
            <a:gdLst/>
            <a:ahLst/>
            <a:cxnLst/>
            <a:rect l="l" t="t" r="r" b="b"/>
            <a:pathLst>
              <a:path w="960249" h="96631">
                <a:moveTo>
                  <a:pt x="30169" y="0"/>
                </a:moveTo>
                <a:lnTo>
                  <a:pt x="930080" y="0"/>
                </a:lnTo>
                <a:cubicBezTo>
                  <a:pt x="938081" y="0"/>
                  <a:pt x="945755" y="3179"/>
                  <a:pt x="951412" y="8836"/>
                </a:cubicBezTo>
                <a:cubicBezTo>
                  <a:pt x="957070" y="14494"/>
                  <a:pt x="960249" y="22168"/>
                  <a:pt x="960249" y="30169"/>
                </a:cubicBezTo>
                <a:lnTo>
                  <a:pt x="960249" y="66461"/>
                </a:lnTo>
                <a:cubicBezTo>
                  <a:pt x="960249" y="74463"/>
                  <a:pt x="957070" y="82136"/>
                  <a:pt x="951412" y="87794"/>
                </a:cubicBezTo>
                <a:cubicBezTo>
                  <a:pt x="945755" y="93452"/>
                  <a:pt x="938081" y="96631"/>
                  <a:pt x="930080" y="96631"/>
                </a:cubicBezTo>
                <a:lnTo>
                  <a:pt x="30169" y="96631"/>
                </a:lnTo>
                <a:cubicBezTo>
                  <a:pt x="22168" y="96631"/>
                  <a:pt x="14494" y="93452"/>
                  <a:pt x="8836" y="87794"/>
                </a:cubicBezTo>
                <a:cubicBezTo>
                  <a:pt x="3179" y="82136"/>
                  <a:pt x="0" y="74463"/>
                  <a:pt x="0" y="66461"/>
                </a:cubicBezTo>
                <a:lnTo>
                  <a:pt x="0" y="30169"/>
                </a:lnTo>
                <a:cubicBezTo>
                  <a:pt x="0" y="22168"/>
                  <a:pt x="3179" y="14494"/>
                  <a:pt x="8836" y="8836"/>
                </a:cubicBezTo>
                <a:cubicBezTo>
                  <a:pt x="14494" y="3179"/>
                  <a:pt x="22168" y="0"/>
                  <a:pt x="30169" y="0"/>
                </a:cubicBezTo>
                <a:close/>
              </a:path>
            </a:pathLst>
          </a:custGeom>
          <a:solidFill>
            <a:srgbClr val="FEBF00"/>
          </a:solidFill>
          <a:ln w="38100" cap="sq">
            <a:solidFill>
              <a:srgbClr val="FEBF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03" name="TextBox 103"/>
          <p:cNvSpPr txBox="1"/>
          <p:nvPr/>
        </p:nvSpPr>
        <p:spPr>
          <a:xfrm>
            <a:off x="10926194" y="4466306"/>
            <a:ext cx="3592649" cy="39943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104" name="Freeform 104"/>
          <p:cNvSpPr/>
          <p:nvPr/>
        </p:nvSpPr>
        <p:spPr>
          <a:xfrm>
            <a:off x="10992541" y="4589737"/>
            <a:ext cx="333375" cy="224998"/>
          </a:xfrm>
          <a:custGeom>
            <a:avLst/>
            <a:gdLst/>
            <a:ahLst/>
            <a:cxnLst/>
            <a:rect l="l" t="t" r="r" b="b"/>
            <a:pathLst>
              <a:path w="333375" h="224998">
                <a:moveTo>
                  <a:pt x="0" y="0"/>
                </a:moveTo>
                <a:lnTo>
                  <a:pt x="333375" y="0"/>
                </a:lnTo>
                <a:lnTo>
                  <a:pt x="333375" y="224997"/>
                </a:lnTo>
                <a:lnTo>
                  <a:pt x="0" y="22499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8" name="TextBox 128"/>
          <p:cNvSpPr txBox="1"/>
          <p:nvPr/>
        </p:nvSpPr>
        <p:spPr>
          <a:xfrm>
            <a:off x="193768" y="9539040"/>
            <a:ext cx="4642330" cy="54363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173" name="TextBox 173"/>
          <p:cNvSpPr txBox="1"/>
          <p:nvPr/>
        </p:nvSpPr>
        <p:spPr>
          <a:xfrm>
            <a:off x="1342519" y="1184638"/>
            <a:ext cx="2185541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Partenaires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4" name="TextBox 174"/>
          <p:cNvSpPr txBox="1"/>
          <p:nvPr/>
        </p:nvSpPr>
        <p:spPr>
          <a:xfrm>
            <a:off x="1126809" y="400050"/>
            <a:ext cx="2193386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Lomé, Togo</a:t>
            </a:r>
            <a:endParaRPr lang="en-US" sz="15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1800"/>
              </a:lnSpc>
            </a:pPr>
            <a:r>
              <a:rPr lang="en-US" sz="1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Certifié ISO 9001</a:t>
            </a: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2015</a:t>
            </a:r>
            <a:endParaRPr lang="en-US" sz="15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Lancement : </a:t>
            </a:r>
            <a:r>
              <a:rPr lang="en-US" sz="1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Mars 2026</a:t>
            </a:r>
            <a:endParaRPr lang="en-US" sz="1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5" name="TextBox 175"/>
          <p:cNvSpPr txBox="1"/>
          <p:nvPr/>
        </p:nvSpPr>
        <p:spPr>
          <a:xfrm>
            <a:off x="12310303" y="1175113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Relations clientèle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6" name="TextBox 176"/>
          <p:cNvSpPr txBox="1"/>
          <p:nvPr/>
        </p:nvSpPr>
        <p:spPr>
          <a:xfrm>
            <a:off x="4915817" y="4592378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Ressources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7" name="TextBox 177"/>
          <p:cNvSpPr txBox="1"/>
          <p:nvPr/>
        </p:nvSpPr>
        <p:spPr>
          <a:xfrm>
            <a:off x="4944392" y="1180918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Activités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8" name="TextBox 178"/>
          <p:cNvSpPr txBox="1"/>
          <p:nvPr/>
        </p:nvSpPr>
        <p:spPr>
          <a:xfrm>
            <a:off x="15790110" y="1175113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Segments de clientèle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9" name="TextBox 179"/>
          <p:cNvSpPr txBox="1"/>
          <p:nvPr/>
        </p:nvSpPr>
        <p:spPr>
          <a:xfrm>
            <a:off x="12384261" y="4563580"/>
            <a:ext cx="1750437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Canaux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0" name="TextBox 180"/>
          <p:cNvSpPr txBox="1"/>
          <p:nvPr/>
        </p:nvSpPr>
        <p:spPr>
          <a:xfrm>
            <a:off x="4989786" y="7570389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Structure de coûts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1" name="TextBox 181"/>
          <p:cNvSpPr txBox="1"/>
          <p:nvPr/>
        </p:nvSpPr>
        <p:spPr>
          <a:xfrm>
            <a:off x="15935363" y="7546577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Sources de Revenus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2" name="TextBox 182"/>
          <p:cNvSpPr txBox="1"/>
          <p:nvPr/>
        </p:nvSpPr>
        <p:spPr>
          <a:xfrm>
            <a:off x="8050310" y="7556102"/>
            <a:ext cx="269755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Mission, vision et valeurs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3" name="TextBox 183"/>
          <p:cNvSpPr txBox="1"/>
          <p:nvPr/>
        </p:nvSpPr>
        <p:spPr>
          <a:xfrm>
            <a:off x="1191811" y="94839"/>
            <a:ext cx="2399957" cy="26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Projet n° : 003-26-KYA</a:t>
            </a:r>
            <a:endParaRPr lang="en-US" sz="18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4" name="TextBox 184"/>
          <p:cNvSpPr txBox="1"/>
          <p:nvPr/>
        </p:nvSpPr>
        <p:spPr>
          <a:xfrm>
            <a:off x="3619614" y="-12356"/>
            <a:ext cx="12335586" cy="483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fr-FR" sz="3300" b="1" dirty="0">
                <a:solidFill>
                  <a:srgbClr val="FF75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Développement des agences KYA-</a:t>
            </a:r>
            <a:r>
              <a:rPr lang="fr-FR" sz="3300" b="1" dirty="0" err="1">
                <a:solidFill>
                  <a:srgbClr val="FF75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SolarShop</a:t>
            </a:r>
            <a:endParaRPr lang="en-US" sz="3300" b="1" dirty="0">
              <a:solidFill>
                <a:srgbClr val="FF75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6" name="TextBox 186"/>
          <p:cNvSpPr txBox="1"/>
          <p:nvPr/>
        </p:nvSpPr>
        <p:spPr>
          <a:xfrm>
            <a:off x="16886802" y="92653"/>
            <a:ext cx="1186934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Désirabilité 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Faisabilité  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Viabilité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7" name="TextBox 187"/>
          <p:cNvSpPr txBox="1"/>
          <p:nvPr/>
        </p:nvSpPr>
        <p:spPr>
          <a:xfrm>
            <a:off x="8002033" y="1121353"/>
            <a:ext cx="269755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Proposition de Valeur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8" name="TextBox 188"/>
          <p:cNvSpPr txBox="1"/>
          <p:nvPr/>
        </p:nvSpPr>
        <p:spPr>
          <a:xfrm>
            <a:off x="7354813" y="1494608"/>
            <a:ext cx="3365501" cy="1112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</a:pPr>
            <a:r>
              <a:rPr lang="en-US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“</a:t>
            </a:r>
            <a:r>
              <a:rPr lang="fr-FR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Un réseau panafricain des agences solaires certifiées -standards ISO, produits locaux, SAV garanti, partout en Afrique</a:t>
            </a:r>
            <a:r>
              <a:rPr lang="en-US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“</a:t>
            </a:r>
            <a:endParaRPr lang="en-US" sz="1800" b="1" dirty="0">
              <a:solidFill>
                <a:srgbClr val="FFC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9" name="TextBox 189"/>
          <p:cNvSpPr txBox="1"/>
          <p:nvPr/>
        </p:nvSpPr>
        <p:spPr>
          <a:xfrm>
            <a:off x="7415298" y="2574810"/>
            <a:ext cx="3410111" cy="4708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Modèle scalable et reproductible, chaque agence fonctionne sur protocoles standardisés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crédibilité et confiance institutionnelle régionale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Énergie propre, fiable et abordable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ans d'expérience et réseau institutionnel solide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assemblées localement, adaptées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Approvisionnement maîtrisé et coûts compétitifs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Financement intégré (crédit, mobile)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 certifié et maintenance contractualisée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TextBox 190"/>
          <p:cNvSpPr txBox="1"/>
          <p:nvPr/>
        </p:nvSpPr>
        <p:spPr>
          <a:xfrm>
            <a:off x="3915545" y="1444715"/>
            <a:ext cx="2645556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Recrutement, formation et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certification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franchisés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TextBox 193"/>
          <p:cNvSpPr txBox="1"/>
          <p:nvPr/>
        </p:nvSpPr>
        <p:spPr>
          <a:xfrm>
            <a:off x="14706304" y="1575098"/>
            <a:ext cx="3367432" cy="4708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Ménages et particuliers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Foyers sans accès fiable au réseau</a:t>
            </a:r>
            <a:endParaRPr lang="fr-FR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Ménages urbains et péri-urbains</a:t>
            </a:r>
            <a:endParaRPr lang="fr-FR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PME et entrepreneurs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Petits commerces, artisans, restaurants</a:t>
            </a:r>
            <a:endParaRPr lang="fr-FR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Entreprises cherchant autonomie énergétique</a:t>
            </a:r>
            <a:endParaRPr lang="fr-FR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Secteur public et ONG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Écoles, centres de santé</a:t>
            </a:r>
            <a:endParaRPr lang="fr-FR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Communes et collectivités territoriales</a:t>
            </a:r>
            <a:endParaRPr lang="fr-FR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Investisseurs / Franchisés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Opérateurs économiques locaux</a:t>
            </a:r>
            <a:endParaRPr lang="fr-FR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voulant ouvrir une agence KYA</a:t>
            </a:r>
            <a:endParaRPr lang="fr-FR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TextBox 207"/>
          <p:cNvSpPr txBox="1"/>
          <p:nvPr/>
        </p:nvSpPr>
        <p:spPr>
          <a:xfrm>
            <a:off x="207381" y="9321508"/>
            <a:ext cx="680252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17" name="TextBox 217"/>
          <p:cNvSpPr txBox="1"/>
          <p:nvPr/>
        </p:nvSpPr>
        <p:spPr>
          <a:xfrm>
            <a:off x="7416049" y="9003534"/>
            <a:ext cx="345769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dirty="0">
                <a:solidFill>
                  <a:srgbClr val="FF75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Démocratiser l’accès à l’énergie durable.</a:t>
            </a:r>
            <a:endParaRPr lang="en-US" sz="1600" dirty="0">
              <a:solidFill>
                <a:srgbClr val="FF75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TextBox 218"/>
          <p:cNvSpPr txBox="1"/>
          <p:nvPr/>
        </p:nvSpPr>
        <p:spPr>
          <a:xfrm>
            <a:off x="7458669" y="7912921"/>
            <a:ext cx="3285531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600" dirty="0">
                <a:solidFill>
                  <a:srgbClr val="76069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Transformer, de façon innovante, des ressources énergétiques renouvelables pour produire de l’énergie propre, fiable et abordable à tous.</a:t>
            </a:r>
            <a:endParaRPr lang="en-US" sz="1600" dirty="0">
              <a:solidFill>
                <a:srgbClr val="76069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TextBox 219"/>
          <p:cNvSpPr txBox="1"/>
          <p:nvPr/>
        </p:nvSpPr>
        <p:spPr>
          <a:xfrm>
            <a:off x="7431036" y="9362621"/>
            <a:ext cx="328564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600" dirty="0">
                <a:solidFill>
                  <a:srgbClr val="22988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Professionnalisme, Rigueur, Esprit d’équipe, Ecoute du client, Intégrité, Transparence, Equité et Innovation.</a:t>
            </a:r>
            <a:endParaRPr lang="en-US" sz="1600" dirty="0">
              <a:solidFill>
                <a:srgbClr val="22988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1" name="TextBox 5"/>
          <p:cNvSpPr txBox="1"/>
          <p:nvPr/>
        </p:nvSpPr>
        <p:spPr>
          <a:xfrm>
            <a:off x="8003" y="1626430"/>
            <a:ext cx="3583765" cy="1584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Partenaires Financiers :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Banques locales et régionales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Institutions de microfinance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Bailleurs internationaux </a:t>
            </a:r>
            <a:r>
              <a:rPr lang="fr-FR" sz="1700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(BM, AfDB, GCF)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Fonds ESG et investisseurs privés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275" name="TextBox 68"/>
          <p:cNvSpPr txBox="1"/>
          <p:nvPr/>
        </p:nvSpPr>
        <p:spPr>
          <a:xfrm>
            <a:off x="201388" y="9566587"/>
            <a:ext cx="2259402" cy="4435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  <a:endParaRPr dirty="0"/>
          </a:p>
        </p:txBody>
      </p:sp>
      <p:sp>
        <p:nvSpPr>
          <p:cNvPr id="284" name="Freeform 67"/>
          <p:cNvSpPr/>
          <p:nvPr/>
        </p:nvSpPr>
        <p:spPr>
          <a:xfrm>
            <a:off x="4778620" y="9599068"/>
            <a:ext cx="2330583" cy="487313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92D050"/>
          </a:solidFill>
          <a:ln w="38100" cap="sq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85" name="Freeform 67"/>
          <p:cNvSpPr/>
          <p:nvPr/>
        </p:nvSpPr>
        <p:spPr>
          <a:xfrm>
            <a:off x="201388" y="9599068"/>
            <a:ext cx="2330583" cy="507936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C00000"/>
          </a:solidFill>
          <a:ln w="3810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3" name="Freeform 25"/>
          <p:cNvSpPr/>
          <p:nvPr/>
        </p:nvSpPr>
        <p:spPr>
          <a:xfrm>
            <a:off x="10962285" y="8013530"/>
            <a:ext cx="2753715" cy="846308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1" name="Flèche : pentagone 20"/>
          <p:cNvSpPr/>
          <p:nvPr/>
        </p:nvSpPr>
        <p:spPr>
          <a:xfrm>
            <a:off x="3709699" y="2090830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Flèche : pentagone 29"/>
          <p:cNvSpPr/>
          <p:nvPr/>
        </p:nvSpPr>
        <p:spPr>
          <a:xfrm>
            <a:off x="3708563" y="2638150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Flèche : pentagone 32"/>
          <p:cNvSpPr/>
          <p:nvPr/>
        </p:nvSpPr>
        <p:spPr>
          <a:xfrm>
            <a:off x="3710465" y="2912568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Flèche : pentagone 60"/>
          <p:cNvSpPr/>
          <p:nvPr/>
        </p:nvSpPr>
        <p:spPr>
          <a:xfrm>
            <a:off x="3710465" y="3181408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Flèche : pentagone 61"/>
          <p:cNvSpPr/>
          <p:nvPr/>
        </p:nvSpPr>
        <p:spPr>
          <a:xfrm>
            <a:off x="3704746" y="3457493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Flèche : pentagone 63"/>
          <p:cNvSpPr/>
          <p:nvPr/>
        </p:nvSpPr>
        <p:spPr>
          <a:xfrm>
            <a:off x="3713540" y="4000044"/>
            <a:ext cx="180000" cy="96378"/>
          </a:xfrm>
          <a:prstGeom prst="homePlate">
            <a:avLst/>
          </a:prstGeom>
          <a:solidFill>
            <a:srgbClr val="229883"/>
          </a:solidFill>
          <a:ln>
            <a:solidFill>
              <a:srgbClr val="229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extBox 193"/>
          <p:cNvSpPr txBox="1"/>
          <p:nvPr/>
        </p:nvSpPr>
        <p:spPr>
          <a:xfrm>
            <a:off x="11032727" y="1427162"/>
            <a:ext cx="3375082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 algn="just">
              <a:lnSpc>
                <a:spcPts val="204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Prospection entrepreneurs locaux et investisseurs ESG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ts val="204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Salons énergie et événements business Afrique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ts val="2040"/>
              </a:lnSpc>
              <a:buFont typeface="Wingdings" panose="05000000000000000000" pitchFamily="2" charset="2"/>
              <a:buChar char="q"/>
            </a:pPr>
            <a:r>
              <a:rPr lang="fr-FR" dirty="0"/>
              <a:t>Appuis bailleurs pour crédibilité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ts val="204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de proximité, conseil personnalisé, démonstration terrain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ts val="204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Contrats maintenance long terme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ts val="204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Financement échelonné via banques et microfinance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ts val="204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Paiement mobile (fintech) 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93"/>
          <p:cNvSpPr txBox="1"/>
          <p:nvPr/>
        </p:nvSpPr>
        <p:spPr>
          <a:xfrm>
            <a:off x="10928172" y="4838700"/>
            <a:ext cx="3625835" cy="2564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04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Agences KYA-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SolarShop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showroom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4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franchisés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territoriale capillaire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4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Distributeurs et installateurs locaux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4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digital et réseaux sociaux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4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Salons énergie, foires et événements Afrique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4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institutionnelles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4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Banques locales et microfinance pour crédits clients, etc.</a:t>
            </a:r>
            <a:endParaRPr lang="fr-FR" sz="1700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124" name="TextBox 203"/>
          <p:cNvSpPr txBox="1"/>
          <p:nvPr/>
        </p:nvSpPr>
        <p:spPr>
          <a:xfrm>
            <a:off x="1855279" y="9079179"/>
            <a:ext cx="31143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Coûts total du projet Sur 11 ans</a:t>
            </a:r>
            <a:endParaRPr lang="en-US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6 821 814 000 F CFA</a:t>
            </a:r>
            <a:endParaRPr lang="en-US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25" name="TextBox 203"/>
          <p:cNvSpPr txBox="1"/>
          <p:nvPr/>
        </p:nvSpPr>
        <p:spPr>
          <a:xfrm>
            <a:off x="289919" y="9608733"/>
            <a:ext cx="210520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Financement sollicité </a:t>
            </a:r>
            <a:endParaRPr lang="en-US" sz="160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4 775 269 800 F CFA</a:t>
            </a:r>
            <a:endParaRPr lang="en-US" sz="160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26" name="TextBox 203"/>
          <p:cNvSpPr txBox="1"/>
          <p:nvPr/>
        </p:nvSpPr>
        <p:spPr>
          <a:xfrm>
            <a:off x="4779252" y="9590576"/>
            <a:ext cx="2275071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Apport en fonds propres 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2 046 544 200 F CFA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30" name="TextBox 203"/>
          <p:cNvSpPr txBox="1"/>
          <p:nvPr/>
        </p:nvSpPr>
        <p:spPr>
          <a:xfrm>
            <a:off x="10981816" y="8068576"/>
            <a:ext cx="2657984" cy="784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Droit d'entrée franchise</a:t>
            </a:r>
            <a:endParaRPr lang="fr-FR" sz="17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/>
            <a:r>
              <a:rPr lang="fr-FR" sz="17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Par agence</a:t>
            </a:r>
            <a:endParaRPr lang="fr-FR" sz="17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/>
            <a:r>
              <a:rPr lang="fr-FR" sz="17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Revenu initial à l'ouverture</a:t>
            </a:r>
            <a:endParaRPr lang="en-US" sz="17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5" name="TextBox 5"/>
          <p:cNvSpPr txBox="1"/>
          <p:nvPr/>
        </p:nvSpPr>
        <p:spPr>
          <a:xfrm>
            <a:off x="8003" y="3352266"/>
            <a:ext cx="3583765" cy="1322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Partenaires Techniques :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HITECH </a:t>
            </a:r>
            <a:r>
              <a:rPr lang="en-US" sz="1700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(batteries lithium)</a:t>
            </a:r>
            <a:endParaRPr lang="en-US" sz="1700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Jinko Solar </a:t>
            </a:r>
            <a:r>
              <a:rPr lang="en-US" sz="1700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(modules PV)</a:t>
            </a:r>
            <a:endParaRPr lang="en-US" sz="1700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Voltronics </a:t>
            </a:r>
            <a:r>
              <a:rPr lang="en-US" sz="1700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(onduleurs)</a:t>
            </a:r>
            <a:endParaRPr lang="en-US" sz="1700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ASRI </a:t>
            </a:r>
            <a:r>
              <a:rPr lang="en-US" sz="1700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(recyclage)</a:t>
            </a:r>
            <a:endParaRPr lang="en-US" sz="1700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74" name="TextBox 5"/>
          <p:cNvSpPr txBox="1"/>
          <p:nvPr/>
        </p:nvSpPr>
        <p:spPr>
          <a:xfrm>
            <a:off x="8003" y="4816620"/>
            <a:ext cx="3583765" cy="1322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Partenaires institutionnels :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Collectivités et ministères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Distributeurs et installateurs locaux dans chaque pays d'implantation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107" name="TextBox 5"/>
          <p:cNvSpPr txBox="1"/>
          <p:nvPr/>
        </p:nvSpPr>
        <p:spPr>
          <a:xfrm>
            <a:off x="8003" y="6280975"/>
            <a:ext cx="3583765" cy="1061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Partenaires marketing :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Agences de communication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Plateformes fintech et paiement mobile</a:t>
            </a:r>
            <a:endParaRPr lang="fr-FR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119" name="TextBox 190"/>
          <p:cNvSpPr txBox="1"/>
          <p:nvPr/>
        </p:nvSpPr>
        <p:spPr>
          <a:xfrm>
            <a:off x="3915545" y="1993814"/>
            <a:ext cx="299890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Déploiement et aménagement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agence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Box 190"/>
          <p:cNvSpPr txBox="1"/>
          <p:nvPr/>
        </p:nvSpPr>
        <p:spPr>
          <a:xfrm>
            <a:off x="3915545" y="2542913"/>
            <a:ext cx="3228501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gamme complète KYA- SoP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TextBox 190"/>
          <p:cNvSpPr txBox="1"/>
          <p:nvPr/>
        </p:nvSpPr>
        <p:spPr>
          <a:xfrm>
            <a:off x="3915545" y="2815013"/>
            <a:ext cx="3228501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de maintenance et SAV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Box 190"/>
          <p:cNvSpPr txBox="1"/>
          <p:nvPr/>
        </p:nvSpPr>
        <p:spPr>
          <a:xfrm>
            <a:off x="3915545" y="3087113"/>
            <a:ext cx="3228501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Pilotage du réseau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(ERP, CRM)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Box 190"/>
          <p:cNvSpPr txBox="1"/>
          <p:nvPr/>
        </p:nvSpPr>
        <p:spPr>
          <a:xfrm>
            <a:off x="3915545" y="3359213"/>
            <a:ext cx="3228501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national et régional,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salons Afrique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Box 190"/>
          <p:cNvSpPr txBox="1"/>
          <p:nvPr/>
        </p:nvSpPr>
        <p:spPr>
          <a:xfrm>
            <a:off x="3915545" y="3908313"/>
            <a:ext cx="3228501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R&amp;D continue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technologique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Box 115"/>
          <p:cNvSpPr txBox="1"/>
          <p:nvPr/>
        </p:nvSpPr>
        <p:spPr>
          <a:xfrm>
            <a:off x="3921406" y="417133"/>
            <a:ext cx="12165468" cy="6974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</a:pPr>
            <a:r>
              <a:rPr lang="fr-FR" sz="23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Des solutions énergétiques solaires fiables, standardisées et accessibles déployées via un réseau de franchises clé-en-main certifiées ISO 9001, au plus près des communautés africaines.</a:t>
            </a:r>
            <a:endParaRPr lang="en-US" sz="23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49" name="TextBox 193"/>
          <p:cNvSpPr txBox="1"/>
          <p:nvPr/>
        </p:nvSpPr>
        <p:spPr>
          <a:xfrm>
            <a:off x="14658512" y="6379264"/>
            <a:ext cx="227492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Zones géographiques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TextBox 193"/>
          <p:cNvSpPr txBox="1"/>
          <p:nvPr/>
        </p:nvSpPr>
        <p:spPr>
          <a:xfrm>
            <a:off x="14664274" y="6707701"/>
            <a:ext cx="3528000" cy="553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Togo (10 agences)</a:t>
            </a:r>
            <a:endParaRPr lang="fr-FR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Puis 15 en Afrique sub-saharienne</a:t>
            </a:r>
            <a:endParaRPr lang="fr-FR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Freeform 67"/>
          <p:cNvSpPr/>
          <p:nvPr/>
        </p:nvSpPr>
        <p:spPr>
          <a:xfrm>
            <a:off x="182969" y="7963259"/>
            <a:ext cx="3436645" cy="1040276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38100" cap="sq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52" name="TextBox 203"/>
          <p:cNvSpPr txBox="1"/>
          <p:nvPr/>
        </p:nvSpPr>
        <p:spPr>
          <a:xfrm>
            <a:off x="227600" y="7973061"/>
            <a:ext cx="3381043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CAPEX Investissements</a:t>
            </a:r>
            <a:endParaRPr lang="en-US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342900" indent="-342900" algn="ctr">
              <a:lnSpc>
                <a:spcPts val="1920"/>
              </a:lnSpc>
              <a:buAutoNum type="arabicPlain" startAt="642"/>
            </a:pPr>
            <a:r>
              <a:rPr lang="en-US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000 000 F CFA</a:t>
            </a:r>
            <a:endParaRPr lang="en-US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just">
              <a:lnSpc>
                <a:spcPts val="1920"/>
              </a:lnSpc>
            </a:pPr>
            <a:r>
              <a:rPr lang="en-US" sz="1600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CAPEX Togo : 19,2 M FCFA/Agence</a:t>
            </a:r>
            <a:endParaRPr lang="en-US" sz="1600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just">
              <a:lnSpc>
                <a:spcPts val="1920"/>
              </a:lnSpc>
            </a:pPr>
            <a:r>
              <a:rPr lang="en-US" sz="1600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CAPEX Afrique : 30 M FCFA/Agence</a:t>
            </a:r>
            <a:endParaRPr lang="en-US" sz="1600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55" name="Freeform 67"/>
          <p:cNvSpPr/>
          <p:nvPr/>
        </p:nvSpPr>
        <p:spPr>
          <a:xfrm>
            <a:off x="3713540" y="7982794"/>
            <a:ext cx="3384825" cy="1035660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38100" cap="sq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56" name="TextBox 203"/>
          <p:cNvSpPr txBox="1"/>
          <p:nvPr/>
        </p:nvSpPr>
        <p:spPr>
          <a:xfrm>
            <a:off x="3780732" y="8025508"/>
            <a:ext cx="3252629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Coûts d’exploitation</a:t>
            </a:r>
            <a:endParaRPr lang="fr-FR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6 179 814 000 F CFA</a:t>
            </a:r>
            <a:endParaRPr lang="fr-FR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just">
              <a:lnSpc>
                <a:spcPts val="1920"/>
              </a:lnSpc>
            </a:pPr>
            <a:r>
              <a:rPr lang="fr-FR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OPEX Togo : 2 288 670 000 F CFA</a:t>
            </a:r>
            <a:endParaRPr lang="fr-FR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just">
              <a:lnSpc>
                <a:spcPts val="1920"/>
              </a:lnSpc>
            </a:pPr>
            <a:r>
              <a:rPr lang="fr-FR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OPEX Afrique : 3 891 144 000 F CFA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57" name="Freeform 25"/>
          <p:cNvSpPr/>
          <p:nvPr/>
        </p:nvSpPr>
        <p:spPr>
          <a:xfrm>
            <a:off x="13851021" y="8013530"/>
            <a:ext cx="4168683" cy="846308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58" name="TextBox 203"/>
          <p:cNvSpPr txBox="1"/>
          <p:nvPr/>
        </p:nvSpPr>
        <p:spPr>
          <a:xfrm>
            <a:off x="13860302" y="7998755"/>
            <a:ext cx="4150121" cy="784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Marges sur ventes de produits</a:t>
            </a:r>
            <a:endParaRPr lang="fr-FR" sz="17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/>
            <a:r>
              <a:rPr lang="fr-FR" sz="17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Récurrentes</a:t>
            </a:r>
            <a:endParaRPr lang="fr-FR" sz="17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/>
            <a:r>
              <a:rPr lang="fr-FR" sz="17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KYA-SoP, batteries, lampadaires, onduleurs</a:t>
            </a:r>
            <a:endParaRPr lang="en-US" sz="17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59" name="Freeform 25"/>
          <p:cNvSpPr/>
          <p:nvPr/>
        </p:nvSpPr>
        <p:spPr>
          <a:xfrm>
            <a:off x="10955912" y="8927959"/>
            <a:ext cx="3625835" cy="846308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60" name="TextBox 203"/>
          <p:cNvSpPr txBox="1"/>
          <p:nvPr/>
        </p:nvSpPr>
        <p:spPr>
          <a:xfrm>
            <a:off x="10896600" y="8962749"/>
            <a:ext cx="3666326" cy="75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Services récurrents</a:t>
            </a:r>
            <a:endParaRPr lang="fr-FR" sz="17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r>
              <a:rPr lang="fr-FR" sz="1600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Contrats de maintenance et SAV</a:t>
            </a:r>
            <a:endParaRPr lang="fr-FR" sz="1600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r>
              <a:rPr lang="fr-FR" sz="1600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Formations et renforcement de capacités</a:t>
            </a:r>
            <a:endParaRPr lang="fr-FR" sz="1600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61" name="TextBox 203"/>
          <p:cNvSpPr txBox="1"/>
          <p:nvPr/>
        </p:nvSpPr>
        <p:spPr>
          <a:xfrm>
            <a:off x="11028318" y="9826961"/>
            <a:ext cx="6934200" cy="276999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Résultats nets cumulés sur la durée du projet : </a:t>
            </a:r>
            <a:r>
              <a:rPr lang="en-US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5 680 532 048 F CFA</a:t>
            </a:r>
            <a:endParaRPr lang="en-US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62" name="TextBox 203"/>
          <p:cNvSpPr txBox="1"/>
          <p:nvPr/>
        </p:nvSpPr>
        <p:spPr>
          <a:xfrm>
            <a:off x="14715168" y="9232778"/>
            <a:ext cx="3268328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Résultat positif dès Année 2</a:t>
            </a:r>
            <a:endParaRPr lang="fr-FR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/>
            <a:r>
              <a:rPr lang="fr-FR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423 163 → 836 M F CFA / an</a:t>
            </a:r>
            <a:endParaRPr lang="en-US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63" name="Freeform 25"/>
          <p:cNvSpPr/>
          <p:nvPr/>
        </p:nvSpPr>
        <p:spPr>
          <a:xfrm>
            <a:off x="14716162" y="8887885"/>
            <a:ext cx="3267333" cy="304800"/>
          </a:xfrm>
          <a:prstGeom prst="rect">
            <a:avLst/>
          </a:prstGeom>
          <a:solidFill>
            <a:srgbClr val="002060"/>
          </a:solidFill>
          <a:ln w="28575" cap="sq">
            <a:solidFill>
              <a:srgbClr val="00B05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65" name="TextBox 205"/>
          <p:cNvSpPr txBox="1"/>
          <p:nvPr/>
        </p:nvSpPr>
        <p:spPr>
          <a:xfrm>
            <a:off x="14635363" y="8918932"/>
            <a:ext cx="1222124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TRI : </a:t>
            </a:r>
            <a:r>
              <a:rPr lang="fr-F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%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166" name="TextBox 205"/>
          <p:cNvSpPr txBox="1"/>
          <p:nvPr/>
        </p:nvSpPr>
        <p:spPr>
          <a:xfrm>
            <a:off x="15937671" y="8899701"/>
            <a:ext cx="2057400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VAN : 3,159Mds FCFA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5" name="TextBox 190"/>
          <p:cNvSpPr txBox="1"/>
          <p:nvPr/>
        </p:nvSpPr>
        <p:spPr>
          <a:xfrm>
            <a:off x="3677971" y="4942255"/>
            <a:ext cx="3514725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Prof. Yao AZOUMAH </a:t>
            </a:r>
            <a:r>
              <a:rPr lang="en-US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expertise reconnue, réseau panafricain</a:t>
            </a:r>
            <a:endParaRPr lang="fr-FR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Équipe KYA : direction, ingénieurs, formateurs, commerciaux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Stocks de produits assemblés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localement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 9001 + marque KYA + protocoles standardisés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e 215"/>
          <p:cNvGrpSpPr/>
          <p:nvPr/>
        </p:nvGrpSpPr>
        <p:grpSpPr>
          <a:xfrm>
            <a:off x="10952540" y="4553176"/>
            <a:ext cx="3592649" cy="2841001"/>
            <a:chOff x="10952540" y="4553176"/>
            <a:chExt cx="3592649" cy="2841001"/>
          </a:xfrm>
        </p:grpSpPr>
        <p:grpSp>
          <p:nvGrpSpPr>
            <p:cNvPr id="32" name="Group 32"/>
            <p:cNvGrpSpPr/>
            <p:nvPr/>
          </p:nvGrpSpPr>
          <p:grpSpPr>
            <a:xfrm>
              <a:off x="10952540" y="4553176"/>
              <a:ext cx="3592649" cy="2841001"/>
              <a:chOff x="0" y="0"/>
              <a:chExt cx="960249" cy="75934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960249" cy="759347"/>
              </a:xfrm>
              <a:custGeom>
                <a:avLst/>
                <a:gdLst/>
                <a:ahLst/>
                <a:cxnLst/>
                <a:rect l="l" t="t" r="r" b="b"/>
                <a:pathLst>
                  <a:path w="960249" h="759347">
                    <a:moveTo>
                      <a:pt x="30169" y="0"/>
                    </a:moveTo>
                    <a:lnTo>
                      <a:pt x="930080" y="0"/>
                    </a:lnTo>
                    <a:cubicBezTo>
                      <a:pt x="938081" y="0"/>
                      <a:pt x="945755" y="3179"/>
                      <a:pt x="951412" y="8836"/>
                    </a:cubicBezTo>
                    <a:cubicBezTo>
                      <a:pt x="957070" y="14494"/>
                      <a:pt x="960249" y="22168"/>
                      <a:pt x="960249" y="30169"/>
                    </a:cubicBezTo>
                    <a:lnTo>
                      <a:pt x="960249" y="729178"/>
                    </a:lnTo>
                    <a:cubicBezTo>
                      <a:pt x="960249" y="737179"/>
                      <a:pt x="957070" y="744853"/>
                      <a:pt x="951412" y="750511"/>
                    </a:cubicBezTo>
                    <a:cubicBezTo>
                      <a:pt x="945755" y="756168"/>
                      <a:pt x="938081" y="759347"/>
                      <a:pt x="930080" y="759347"/>
                    </a:cubicBezTo>
                    <a:lnTo>
                      <a:pt x="30169" y="759347"/>
                    </a:lnTo>
                    <a:cubicBezTo>
                      <a:pt x="13507" y="759347"/>
                      <a:pt x="0" y="745840"/>
                      <a:pt x="0" y="729178"/>
                    </a:cubicBezTo>
                    <a:lnTo>
                      <a:pt x="0" y="30169"/>
                    </a:lnTo>
                    <a:cubicBezTo>
                      <a:pt x="0" y="22168"/>
                      <a:pt x="3179" y="14494"/>
                      <a:pt x="8836" y="8836"/>
                    </a:cubicBezTo>
                    <a:cubicBezTo>
                      <a:pt x="14494" y="3179"/>
                      <a:pt x="22168" y="0"/>
                      <a:pt x="301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EBF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19050"/>
                <a:ext cx="960249" cy="7783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id="208" name="Flèche : pentagone 207"/>
            <p:cNvSpPr/>
            <p:nvPr/>
          </p:nvSpPr>
          <p:spPr>
            <a:xfrm>
              <a:off x="10970282" y="4971435"/>
              <a:ext cx="180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9" name="Flèche : pentagone 208"/>
            <p:cNvSpPr/>
            <p:nvPr/>
          </p:nvSpPr>
          <p:spPr>
            <a:xfrm>
              <a:off x="10984644" y="5447143"/>
              <a:ext cx="180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0" name="Flèche : pentagone 209"/>
            <p:cNvSpPr/>
            <p:nvPr/>
          </p:nvSpPr>
          <p:spPr>
            <a:xfrm>
              <a:off x="10976900" y="5930981"/>
              <a:ext cx="180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1" name="Flèche : pentagone 210"/>
            <p:cNvSpPr/>
            <p:nvPr/>
          </p:nvSpPr>
          <p:spPr>
            <a:xfrm>
              <a:off x="10977308" y="6414819"/>
              <a:ext cx="180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2" name="Flèche : pentagone 211"/>
            <p:cNvSpPr/>
            <p:nvPr/>
          </p:nvSpPr>
          <p:spPr>
            <a:xfrm>
              <a:off x="10986147" y="6669503"/>
              <a:ext cx="180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3" name="Flèche : pentagone 212"/>
            <p:cNvSpPr/>
            <p:nvPr/>
          </p:nvSpPr>
          <p:spPr>
            <a:xfrm>
              <a:off x="10984071" y="6908042"/>
              <a:ext cx="180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4" name="Flèche : pentagone 213"/>
            <p:cNvSpPr/>
            <p:nvPr/>
          </p:nvSpPr>
          <p:spPr>
            <a:xfrm>
              <a:off x="10984071" y="7146581"/>
              <a:ext cx="180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07" name="Groupe 206"/>
          <p:cNvGrpSpPr/>
          <p:nvPr/>
        </p:nvGrpSpPr>
        <p:grpSpPr>
          <a:xfrm>
            <a:off x="3687288" y="4562701"/>
            <a:ext cx="3505409" cy="2841001"/>
            <a:chOff x="3687288" y="4562701"/>
            <a:chExt cx="3505409" cy="2841001"/>
          </a:xfrm>
        </p:grpSpPr>
        <p:grpSp>
          <p:nvGrpSpPr>
            <p:cNvPr id="26" name="Group 26"/>
            <p:cNvGrpSpPr/>
            <p:nvPr/>
          </p:nvGrpSpPr>
          <p:grpSpPr>
            <a:xfrm>
              <a:off x="3687497" y="4562701"/>
              <a:ext cx="3505200" cy="2841001"/>
              <a:chOff x="0" y="0"/>
              <a:chExt cx="936875" cy="75934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936875" cy="759347"/>
              </a:xfrm>
              <a:custGeom>
                <a:avLst/>
                <a:gdLst/>
                <a:ahLst/>
                <a:cxnLst/>
                <a:rect l="l" t="t" r="r" b="b"/>
                <a:pathLst>
                  <a:path w="936875" h="759347">
                    <a:moveTo>
                      <a:pt x="30922" y="0"/>
                    </a:moveTo>
                    <a:lnTo>
                      <a:pt x="905953" y="0"/>
                    </a:lnTo>
                    <a:cubicBezTo>
                      <a:pt x="914154" y="0"/>
                      <a:pt x="922019" y="3258"/>
                      <a:pt x="927818" y="9057"/>
                    </a:cubicBezTo>
                    <a:cubicBezTo>
                      <a:pt x="933617" y="14856"/>
                      <a:pt x="936875" y="22721"/>
                      <a:pt x="936875" y="30922"/>
                    </a:cubicBezTo>
                    <a:lnTo>
                      <a:pt x="936875" y="728425"/>
                    </a:lnTo>
                    <a:cubicBezTo>
                      <a:pt x="936875" y="745503"/>
                      <a:pt x="923031" y="759347"/>
                      <a:pt x="905953" y="759347"/>
                    </a:cubicBezTo>
                    <a:lnTo>
                      <a:pt x="30922" y="759347"/>
                    </a:lnTo>
                    <a:cubicBezTo>
                      <a:pt x="13844" y="759347"/>
                      <a:pt x="0" y="745503"/>
                      <a:pt x="0" y="728425"/>
                    </a:cubicBezTo>
                    <a:lnTo>
                      <a:pt x="0" y="30922"/>
                    </a:lnTo>
                    <a:cubicBezTo>
                      <a:pt x="0" y="13844"/>
                      <a:pt x="13844" y="0"/>
                      <a:pt x="309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2988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19050"/>
                <a:ext cx="936875" cy="7783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id="201" name="Flèche : pentagone 200"/>
            <p:cNvSpPr/>
            <p:nvPr/>
          </p:nvSpPr>
          <p:spPr>
            <a:xfrm>
              <a:off x="3703758" y="5047122"/>
              <a:ext cx="180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2" name="Flèche : pentagone 201"/>
            <p:cNvSpPr/>
            <p:nvPr/>
          </p:nvSpPr>
          <p:spPr>
            <a:xfrm>
              <a:off x="3703758" y="5265936"/>
              <a:ext cx="180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3" name="Flèche : pentagone 202"/>
            <p:cNvSpPr/>
            <p:nvPr/>
          </p:nvSpPr>
          <p:spPr>
            <a:xfrm>
              <a:off x="3687288" y="5752978"/>
              <a:ext cx="180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4" name="Flèche : pentagone 203"/>
            <p:cNvSpPr/>
            <p:nvPr/>
          </p:nvSpPr>
          <p:spPr>
            <a:xfrm>
              <a:off x="3689022" y="6240020"/>
              <a:ext cx="180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5" name="Flèche : pentagone 204"/>
            <p:cNvSpPr/>
            <p:nvPr/>
          </p:nvSpPr>
          <p:spPr>
            <a:xfrm>
              <a:off x="3691229" y="6459457"/>
              <a:ext cx="180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6" name="Flèche : pentagone 205"/>
            <p:cNvSpPr/>
            <p:nvPr/>
          </p:nvSpPr>
          <p:spPr>
            <a:xfrm>
              <a:off x="3714132" y="6968334"/>
              <a:ext cx="180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00" name="Groupe 199"/>
          <p:cNvGrpSpPr/>
          <p:nvPr/>
        </p:nvGrpSpPr>
        <p:grpSpPr>
          <a:xfrm>
            <a:off x="3713540" y="1165588"/>
            <a:ext cx="3505200" cy="3263764"/>
            <a:chOff x="3713540" y="1165588"/>
            <a:chExt cx="3505200" cy="3263764"/>
          </a:xfrm>
        </p:grpSpPr>
        <p:grpSp>
          <p:nvGrpSpPr>
            <p:cNvPr id="14" name="Group 14"/>
            <p:cNvGrpSpPr/>
            <p:nvPr/>
          </p:nvGrpSpPr>
          <p:grpSpPr>
            <a:xfrm>
              <a:off x="3713540" y="1165588"/>
              <a:ext cx="3505200" cy="3263764"/>
              <a:chOff x="0" y="0"/>
              <a:chExt cx="936875" cy="87234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36875" cy="872344"/>
              </a:xfrm>
              <a:custGeom>
                <a:avLst/>
                <a:gdLst/>
                <a:ahLst/>
                <a:cxnLst/>
                <a:rect l="l" t="t" r="r" b="b"/>
                <a:pathLst>
                  <a:path w="936875" h="872344">
                    <a:moveTo>
                      <a:pt x="30922" y="0"/>
                    </a:moveTo>
                    <a:lnTo>
                      <a:pt x="905953" y="0"/>
                    </a:lnTo>
                    <a:cubicBezTo>
                      <a:pt x="914154" y="0"/>
                      <a:pt x="922019" y="3258"/>
                      <a:pt x="927818" y="9057"/>
                    </a:cubicBezTo>
                    <a:cubicBezTo>
                      <a:pt x="933617" y="14856"/>
                      <a:pt x="936875" y="22721"/>
                      <a:pt x="936875" y="30922"/>
                    </a:cubicBezTo>
                    <a:lnTo>
                      <a:pt x="936875" y="841422"/>
                    </a:lnTo>
                    <a:cubicBezTo>
                      <a:pt x="936875" y="858500"/>
                      <a:pt x="923031" y="872344"/>
                      <a:pt x="905953" y="872344"/>
                    </a:cubicBezTo>
                    <a:lnTo>
                      <a:pt x="30922" y="872344"/>
                    </a:lnTo>
                    <a:cubicBezTo>
                      <a:pt x="22721" y="872344"/>
                      <a:pt x="14856" y="869086"/>
                      <a:pt x="9057" y="863287"/>
                    </a:cubicBezTo>
                    <a:cubicBezTo>
                      <a:pt x="3258" y="857488"/>
                      <a:pt x="0" y="849623"/>
                      <a:pt x="0" y="841422"/>
                    </a:cubicBezTo>
                    <a:lnTo>
                      <a:pt x="0" y="30922"/>
                    </a:lnTo>
                    <a:cubicBezTo>
                      <a:pt x="0" y="13844"/>
                      <a:pt x="13844" y="0"/>
                      <a:pt x="309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2988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936875" cy="89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id="160" name="Flèche : pentagone 159"/>
            <p:cNvSpPr/>
            <p:nvPr/>
          </p:nvSpPr>
          <p:spPr>
            <a:xfrm>
              <a:off x="3744032" y="1614623"/>
              <a:ext cx="180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89" name="Flèche : pentagone 188"/>
            <p:cNvSpPr/>
            <p:nvPr/>
          </p:nvSpPr>
          <p:spPr>
            <a:xfrm>
              <a:off x="3726615" y="2077024"/>
              <a:ext cx="180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90" name="Flèche : pentagone 189"/>
            <p:cNvSpPr/>
            <p:nvPr/>
          </p:nvSpPr>
          <p:spPr>
            <a:xfrm>
              <a:off x="3735440" y="2559220"/>
              <a:ext cx="180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91" name="Flèche : pentagone 190"/>
            <p:cNvSpPr/>
            <p:nvPr/>
          </p:nvSpPr>
          <p:spPr>
            <a:xfrm>
              <a:off x="3744032" y="3029925"/>
              <a:ext cx="180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92" name="Flèche : pentagone 191"/>
            <p:cNvSpPr/>
            <p:nvPr/>
          </p:nvSpPr>
          <p:spPr>
            <a:xfrm>
              <a:off x="3751870" y="3524770"/>
              <a:ext cx="180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93" name="Flèche : pentagone 192"/>
            <p:cNvSpPr/>
            <p:nvPr/>
          </p:nvSpPr>
          <p:spPr>
            <a:xfrm>
              <a:off x="3746844" y="4008249"/>
              <a:ext cx="180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10428" y="1149928"/>
            <a:ext cx="3505200" cy="6234724"/>
            <a:chOff x="0" y="0"/>
            <a:chExt cx="936875" cy="16664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6875" cy="1666426"/>
            </a:xfrm>
            <a:custGeom>
              <a:avLst/>
              <a:gdLst/>
              <a:ahLst/>
              <a:cxnLst/>
              <a:rect l="l" t="t" r="r" b="b"/>
              <a:pathLst>
                <a:path w="936875" h="1666426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1635505"/>
                  </a:lnTo>
                  <a:cubicBezTo>
                    <a:pt x="936875" y="1652582"/>
                    <a:pt x="923031" y="1666426"/>
                    <a:pt x="905953" y="1666426"/>
                  </a:cubicBezTo>
                  <a:lnTo>
                    <a:pt x="30922" y="1666426"/>
                  </a:lnTo>
                  <a:cubicBezTo>
                    <a:pt x="22721" y="1666426"/>
                    <a:pt x="14856" y="1663169"/>
                    <a:pt x="9057" y="1657370"/>
                  </a:cubicBezTo>
                  <a:cubicBezTo>
                    <a:pt x="3258" y="1651571"/>
                    <a:pt x="0" y="1643706"/>
                    <a:pt x="0" y="1635505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36875" cy="1685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578" y="7542042"/>
            <a:ext cx="7100587" cy="2621779"/>
            <a:chOff x="0" y="0"/>
            <a:chExt cx="1897855" cy="7007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97855" cy="700753"/>
            </a:xfrm>
            <a:custGeom>
              <a:avLst/>
              <a:gdLst/>
              <a:ahLst/>
              <a:cxnLst/>
              <a:rect l="l" t="t" r="r" b="b"/>
              <a:pathLst>
                <a:path w="1897855" h="700753">
                  <a:moveTo>
                    <a:pt x="15264" y="0"/>
                  </a:moveTo>
                  <a:lnTo>
                    <a:pt x="1882591" y="0"/>
                  </a:lnTo>
                  <a:cubicBezTo>
                    <a:pt x="1891021" y="0"/>
                    <a:pt x="1897855" y="6834"/>
                    <a:pt x="1897855" y="15264"/>
                  </a:cubicBezTo>
                  <a:lnTo>
                    <a:pt x="1897855" y="685489"/>
                  </a:lnTo>
                  <a:cubicBezTo>
                    <a:pt x="1897855" y="693919"/>
                    <a:pt x="1891021" y="700753"/>
                    <a:pt x="1882591" y="700753"/>
                  </a:cubicBezTo>
                  <a:lnTo>
                    <a:pt x="15264" y="700753"/>
                  </a:lnTo>
                  <a:cubicBezTo>
                    <a:pt x="6834" y="700753"/>
                    <a:pt x="0" y="693919"/>
                    <a:pt x="0" y="685489"/>
                  </a:cubicBezTo>
                  <a:lnTo>
                    <a:pt x="0" y="15264"/>
                  </a:lnTo>
                  <a:cubicBezTo>
                    <a:pt x="0" y="6834"/>
                    <a:pt x="6834" y="0"/>
                    <a:pt x="152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897855" cy="71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66815" y="7542042"/>
            <a:ext cx="7273748" cy="2621779"/>
            <a:chOff x="0" y="0"/>
            <a:chExt cx="1944138" cy="7007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44138" cy="700753"/>
            </a:xfrm>
            <a:custGeom>
              <a:avLst/>
              <a:gdLst/>
              <a:ahLst/>
              <a:cxnLst/>
              <a:rect l="l" t="t" r="r" b="b"/>
              <a:pathLst>
                <a:path w="1944138" h="700753">
                  <a:moveTo>
                    <a:pt x="14901" y="0"/>
                  </a:moveTo>
                  <a:lnTo>
                    <a:pt x="1929237" y="0"/>
                  </a:lnTo>
                  <a:cubicBezTo>
                    <a:pt x="1933189" y="0"/>
                    <a:pt x="1936979" y="1570"/>
                    <a:pt x="1939774" y="4364"/>
                  </a:cubicBezTo>
                  <a:cubicBezTo>
                    <a:pt x="1942568" y="7159"/>
                    <a:pt x="1944138" y="10949"/>
                    <a:pt x="1944138" y="14901"/>
                  </a:cubicBezTo>
                  <a:lnTo>
                    <a:pt x="1944138" y="685852"/>
                  </a:lnTo>
                  <a:cubicBezTo>
                    <a:pt x="1944138" y="689804"/>
                    <a:pt x="1942568" y="693594"/>
                    <a:pt x="1939774" y="696389"/>
                  </a:cubicBezTo>
                  <a:cubicBezTo>
                    <a:pt x="1936979" y="699183"/>
                    <a:pt x="1933189" y="700753"/>
                    <a:pt x="1929237" y="700753"/>
                  </a:cubicBezTo>
                  <a:lnTo>
                    <a:pt x="14901" y="700753"/>
                  </a:lnTo>
                  <a:cubicBezTo>
                    <a:pt x="10949" y="700753"/>
                    <a:pt x="7159" y="699183"/>
                    <a:pt x="4364" y="696389"/>
                  </a:cubicBezTo>
                  <a:cubicBezTo>
                    <a:pt x="1570" y="693594"/>
                    <a:pt x="0" y="689804"/>
                    <a:pt x="0" y="685852"/>
                  </a:cubicBezTo>
                  <a:lnTo>
                    <a:pt x="0" y="14901"/>
                  </a:lnTo>
                  <a:cubicBezTo>
                    <a:pt x="0" y="10949"/>
                    <a:pt x="1570" y="7159"/>
                    <a:pt x="4364" y="4364"/>
                  </a:cubicBezTo>
                  <a:cubicBezTo>
                    <a:pt x="7159" y="1570"/>
                    <a:pt x="10949" y="0"/>
                    <a:pt x="1490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44138" cy="71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841039" y="7565627"/>
            <a:ext cx="7273748" cy="366344"/>
            <a:chOff x="0" y="0"/>
            <a:chExt cx="1944138" cy="979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44138" cy="97917"/>
            </a:xfrm>
            <a:custGeom>
              <a:avLst/>
              <a:gdLst/>
              <a:ahLst/>
              <a:cxnLst/>
              <a:rect l="l" t="t" r="r" b="b"/>
              <a:pathLst>
                <a:path w="1944138" h="97917">
                  <a:moveTo>
                    <a:pt x="14901" y="0"/>
                  </a:moveTo>
                  <a:lnTo>
                    <a:pt x="1929237" y="0"/>
                  </a:lnTo>
                  <a:cubicBezTo>
                    <a:pt x="1933189" y="0"/>
                    <a:pt x="1936979" y="1570"/>
                    <a:pt x="1939774" y="4364"/>
                  </a:cubicBezTo>
                  <a:cubicBezTo>
                    <a:pt x="1942568" y="7159"/>
                    <a:pt x="1944138" y="10949"/>
                    <a:pt x="1944138" y="14901"/>
                  </a:cubicBezTo>
                  <a:lnTo>
                    <a:pt x="1944138" y="83016"/>
                  </a:lnTo>
                  <a:cubicBezTo>
                    <a:pt x="1944138" y="86968"/>
                    <a:pt x="1942568" y="90758"/>
                    <a:pt x="1939774" y="93553"/>
                  </a:cubicBezTo>
                  <a:cubicBezTo>
                    <a:pt x="1936979" y="96347"/>
                    <a:pt x="1933189" y="97917"/>
                    <a:pt x="1929237" y="97917"/>
                  </a:cubicBezTo>
                  <a:lnTo>
                    <a:pt x="14901" y="97917"/>
                  </a:lnTo>
                  <a:cubicBezTo>
                    <a:pt x="10949" y="97917"/>
                    <a:pt x="7159" y="96347"/>
                    <a:pt x="4364" y="93553"/>
                  </a:cubicBezTo>
                  <a:cubicBezTo>
                    <a:pt x="1570" y="90758"/>
                    <a:pt x="0" y="86968"/>
                    <a:pt x="0" y="83016"/>
                  </a:cubicBezTo>
                  <a:lnTo>
                    <a:pt x="0" y="14901"/>
                  </a:lnTo>
                  <a:cubicBezTo>
                    <a:pt x="0" y="10949"/>
                    <a:pt x="1570" y="7159"/>
                    <a:pt x="4364" y="4364"/>
                  </a:cubicBezTo>
                  <a:cubicBezTo>
                    <a:pt x="7159" y="1570"/>
                    <a:pt x="10949" y="0"/>
                    <a:pt x="14901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44138" cy="116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90177" y="1149928"/>
            <a:ext cx="3505200" cy="6253774"/>
            <a:chOff x="0" y="0"/>
            <a:chExt cx="936875" cy="16715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36875" cy="1671518"/>
            </a:xfrm>
            <a:custGeom>
              <a:avLst/>
              <a:gdLst/>
              <a:ahLst/>
              <a:cxnLst/>
              <a:rect l="l" t="t" r="r" b="b"/>
              <a:pathLst>
                <a:path w="936875" h="1671518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1640596"/>
                  </a:lnTo>
                  <a:cubicBezTo>
                    <a:pt x="936875" y="1657674"/>
                    <a:pt x="923031" y="1671518"/>
                    <a:pt x="905953" y="1671518"/>
                  </a:cubicBezTo>
                  <a:lnTo>
                    <a:pt x="30922" y="1671518"/>
                  </a:lnTo>
                  <a:cubicBezTo>
                    <a:pt x="13844" y="1671518"/>
                    <a:pt x="0" y="1657674"/>
                    <a:pt x="0" y="1640596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936875" cy="169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635363" y="1165588"/>
            <a:ext cx="3505200" cy="6219064"/>
            <a:chOff x="0" y="0"/>
            <a:chExt cx="936875" cy="16622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6875" cy="1662241"/>
            </a:xfrm>
            <a:custGeom>
              <a:avLst/>
              <a:gdLst/>
              <a:ahLst/>
              <a:cxnLst/>
              <a:rect l="l" t="t" r="r" b="b"/>
              <a:pathLst>
                <a:path w="936875" h="1662241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1631319"/>
                  </a:lnTo>
                  <a:cubicBezTo>
                    <a:pt x="936875" y="1648397"/>
                    <a:pt x="923031" y="1662241"/>
                    <a:pt x="905953" y="1662241"/>
                  </a:cubicBezTo>
                  <a:lnTo>
                    <a:pt x="30922" y="1662241"/>
                  </a:lnTo>
                  <a:cubicBezTo>
                    <a:pt x="13844" y="1662241"/>
                    <a:pt x="0" y="1648397"/>
                    <a:pt x="0" y="1631319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936875" cy="1681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3768" y="8012055"/>
            <a:ext cx="2259402" cy="872417"/>
            <a:chOff x="0" y="0"/>
            <a:chExt cx="595069" cy="2297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95069" cy="229772"/>
            </a:xfrm>
            <a:custGeom>
              <a:avLst/>
              <a:gdLst/>
              <a:ahLst/>
              <a:cxnLst/>
              <a:rect l="l" t="t" r="r" b="b"/>
              <a:pathLst>
                <a:path w="595069" h="229772">
                  <a:moveTo>
                    <a:pt x="41118" y="0"/>
                  </a:moveTo>
                  <a:lnTo>
                    <a:pt x="553950" y="0"/>
                  </a:lnTo>
                  <a:cubicBezTo>
                    <a:pt x="576659" y="0"/>
                    <a:pt x="595069" y="18409"/>
                    <a:pt x="595069" y="41118"/>
                  </a:cubicBezTo>
                  <a:lnTo>
                    <a:pt x="595069" y="188654"/>
                  </a:lnTo>
                  <a:cubicBezTo>
                    <a:pt x="595069" y="199559"/>
                    <a:pt x="590737" y="210018"/>
                    <a:pt x="583025" y="217729"/>
                  </a:cubicBezTo>
                  <a:cubicBezTo>
                    <a:pt x="575314" y="225440"/>
                    <a:pt x="564856" y="229772"/>
                    <a:pt x="553950" y="229772"/>
                  </a:cubicBezTo>
                  <a:lnTo>
                    <a:pt x="41118" y="229772"/>
                  </a:lnTo>
                  <a:cubicBezTo>
                    <a:pt x="30213" y="229772"/>
                    <a:pt x="19755" y="225440"/>
                    <a:pt x="12043" y="217729"/>
                  </a:cubicBezTo>
                  <a:cubicBezTo>
                    <a:pt x="4332" y="210018"/>
                    <a:pt x="0" y="199559"/>
                    <a:pt x="0" y="188654"/>
                  </a:cubicBezTo>
                  <a:lnTo>
                    <a:pt x="0" y="41118"/>
                  </a:lnTo>
                  <a:cubicBezTo>
                    <a:pt x="0" y="30213"/>
                    <a:pt x="4332" y="19755"/>
                    <a:pt x="12043" y="12043"/>
                  </a:cubicBezTo>
                  <a:cubicBezTo>
                    <a:pt x="19755" y="4332"/>
                    <a:pt x="30213" y="0"/>
                    <a:pt x="41118" y="0"/>
                  </a:cubicBezTo>
                  <a:close/>
                </a:path>
              </a:pathLst>
            </a:custGeom>
            <a:solidFill>
              <a:srgbClr val="FAFEFC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595069" cy="248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998489" y="1165588"/>
            <a:ext cx="3505200" cy="3295078"/>
            <a:chOff x="0" y="0"/>
            <a:chExt cx="936875" cy="88071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36875" cy="880713"/>
            </a:xfrm>
            <a:custGeom>
              <a:avLst/>
              <a:gdLst/>
              <a:ahLst/>
              <a:cxnLst/>
              <a:rect l="l" t="t" r="r" b="b"/>
              <a:pathLst>
                <a:path w="936875" h="880713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849792"/>
                  </a:lnTo>
                  <a:cubicBezTo>
                    <a:pt x="936875" y="866869"/>
                    <a:pt x="923031" y="880713"/>
                    <a:pt x="905953" y="880713"/>
                  </a:cubicBezTo>
                  <a:lnTo>
                    <a:pt x="30922" y="880713"/>
                  </a:lnTo>
                  <a:cubicBezTo>
                    <a:pt x="22721" y="880713"/>
                    <a:pt x="14856" y="877455"/>
                    <a:pt x="9057" y="871656"/>
                  </a:cubicBezTo>
                  <a:cubicBezTo>
                    <a:pt x="3258" y="865858"/>
                    <a:pt x="0" y="857992"/>
                    <a:pt x="0" y="849792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936875" cy="899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0"/>
            <a:ext cx="1126809" cy="1126809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8025" y="0"/>
                  </a:moveTo>
                  <a:lnTo>
                    <a:pt x="654775" y="0"/>
                  </a:lnTo>
                  <a:cubicBezTo>
                    <a:pt x="742050" y="0"/>
                    <a:pt x="812800" y="70750"/>
                    <a:pt x="812800" y="158025"/>
                  </a:cubicBezTo>
                  <a:lnTo>
                    <a:pt x="812800" y="654775"/>
                  </a:lnTo>
                  <a:cubicBezTo>
                    <a:pt x="812800" y="742050"/>
                    <a:pt x="742050" y="812800"/>
                    <a:pt x="654775" y="812800"/>
                  </a:cubicBezTo>
                  <a:lnTo>
                    <a:pt x="158025" y="812800"/>
                  </a:lnTo>
                  <a:cubicBezTo>
                    <a:pt x="70750" y="812800"/>
                    <a:pt x="0" y="742050"/>
                    <a:pt x="0" y="654775"/>
                  </a:cubicBezTo>
                  <a:lnTo>
                    <a:pt x="0" y="158025"/>
                  </a:lnTo>
                  <a:cubicBezTo>
                    <a:pt x="0" y="70750"/>
                    <a:pt x="70750" y="0"/>
                    <a:pt x="158025" y="0"/>
                  </a:cubicBez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09082" y="57150"/>
            <a:ext cx="2418978" cy="352425"/>
            <a:chOff x="0" y="0"/>
            <a:chExt cx="637097" cy="928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37097" cy="92820"/>
            </a:xfrm>
            <a:custGeom>
              <a:avLst/>
              <a:gdLst/>
              <a:ahLst/>
              <a:cxnLst/>
              <a:rect l="l" t="t" r="r" b="b"/>
              <a:pathLst>
                <a:path w="637097" h="92820">
                  <a:moveTo>
                    <a:pt x="38406" y="0"/>
                  </a:moveTo>
                  <a:lnTo>
                    <a:pt x="598691" y="0"/>
                  </a:lnTo>
                  <a:cubicBezTo>
                    <a:pt x="619902" y="0"/>
                    <a:pt x="637097" y="17195"/>
                    <a:pt x="637097" y="38406"/>
                  </a:cubicBezTo>
                  <a:lnTo>
                    <a:pt x="637097" y="54414"/>
                  </a:lnTo>
                  <a:cubicBezTo>
                    <a:pt x="637097" y="75625"/>
                    <a:pt x="619902" y="92820"/>
                    <a:pt x="598691" y="92820"/>
                  </a:cubicBezTo>
                  <a:lnTo>
                    <a:pt x="38406" y="92820"/>
                  </a:lnTo>
                  <a:cubicBezTo>
                    <a:pt x="17195" y="92820"/>
                    <a:pt x="0" y="75625"/>
                    <a:pt x="0" y="54414"/>
                  </a:cubicBezTo>
                  <a:lnTo>
                    <a:pt x="0" y="38406"/>
                  </a:lnTo>
                  <a:cubicBezTo>
                    <a:pt x="0" y="17195"/>
                    <a:pt x="17195" y="0"/>
                    <a:pt x="38406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637097" cy="111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737092" y="1176155"/>
            <a:ext cx="3458097" cy="365097"/>
            <a:chOff x="0" y="0"/>
            <a:chExt cx="924285" cy="9758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24285" cy="97584"/>
            </a:xfrm>
            <a:custGeom>
              <a:avLst/>
              <a:gdLst/>
              <a:ahLst/>
              <a:cxnLst/>
              <a:rect l="l" t="t" r="r" b="b"/>
              <a:pathLst>
                <a:path w="924285" h="97584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66241"/>
                  </a:lnTo>
                  <a:cubicBezTo>
                    <a:pt x="924285" y="83551"/>
                    <a:pt x="910253" y="97584"/>
                    <a:pt x="892942" y="97584"/>
                  </a:cubicBezTo>
                  <a:lnTo>
                    <a:pt x="31343" y="97584"/>
                  </a:lnTo>
                  <a:cubicBezTo>
                    <a:pt x="23030" y="97584"/>
                    <a:pt x="15058" y="94282"/>
                    <a:pt x="9180" y="88404"/>
                  </a:cubicBezTo>
                  <a:cubicBezTo>
                    <a:pt x="3302" y="82526"/>
                    <a:pt x="0" y="74553"/>
                    <a:pt x="0" y="66241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924285" cy="116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43" name="Freeform 43"/>
          <p:cNvSpPr/>
          <p:nvPr/>
        </p:nvSpPr>
        <p:spPr>
          <a:xfrm>
            <a:off x="3793758" y="1184638"/>
            <a:ext cx="276225" cy="279786"/>
          </a:xfrm>
          <a:custGeom>
            <a:avLst/>
            <a:gdLst/>
            <a:ahLst/>
            <a:cxnLst/>
            <a:rect l="l" t="t" r="r" b="b"/>
            <a:pathLst>
              <a:path w="276225" h="279786">
                <a:moveTo>
                  <a:pt x="0" y="0"/>
                </a:moveTo>
                <a:lnTo>
                  <a:pt x="276225" y="0"/>
                </a:lnTo>
                <a:lnTo>
                  <a:pt x="276225" y="279786"/>
                </a:lnTo>
                <a:lnTo>
                  <a:pt x="0" y="279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4" name="Group 44"/>
          <p:cNvGrpSpPr/>
          <p:nvPr/>
        </p:nvGrpSpPr>
        <p:grpSpPr>
          <a:xfrm>
            <a:off x="125668" y="1168978"/>
            <a:ext cx="3458097" cy="365097"/>
            <a:chOff x="0" y="0"/>
            <a:chExt cx="924285" cy="9758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24285" cy="97584"/>
            </a:xfrm>
            <a:custGeom>
              <a:avLst/>
              <a:gdLst/>
              <a:ahLst/>
              <a:cxnLst/>
              <a:rect l="l" t="t" r="r" b="b"/>
              <a:pathLst>
                <a:path w="924285" h="97584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66241"/>
                  </a:lnTo>
                  <a:cubicBezTo>
                    <a:pt x="924285" y="83551"/>
                    <a:pt x="910253" y="97584"/>
                    <a:pt x="892942" y="97584"/>
                  </a:cubicBezTo>
                  <a:lnTo>
                    <a:pt x="31343" y="97584"/>
                  </a:lnTo>
                  <a:cubicBezTo>
                    <a:pt x="23030" y="97584"/>
                    <a:pt x="15058" y="94282"/>
                    <a:pt x="9180" y="88404"/>
                  </a:cubicBezTo>
                  <a:cubicBezTo>
                    <a:pt x="3302" y="82526"/>
                    <a:pt x="0" y="74553"/>
                    <a:pt x="0" y="66241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924285" cy="116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47" name="Freeform 47"/>
          <p:cNvSpPr/>
          <p:nvPr/>
        </p:nvSpPr>
        <p:spPr>
          <a:xfrm>
            <a:off x="162074" y="1221695"/>
            <a:ext cx="313670" cy="278311"/>
          </a:xfrm>
          <a:custGeom>
            <a:avLst/>
            <a:gdLst/>
            <a:ahLst/>
            <a:cxnLst/>
            <a:rect l="l" t="t" r="r" b="b"/>
            <a:pathLst>
              <a:path w="313670" h="278311">
                <a:moveTo>
                  <a:pt x="0" y="0"/>
                </a:moveTo>
                <a:lnTo>
                  <a:pt x="313670" y="0"/>
                </a:lnTo>
                <a:lnTo>
                  <a:pt x="313670" y="278310"/>
                </a:lnTo>
                <a:lnTo>
                  <a:pt x="0" y="278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48" name="Group 48"/>
          <p:cNvGrpSpPr/>
          <p:nvPr/>
        </p:nvGrpSpPr>
        <p:grpSpPr>
          <a:xfrm>
            <a:off x="3704015" y="4582630"/>
            <a:ext cx="3458097" cy="365097"/>
            <a:chOff x="0" y="0"/>
            <a:chExt cx="924285" cy="9758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24285" cy="97584"/>
            </a:xfrm>
            <a:custGeom>
              <a:avLst/>
              <a:gdLst/>
              <a:ahLst/>
              <a:cxnLst/>
              <a:rect l="l" t="t" r="r" b="b"/>
              <a:pathLst>
                <a:path w="924285" h="97584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66241"/>
                  </a:lnTo>
                  <a:cubicBezTo>
                    <a:pt x="924285" y="83551"/>
                    <a:pt x="910253" y="97584"/>
                    <a:pt x="892942" y="97584"/>
                  </a:cubicBezTo>
                  <a:lnTo>
                    <a:pt x="31343" y="97584"/>
                  </a:lnTo>
                  <a:cubicBezTo>
                    <a:pt x="23030" y="97584"/>
                    <a:pt x="15058" y="94282"/>
                    <a:pt x="9180" y="88404"/>
                  </a:cubicBezTo>
                  <a:cubicBezTo>
                    <a:pt x="3302" y="82526"/>
                    <a:pt x="0" y="74553"/>
                    <a:pt x="0" y="66241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924285" cy="116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1" name="Freeform 51"/>
          <p:cNvSpPr/>
          <p:nvPr/>
        </p:nvSpPr>
        <p:spPr>
          <a:xfrm>
            <a:off x="3769157" y="4611428"/>
            <a:ext cx="276225" cy="275123"/>
          </a:xfrm>
          <a:custGeom>
            <a:avLst/>
            <a:gdLst/>
            <a:ahLst/>
            <a:cxnLst/>
            <a:rect l="l" t="t" r="r" b="b"/>
            <a:pathLst>
              <a:path w="276225" h="275123">
                <a:moveTo>
                  <a:pt x="0" y="0"/>
                </a:moveTo>
                <a:lnTo>
                  <a:pt x="276225" y="0"/>
                </a:lnTo>
                <a:lnTo>
                  <a:pt x="276225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2" name="Group 52"/>
          <p:cNvGrpSpPr/>
          <p:nvPr/>
        </p:nvGrpSpPr>
        <p:grpSpPr>
          <a:xfrm>
            <a:off x="11003296" y="1184638"/>
            <a:ext cx="3505200" cy="356615"/>
            <a:chOff x="0" y="0"/>
            <a:chExt cx="936875" cy="9531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36875" cy="95317"/>
            </a:xfrm>
            <a:custGeom>
              <a:avLst/>
              <a:gdLst/>
              <a:ahLst/>
              <a:cxnLst/>
              <a:rect l="l" t="t" r="r" b="b"/>
              <a:pathLst>
                <a:path w="936875" h="95317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64395"/>
                  </a:lnTo>
                  <a:cubicBezTo>
                    <a:pt x="936875" y="81472"/>
                    <a:pt x="923031" y="95317"/>
                    <a:pt x="905953" y="95317"/>
                  </a:cubicBezTo>
                  <a:lnTo>
                    <a:pt x="30922" y="95317"/>
                  </a:lnTo>
                  <a:cubicBezTo>
                    <a:pt x="13844" y="95317"/>
                    <a:pt x="0" y="81472"/>
                    <a:pt x="0" y="64395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936875" cy="114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5" name="Freeform 55"/>
          <p:cNvSpPr/>
          <p:nvPr/>
        </p:nvSpPr>
        <p:spPr>
          <a:xfrm>
            <a:off x="11062077" y="1214522"/>
            <a:ext cx="285750" cy="249901"/>
          </a:xfrm>
          <a:custGeom>
            <a:avLst/>
            <a:gdLst/>
            <a:ahLst/>
            <a:cxnLst/>
            <a:rect l="l" t="t" r="r" b="b"/>
            <a:pathLst>
              <a:path w="285750" h="249901">
                <a:moveTo>
                  <a:pt x="0" y="0"/>
                </a:moveTo>
                <a:lnTo>
                  <a:pt x="285750" y="0"/>
                </a:lnTo>
                <a:lnTo>
                  <a:pt x="285750" y="249902"/>
                </a:lnTo>
                <a:lnTo>
                  <a:pt x="0" y="249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6" name="Freeform 56"/>
          <p:cNvSpPr/>
          <p:nvPr/>
        </p:nvSpPr>
        <p:spPr>
          <a:xfrm>
            <a:off x="10939374" y="7589439"/>
            <a:ext cx="333375" cy="268224"/>
          </a:xfrm>
          <a:custGeom>
            <a:avLst/>
            <a:gdLst/>
            <a:ahLst/>
            <a:cxnLst/>
            <a:rect l="l" t="t" r="r" b="b"/>
            <a:pathLst>
              <a:path w="333375" h="268224">
                <a:moveTo>
                  <a:pt x="0" y="0"/>
                </a:moveTo>
                <a:lnTo>
                  <a:pt x="333375" y="0"/>
                </a:lnTo>
                <a:lnTo>
                  <a:pt x="333375" y="268224"/>
                </a:lnTo>
                <a:lnTo>
                  <a:pt x="0" y="2682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7" name="Group 57"/>
          <p:cNvGrpSpPr/>
          <p:nvPr/>
        </p:nvGrpSpPr>
        <p:grpSpPr>
          <a:xfrm>
            <a:off x="7275890" y="7541814"/>
            <a:ext cx="3505200" cy="2622007"/>
            <a:chOff x="0" y="0"/>
            <a:chExt cx="936875" cy="70081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36875" cy="700814"/>
            </a:xfrm>
            <a:custGeom>
              <a:avLst/>
              <a:gdLst/>
              <a:ahLst/>
              <a:cxnLst/>
              <a:rect l="l" t="t" r="r" b="b"/>
              <a:pathLst>
                <a:path w="936875" h="700814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669892"/>
                  </a:lnTo>
                  <a:cubicBezTo>
                    <a:pt x="936875" y="686970"/>
                    <a:pt x="923031" y="700814"/>
                    <a:pt x="905953" y="700814"/>
                  </a:cubicBezTo>
                  <a:lnTo>
                    <a:pt x="30922" y="700814"/>
                  </a:lnTo>
                  <a:cubicBezTo>
                    <a:pt x="13844" y="700814"/>
                    <a:pt x="0" y="686970"/>
                    <a:pt x="0" y="669892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6069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936875" cy="719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500497" y="8012055"/>
            <a:ext cx="2259402" cy="872417"/>
            <a:chOff x="0" y="0"/>
            <a:chExt cx="595069" cy="22977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95069" cy="229772"/>
            </a:xfrm>
            <a:custGeom>
              <a:avLst/>
              <a:gdLst/>
              <a:ahLst/>
              <a:cxnLst/>
              <a:rect l="l" t="t" r="r" b="b"/>
              <a:pathLst>
                <a:path w="595069" h="229772">
                  <a:moveTo>
                    <a:pt x="41118" y="0"/>
                  </a:moveTo>
                  <a:lnTo>
                    <a:pt x="553950" y="0"/>
                  </a:lnTo>
                  <a:cubicBezTo>
                    <a:pt x="576659" y="0"/>
                    <a:pt x="595069" y="18409"/>
                    <a:pt x="595069" y="41118"/>
                  </a:cubicBezTo>
                  <a:lnTo>
                    <a:pt x="595069" y="188654"/>
                  </a:lnTo>
                  <a:cubicBezTo>
                    <a:pt x="595069" y="199559"/>
                    <a:pt x="590737" y="210018"/>
                    <a:pt x="583025" y="217729"/>
                  </a:cubicBezTo>
                  <a:cubicBezTo>
                    <a:pt x="575314" y="225440"/>
                    <a:pt x="564856" y="229772"/>
                    <a:pt x="553950" y="229772"/>
                  </a:cubicBezTo>
                  <a:lnTo>
                    <a:pt x="41118" y="229772"/>
                  </a:lnTo>
                  <a:cubicBezTo>
                    <a:pt x="30213" y="229772"/>
                    <a:pt x="19755" y="225440"/>
                    <a:pt x="12043" y="217729"/>
                  </a:cubicBezTo>
                  <a:cubicBezTo>
                    <a:pt x="4332" y="210018"/>
                    <a:pt x="0" y="199559"/>
                    <a:pt x="0" y="188654"/>
                  </a:cubicBezTo>
                  <a:lnTo>
                    <a:pt x="0" y="41118"/>
                  </a:lnTo>
                  <a:cubicBezTo>
                    <a:pt x="0" y="30213"/>
                    <a:pt x="4332" y="19755"/>
                    <a:pt x="12043" y="12043"/>
                  </a:cubicBezTo>
                  <a:cubicBezTo>
                    <a:pt x="19755" y="4332"/>
                    <a:pt x="30213" y="0"/>
                    <a:pt x="41118" y="0"/>
                  </a:cubicBezTo>
                  <a:close/>
                </a:path>
              </a:pathLst>
            </a:custGeom>
            <a:solidFill>
              <a:srgbClr val="FAFEFC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595069" cy="248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13677" y="8012055"/>
            <a:ext cx="2314575" cy="872417"/>
            <a:chOff x="0" y="0"/>
            <a:chExt cx="609600" cy="22977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09600" cy="229772"/>
            </a:xfrm>
            <a:custGeom>
              <a:avLst/>
              <a:gdLst/>
              <a:ahLst/>
              <a:cxnLst/>
              <a:rect l="l" t="t" r="r" b="b"/>
              <a:pathLst>
                <a:path w="609600" h="229772">
                  <a:moveTo>
                    <a:pt x="40138" y="0"/>
                  </a:moveTo>
                  <a:lnTo>
                    <a:pt x="569462" y="0"/>
                  </a:lnTo>
                  <a:cubicBezTo>
                    <a:pt x="591629" y="0"/>
                    <a:pt x="609600" y="17971"/>
                    <a:pt x="609600" y="40138"/>
                  </a:cubicBezTo>
                  <a:lnTo>
                    <a:pt x="609600" y="189634"/>
                  </a:lnTo>
                  <a:cubicBezTo>
                    <a:pt x="609600" y="211802"/>
                    <a:pt x="591629" y="229772"/>
                    <a:pt x="569462" y="229772"/>
                  </a:cubicBezTo>
                  <a:lnTo>
                    <a:pt x="40138" y="229772"/>
                  </a:lnTo>
                  <a:cubicBezTo>
                    <a:pt x="17971" y="229772"/>
                    <a:pt x="0" y="211802"/>
                    <a:pt x="0" y="189634"/>
                  </a:cubicBezTo>
                  <a:lnTo>
                    <a:pt x="0" y="40138"/>
                  </a:lnTo>
                  <a:cubicBezTo>
                    <a:pt x="0" y="17971"/>
                    <a:pt x="17971" y="0"/>
                    <a:pt x="40138" y="0"/>
                  </a:cubicBezTo>
                  <a:close/>
                </a:path>
              </a:pathLst>
            </a:custGeom>
            <a:solidFill>
              <a:srgbClr val="FAFEFC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609600" cy="248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93768" y="8953500"/>
            <a:ext cx="2259402" cy="552450"/>
            <a:chOff x="0" y="0"/>
            <a:chExt cx="595069" cy="145501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95069" cy="145501"/>
            </a:xfrm>
            <a:custGeom>
              <a:avLst/>
              <a:gdLst/>
              <a:ahLst/>
              <a:cxnLst/>
              <a:rect l="l" t="t" r="r" b="b"/>
              <a:pathLst>
                <a:path w="595069" h="145501">
                  <a:moveTo>
                    <a:pt x="41118" y="0"/>
                  </a:moveTo>
                  <a:lnTo>
                    <a:pt x="553950" y="0"/>
                  </a:lnTo>
                  <a:cubicBezTo>
                    <a:pt x="576659" y="0"/>
                    <a:pt x="595069" y="18409"/>
                    <a:pt x="595069" y="41118"/>
                  </a:cubicBezTo>
                  <a:lnTo>
                    <a:pt x="595069" y="104383"/>
                  </a:lnTo>
                  <a:cubicBezTo>
                    <a:pt x="595069" y="115288"/>
                    <a:pt x="590737" y="125747"/>
                    <a:pt x="583025" y="133458"/>
                  </a:cubicBezTo>
                  <a:cubicBezTo>
                    <a:pt x="575314" y="141169"/>
                    <a:pt x="564856" y="145501"/>
                    <a:pt x="553950" y="145501"/>
                  </a:cubicBezTo>
                  <a:lnTo>
                    <a:pt x="41118" y="145501"/>
                  </a:lnTo>
                  <a:cubicBezTo>
                    <a:pt x="30213" y="145501"/>
                    <a:pt x="19755" y="141169"/>
                    <a:pt x="12043" y="133458"/>
                  </a:cubicBezTo>
                  <a:cubicBezTo>
                    <a:pt x="4332" y="125747"/>
                    <a:pt x="0" y="115288"/>
                    <a:pt x="0" y="104383"/>
                  </a:cubicBezTo>
                  <a:lnTo>
                    <a:pt x="0" y="41118"/>
                  </a:lnTo>
                  <a:cubicBezTo>
                    <a:pt x="0" y="30213"/>
                    <a:pt x="4332" y="19755"/>
                    <a:pt x="12043" y="12043"/>
                  </a:cubicBezTo>
                  <a:cubicBezTo>
                    <a:pt x="19755" y="4332"/>
                    <a:pt x="30213" y="0"/>
                    <a:pt x="41118" y="0"/>
                  </a:cubicBezTo>
                  <a:close/>
                </a:path>
              </a:pathLst>
            </a:custGeom>
            <a:solidFill>
              <a:srgbClr val="FFFF00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595069" cy="164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70" name="Freeform 70"/>
          <p:cNvSpPr/>
          <p:nvPr/>
        </p:nvSpPr>
        <p:spPr>
          <a:xfrm>
            <a:off x="2538746" y="8953500"/>
            <a:ext cx="2259402" cy="552450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C00000"/>
          </a:solidFill>
          <a:ln w="3810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Box 71"/>
          <p:cNvSpPr txBox="1"/>
          <p:nvPr/>
        </p:nvSpPr>
        <p:spPr>
          <a:xfrm>
            <a:off x="2538746" y="8926440"/>
            <a:ext cx="2259402" cy="62478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grpSp>
        <p:nvGrpSpPr>
          <p:cNvPr id="72" name="Group 72"/>
          <p:cNvGrpSpPr/>
          <p:nvPr/>
        </p:nvGrpSpPr>
        <p:grpSpPr>
          <a:xfrm>
            <a:off x="10952540" y="8045392"/>
            <a:ext cx="2333625" cy="1095579"/>
            <a:chOff x="0" y="0"/>
            <a:chExt cx="614617" cy="288547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14617" cy="288547"/>
            </a:xfrm>
            <a:custGeom>
              <a:avLst/>
              <a:gdLst/>
              <a:ahLst/>
              <a:cxnLst/>
              <a:rect l="l" t="t" r="r" b="b"/>
              <a:pathLst>
                <a:path w="614617" h="288547">
                  <a:moveTo>
                    <a:pt x="39811" y="0"/>
                  </a:moveTo>
                  <a:lnTo>
                    <a:pt x="574807" y="0"/>
                  </a:lnTo>
                  <a:cubicBezTo>
                    <a:pt x="596793" y="0"/>
                    <a:pt x="614617" y="17824"/>
                    <a:pt x="614617" y="39811"/>
                  </a:cubicBezTo>
                  <a:lnTo>
                    <a:pt x="614617" y="248737"/>
                  </a:lnTo>
                  <a:cubicBezTo>
                    <a:pt x="614617" y="270724"/>
                    <a:pt x="596793" y="288547"/>
                    <a:pt x="574807" y="288547"/>
                  </a:cubicBezTo>
                  <a:lnTo>
                    <a:pt x="39811" y="288547"/>
                  </a:lnTo>
                  <a:cubicBezTo>
                    <a:pt x="17824" y="288547"/>
                    <a:pt x="0" y="270724"/>
                    <a:pt x="0" y="248737"/>
                  </a:cubicBezTo>
                  <a:lnTo>
                    <a:pt x="0" y="39811"/>
                  </a:lnTo>
                  <a:cubicBezTo>
                    <a:pt x="0" y="17824"/>
                    <a:pt x="17824" y="0"/>
                    <a:pt x="39811" y="0"/>
                  </a:cubicBezTo>
                  <a:close/>
                </a:path>
              </a:pathLst>
            </a:custGeom>
            <a:solidFill>
              <a:srgbClr val="FAFEFC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614617" cy="307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4642664" y="1184638"/>
            <a:ext cx="3505200" cy="315368"/>
            <a:chOff x="0" y="0"/>
            <a:chExt cx="936875" cy="842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36875" cy="84292"/>
            </a:xfrm>
            <a:custGeom>
              <a:avLst/>
              <a:gdLst/>
              <a:ahLst/>
              <a:cxnLst/>
              <a:rect l="l" t="t" r="r" b="b"/>
              <a:pathLst>
                <a:path w="936875" h="84292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53370"/>
                  </a:lnTo>
                  <a:cubicBezTo>
                    <a:pt x="936875" y="70448"/>
                    <a:pt x="923031" y="84292"/>
                    <a:pt x="905953" y="84292"/>
                  </a:cubicBezTo>
                  <a:lnTo>
                    <a:pt x="30922" y="84292"/>
                  </a:lnTo>
                  <a:cubicBezTo>
                    <a:pt x="22721" y="84292"/>
                    <a:pt x="14856" y="81034"/>
                    <a:pt x="9057" y="75235"/>
                  </a:cubicBezTo>
                  <a:cubicBezTo>
                    <a:pt x="3258" y="69436"/>
                    <a:pt x="0" y="61571"/>
                    <a:pt x="0" y="53370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19050"/>
              <a:ext cx="936875" cy="103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78" name="Freeform 78"/>
          <p:cNvSpPr/>
          <p:nvPr/>
        </p:nvSpPr>
        <p:spPr>
          <a:xfrm>
            <a:off x="14713239" y="1186577"/>
            <a:ext cx="304800" cy="300921"/>
          </a:xfrm>
          <a:custGeom>
            <a:avLst/>
            <a:gdLst/>
            <a:ahLst/>
            <a:cxnLst/>
            <a:rect l="l" t="t" r="r" b="b"/>
            <a:pathLst>
              <a:path w="304800" h="300921">
                <a:moveTo>
                  <a:pt x="0" y="0"/>
                </a:moveTo>
                <a:lnTo>
                  <a:pt x="304800" y="0"/>
                </a:lnTo>
                <a:lnTo>
                  <a:pt x="304800" y="300921"/>
                </a:lnTo>
                <a:lnTo>
                  <a:pt x="0" y="3009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9" name="Group 79"/>
          <p:cNvGrpSpPr/>
          <p:nvPr/>
        </p:nvGrpSpPr>
        <p:grpSpPr>
          <a:xfrm>
            <a:off x="7294940" y="1184638"/>
            <a:ext cx="3505200" cy="315368"/>
            <a:chOff x="0" y="0"/>
            <a:chExt cx="936875" cy="8429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936875" cy="84292"/>
            </a:xfrm>
            <a:custGeom>
              <a:avLst/>
              <a:gdLst/>
              <a:ahLst/>
              <a:cxnLst/>
              <a:rect l="l" t="t" r="r" b="b"/>
              <a:pathLst>
                <a:path w="936875" h="84292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53370"/>
                  </a:lnTo>
                  <a:cubicBezTo>
                    <a:pt x="936875" y="70448"/>
                    <a:pt x="923031" y="84292"/>
                    <a:pt x="905953" y="84292"/>
                  </a:cubicBezTo>
                  <a:lnTo>
                    <a:pt x="30922" y="84292"/>
                  </a:lnTo>
                  <a:cubicBezTo>
                    <a:pt x="22721" y="84292"/>
                    <a:pt x="14856" y="81034"/>
                    <a:pt x="9057" y="75235"/>
                  </a:cubicBezTo>
                  <a:cubicBezTo>
                    <a:pt x="3258" y="69436"/>
                    <a:pt x="0" y="61571"/>
                    <a:pt x="0" y="53370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936875" cy="103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82" name="Freeform 82"/>
          <p:cNvSpPr/>
          <p:nvPr/>
        </p:nvSpPr>
        <p:spPr>
          <a:xfrm>
            <a:off x="7352090" y="118657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3" name="Group 83"/>
          <p:cNvGrpSpPr/>
          <p:nvPr/>
        </p:nvGrpSpPr>
        <p:grpSpPr>
          <a:xfrm>
            <a:off x="16551113" y="420581"/>
            <a:ext cx="238839" cy="182345"/>
            <a:chOff x="0" y="0"/>
            <a:chExt cx="62904" cy="4802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229883"/>
            </a:solidFill>
            <a:ln w="95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6551113" y="672309"/>
            <a:ext cx="238839" cy="182345"/>
            <a:chOff x="0" y="0"/>
            <a:chExt cx="62904" cy="48025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7ED957"/>
            </a:solidFill>
            <a:ln w="9525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6551113" y="171561"/>
            <a:ext cx="238839" cy="182345"/>
            <a:chOff x="0" y="0"/>
            <a:chExt cx="62904" cy="48025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FEBF00"/>
            </a:solidFill>
            <a:ln w="9525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79904" y="7546577"/>
            <a:ext cx="7100587" cy="370228"/>
            <a:chOff x="0" y="0"/>
            <a:chExt cx="1897855" cy="98955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897855" cy="98955"/>
            </a:xfrm>
            <a:custGeom>
              <a:avLst/>
              <a:gdLst/>
              <a:ahLst/>
              <a:cxnLst/>
              <a:rect l="l" t="t" r="r" b="b"/>
              <a:pathLst>
                <a:path w="1897855" h="98955">
                  <a:moveTo>
                    <a:pt x="15264" y="0"/>
                  </a:moveTo>
                  <a:lnTo>
                    <a:pt x="1882591" y="0"/>
                  </a:lnTo>
                  <a:cubicBezTo>
                    <a:pt x="1891021" y="0"/>
                    <a:pt x="1897855" y="6834"/>
                    <a:pt x="1897855" y="15264"/>
                  </a:cubicBezTo>
                  <a:lnTo>
                    <a:pt x="1897855" y="83691"/>
                  </a:lnTo>
                  <a:cubicBezTo>
                    <a:pt x="1897855" y="92121"/>
                    <a:pt x="1891021" y="98955"/>
                    <a:pt x="1882591" y="98955"/>
                  </a:cubicBezTo>
                  <a:lnTo>
                    <a:pt x="15264" y="98955"/>
                  </a:lnTo>
                  <a:cubicBezTo>
                    <a:pt x="6834" y="98955"/>
                    <a:pt x="0" y="92121"/>
                    <a:pt x="0" y="83691"/>
                  </a:cubicBezTo>
                  <a:lnTo>
                    <a:pt x="0" y="15264"/>
                  </a:lnTo>
                  <a:cubicBezTo>
                    <a:pt x="0" y="6834"/>
                    <a:pt x="6834" y="0"/>
                    <a:pt x="15264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19050"/>
              <a:ext cx="1897855" cy="118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95" name="Freeform 95"/>
          <p:cNvSpPr/>
          <p:nvPr/>
        </p:nvSpPr>
        <p:spPr>
          <a:xfrm>
            <a:off x="176034" y="7575152"/>
            <a:ext cx="285750" cy="293214"/>
          </a:xfrm>
          <a:custGeom>
            <a:avLst/>
            <a:gdLst/>
            <a:ahLst/>
            <a:cxnLst/>
            <a:rect l="l" t="t" r="r" b="b"/>
            <a:pathLst>
              <a:path w="285750" h="293214">
                <a:moveTo>
                  <a:pt x="0" y="0"/>
                </a:moveTo>
                <a:lnTo>
                  <a:pt x="285750" y="0"/>
                </a:lnTo>
                <a:lnTo>
                  <a:pt x="285750" y="293213"/>
                </a:lnTo>
                <a:lnTo>
                  <a:pt x="0" y="2932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96" name="Group 96"/>
          <p:cNvGrpSpPr/>
          <p:nvPr/>
        </p:nvGrpSpPr>
        <p:grpSpPr>
          <a:xfrm>
            <a:off x="7275890" y="7565627"/>
            <a:ext cx="3505200" cy="351178"/>
            <a:chOff x="0" y="0"/>
            <a:chExt cx="936875" cy="93863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936875" cy="93863"/>
            </a:xfrm>
            <a:custGeom>
              <a:avLst/>
              <a:gdLst/>
              <a:ahLst/>
              <a:cxnLst/>
              <a:rect l="l" t="t" r="r" b="b"/>
              <a:pathLst>
                <a:path w="936875" h="93863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62942"/>
                  </a:lnTo>
                  <a:cubicBezTo>
                    <a:pt x="936875" y="80019"/>
                    <a:pt x="923031" y="93863"/>
                    <a:pt x="905953" y="93863"/>
                  </a:cubicBezTo>
                  <a:lnTo>
                    <a:pt x="30922" y="93863"/>
                  </a:lnTo>
                  <a:cubicBezTo>
                    <a:pt x="22721" y="93863"/>
                    <a:pt x="14856" y="90605"/>
                    <a:pt x="9057" y="84807"/>
                  </a:cubicBezTo>
                  <a:cubicBezTo>
                    <a:pt x="3258" y="79008"/>
                    <a:pt x="0" y="71143"/>
                    <a:pt x="0" y="62942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760690"/>
            </a:solidFill>
            <a:ln w="38100" cap="sq">
              <a:solidFill>
                <a:srgbClr val="76069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19050"/>
              <a:ext cx="936875" cy="112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99" name="Freeform 99"/>
          <p:cNvSpPr/>
          <p:nvPr/>
        </p:nvSpPr>
        <p:spPr>
          <a:xfrm>
            <a:off x="7362736" y="7569956"/>
            <a:ext cx="333375" cy="290945"/>
          </a:xfrm>
          <a:custGeom>
            <a:avLst/>
            <a:gdLst/>
            <a:ahLst/>
            <a:cxnLst/>
            <a:rect l="l" t="t" r="r" b="b"/>
            <a:pathLst>
              <a:path w="333375" h="290945">
                <a:moveTo>
                  <a:pt x="0" y="0"/>
                </a:moveTo>
                <a:lnTo>
                  <a:pt x="333375" y="0"/>
                </a:lnTo>
                <a:lnTo>
                  <a:pt x="333375" y="290946"/>
                </a:lnTo>
                <a:lnTo>
                  <a:pt x="0" y="2909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0" name="TextBox 100"/>
          <p:cNvSpPr txBox="1"/>
          <p:nvPr/>
        </p:nvSpPr>
        <p:spPr>
          <a:xfrm>
            <a:off x="1342519" y="1184638"/>
            <a:ext cx="2185541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Partenaires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01" name="TextBox 101"/>
          <p:cNvSpPr txBox="1"/>
          <p:nvPr/>
        </p:nvSpPr>
        <p:spPr>
          <a:xfrm>
            <a:off x="1126809" y="390525"/>
            <a:ext cx="2193386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Lomé, Togo</a:t>
            </a:r>
            <a:endParaRPr lang="en-US" sz="15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1800"/>
              </a:lnSpc>
            </a:pPr>
            <a:r>
              <a:rPr lang="en-US" sz="1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Certifié ISO 9001</a:t>
            </a: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2015</a:t>
            </a:r>
            <a:endParaRPr lang="en-US" sz="15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Lancement : </a:t>
            </a:r>
            <a:r>
              <a:rPr lang="en-US" sz="1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Février 2026</a:t>
            </a:r>
            <a:endParaRPr lang="en-US" sz="1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02" name="TextBox 102"/>
          <p:cNvSpPr txBox="1"/>
          <p:nvPr/>
        </p:nvSpPr>
        <p:spPr>
          <a:xfrm>
            <a:off x="12310303" y="1175113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Relations clientèle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03" name="TextBox 103"/>
          <p:cNvSpPr txBox="1"/>
          <p:nvPr/>
        </p:nvSpPr>
        <p:spPr>
          <a:xfrm>
            <a:off x="4915817" y="4592378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Ressources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04" name="TextBox 104"/>
          <p:cNvSpPr txBox="1"/>
          <p:nvPr/>
        </p:nvSpPr>
        <p:spPr>
          <a:xfrm>
            <a:off x="4944392" y="1180918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Activités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05" name="TextBox 105"/>
          <p:cNvSpPr txBox="1"/>
          <p:nvPr/>
        </p:nvSpPr>
        <p:spPr>
          <a:xfrm>
            <a:off x="15790110" y="1175113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Segments de clientèle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grpSp>
        <p:nvGrpSpPr>
          <p:cNvPr id="106" name="Group 106"/>
          <p:cNvGrpSpPr/>
          <p:nvPr/>
        </p:nvGrpSpPr>
        <p:grpSpPr>
          <a:xfrm>
            <a:off x="10954765" y="4525020"/>
            <a:ext cx="3592649" cy="361531"/>
            <a:chOff x="0" y="0"/>
            <a:chExt cx="960249" cy="96631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960249" cy="96631"/>
            </a:xfrm>
            <a:custGeom>
              <a:avLst/>
              <a:gdLst/>
              <a:ahLst/>
              <a:cxnLst/>
              <a:rect l="l" t="t" r="r" b="b"/>
              <a:pathLst>
                <a:path w="960249" h="96631">
                  <a:moveTo>
                    <a:pt x="30169" y="0"/>
                  </a:moveTo>
                  <a:lnTo>
                    <a:pt x="930080" y="0"/>
                  </a:lnTo>
                  <a:cubicBezTo>
                    <a:pt x="938081" y="0"/>
                    <a:pt x="945755" y="3179"/>
                    <a:pt x="951412" y="8836"/>
                  </a:cubicBezTo>
                  <a:cubicBezTo>
                    <a:pt x="957070" y="14494"/>
                    <a:pt x="960249" y="22168"/>
                    <a:pt x="960249" y="30169"/>
                  </a:cubicBezTo>
                  <a:lnTo>
                    <a:pt x="960249" y="66461"/>
                  </a:lnTo>
                  <a:cubicBezTo>
                    <a:pt x="960249" y="74463"/>
                    <a:pt x="957070" y="82136"/>
                    <a:pt x="951412" y="87794"/>
                  </a:cubicBezTo>
                  <a:cubicBezTo>
                    <a:pt x="945755" y="93452"/>
                    <a:pt x="938081" y="96631"/>
                    <a:pt x="930080" y="96631"/>
                  </a:cubicBezTo>
                  <a:lnTo>
                    <a:pt x="30169" y="96631"/>
                  </a:lnTo>
                  <a:cubicBezTo>
                    <a:pt x="22168" y="96631"/>
                    <a:pt x="14494" y="93452"/>
                    <a:pt x="8836" y="87794"/>
                  </a:cubicBezTo>
                  <a:cubicBezTo>
                    <a:pt x="3179" y="82136"/>
                    <a:pt x="0" y="74463"/>
                    <a:pt x="0" y="66461"/>
                  </a:cubicBezTo>
                  <a:lnTo>
                    <a:pt x="0" y="30169"/>
                  </a:lnTo>
                  <a:cubicBezTo>
                    <a:pt x="0" y="22168"/>
                    <a:pt x="3179" y="14494"/>
                    <a:pt x="8836" y="8836"/>
                  </a:cubicBezTo>
                  <a:cubicBezTo>
                    <a:pt x="14494" y="3179"/>
                    <a:pt x="22168" y="0"/>
                    <a:pt x="30169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19050"/>
              <a:ext cx="960249" cy="115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09" name="TextBox 109"/>
          <p:cNvSpPr txBox="1"/>
          <p:nvPr/>
        </p:nvSpPr>
        <p:spPr>
          <a:xfrm>
            <a:off x="12384261" y="4563580"/>
            <a:ext cx="1750437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Canaux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0" name="TextBox 110"/>
          <p:cNvSpPr txBox="1"/>
          <p:nvPr/>
        </p:nvSpPr>
        <p:spPr>
          <a:xfrm>
            <a:off x="4989786" y="7570389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Structure de coûts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1" name="TextBox 111"/>
          <p:cNvSpPr txBox="1"/>
          <p:nvPr/>
        </p:nvSpPr>
        <p:spPr>
          <a:xfrm>
            <a:off x="15935363" y="7546577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Sources de Revenus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2" name="TextBox 112"/>
          <p:cNvSpPr txBox="1"/>
          <p:nvPr/>
        </p:nvSpPr>
        <p:spPr>
          <a:xfrm>
            <a:off x="8050310" y="7556102"/>
            <a:ext cx="269755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Mission, vision et valeurs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3" name="TextBox 113"/>
          <p:cNvSpPr txBox="1"/>
          <p:nvPr/>
        </p:nvSpPr>
        <p:spPr>
          <a:xfrm>
            <a:off x="1176090" y="97415"/>
            <a:ext cx="2399957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Projet n° : 004-26-KYA</a:t>
            </a:r>
            <a:endParaRPr lang="en-US" sz="18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4" name="TextBox 114"/>
          <p:cNvSpPr txBox="1"/>
          <p:nvPr/>
        </p:nvSpPr>
        <p:spPr>
          <a:xfrm>
            <a:off x="6904727" y="-12122"/>
            <a:ext cx="447854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en-US" sz="3300" b="1">
                <a:solidFill>
                  <a:srgbClr val="FF75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KYA-SolDesign</a:t>
            </a:r>
            <a:endParaRPr lang="en-US" sz="3300" b="1">
              <a:solidFill>
                <a:srgbClr val="FF75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5" name="TextBox 115"/>
          <p:cNvSpPr txBox="1"/>
          <p:nvPr/>
        </p:nvSpPr>
        <p:spPr>
          <a:xfrm>
            <a:off x="5408396" y="645103"/>
            <a:ext cx="91001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</a:pPr>
            <a:r>
              <a:rPr lang="en-US" sz="23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Logiciel de dimensionnement solaire photovoltaïque : Marché africain</a:t>
            </a:r>
            <a:endParaRPr lang="en-US" sz="23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6" name="TextBox 116"/>
          <p:cNvSpPr txBox="1"/>
          <p:nvPr/>
        </p:nvSpPr>
        <p:spPr>
          <a:xfrm>
            <a:off x="16886802" y="92653"/>
            <a:ext cx="1186934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Désirabilité 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Faisabilité  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Viabilité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7" name="TextBox 117"/>
          <p:cNvSpPr txBox="1"/>
          <p:nvPr/>
        </p:nvSpPr>
        <p:spPr>
          <a:xfrm>
            <a:off x="8002033" y="1146538"/>
            <a:ext cx="269755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Proposition de Valeur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8" name="Freeform 118"/>
          <p:cNvSpPr/>
          <p:nvPr/>
        </p:nvSpPr>
        <p:spPr>
          <a:xfrm>
            <a:off x="10992541" y="4589737"/>
            <a:ext cx="333375" cy="224998"/>
          </a:xfrm>
          <a:custGeom>
            <a:avLst/>
            <a:gdLst/>
            <a:ahLst/>
            <a:cxnLst/>
            <a:rect l="l" t="t" r="r" b="b"/>
            <a:pathLst>
              <a:path w="333375" h="224998">
                <a:moveTo>
                  <a:pt x="0" y="0"/>
                </a:moveTo>
                <a:lnTo>
                  <a:pt x="333375" y="0"/>
                </a:lnTo>
                <a:lnTo>
                  <a:pt x="333375" y="224997"/>
                </a:lnTo>
                <a:lnTo>
                  <a:pt x="0" y="22499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9" name="TextBox 119"/>
          <p:cNvSpPr txBox="1"/>
          <p:nvPr/>
        </p:nvSpPr>
        <p:spPr>
          <a:xfrm>
            <a:off x="7590830" y="1530401"/>
            <a:ext cx="2963355" cy="1112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</a:pPr>
            <a:r>
              <a:rPr lang="en-US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“Réduire de 30 à 50% le coût des installations solaires en Afrique, sans compromis sur la fiabilité “</a:t>
            </a:r>
            <a:endParaRPr lang="en-US" sz="1800" b="1" dirty="0">
              <a:solidFill>
                <a:srgbClr val="FFC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20" name="TextBox 120"/>
          <p:cNvSpPr txBox="1"/>
          <p:nvPr/>
        </p:nvSpPr>
        <p:spPr>
          <a:xfrm>
            <a:off x="7417547" y="2571664"/>
            <a:ext cx="3227556" cy="490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40"/>
              </a:lnSpc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Seul logiciel de dimensionnement solaire conçu pour l 'Afrique et par des ingénieurs africains.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2040"/>
              </a:lnSpc>
            </a:pP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Méthode KEG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exclusive : optimisation batterie via LCOA, LPSP, LOLP élimine le surdimensionnement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Interface intuitive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adaptée au contexte africain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Prix 10× inférieurs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aux concurrents mondiaux, 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Paiement via Mobile Money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(accessible sans carte bancaire ni compte international)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Génération de factures proforma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intégrée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Certification professionnelle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valorisante.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" name="TextBox 121"/>
          <p:cNvSpPr txBox="1"/>
          <p:nvPr/>
        </p:nvSpPr>
        <p:spPr>
          <a:xfrm>
            <a:off x="0" y="1743625"/>
            <a:ext cx="3449371" cy="5642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Institutions académiques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CEDEAO (universités, écoles d'ingénieurs)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Entreprises</a:t>
            </a: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d'installation solaire locales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Opérateurs Mobile Money (Moov, YAS)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83515" lvl="1" algn="just">
              <a:lnSpc>
                <a:spcPts val="2040"/>
              </a:lnSpc>
            </a:pP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AT2ER</a:t>
            </a: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(Agence Togolaise d'Électrification Rurale)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ECREEE</a:t>
            </a: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-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Centre Régional Énergie Renouvelable CEDEAO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83515" lvl="1" algn="just">
              <a:lnSpc>
                <a:spcPts val="2040"/>
              </a:lnSpc>
            </a:pP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KYA-Energy Laboratory</a:t>
            </a:r>
            <a:r>
              <a:rPr lang="en-US" sz="1700" dirty="0">
                <a:solidFill>
                  <a:srgbClr val="22988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(R&amp;D interne)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83515" lvl="1" algn="just">
              <a:lnSpc>
                <a:spcPts val="2040"/>
              </a:lnSpc>
            </a:pP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Bailleurs de fonds</a:t>
            </a:r>
            <a:r>
              <a:rPr lang="en-US" sz="1700" dirty="0">
                <a:solidFill>
                  <a:srgbClr val="22988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</a:t>
            </a:r>
            <a:r>
              <a:rPr lang="en-US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partenaires au développement</a:t>
            </a:r>
            <a:endParaRPr lang="en-US" sz="17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Réseau terrain</a:t>
            </a:r>
            <a:r>
              <a:rPr lang="en-US" sz="1700" dirty="0">
                <a:solidFill>
                  <a:srgbClr val="22988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(Installateurs solaires et bureaux d'études locaux)</a:t>
            </a:r>
            <a:endParaRPr lang="en-US" sz="17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265" lvl="1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Réseau de formateurs certifiés</a:t>
            </a:r>
            <a:endParaRPr lang="en-US" sz="17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22" name="TextBox 122"/>
          <p:cNvSpPr txBox="1"/>
          <p:nvPr/>
        </p:nvSpPr>
        <p:spPr>
          <a:xfrm>
            <a:off x="3763506" y="1521351"/>
            <a:ext cx="3458762" cy="292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Développement et maintenance du </a:t>
            </a:r>
            <a:endParaRPr lang="en-US" sz="16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logiciel </a:t>
            </a:r>
            <a:endParaRPr lang="en-US" sz="16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Marketing digital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SEO, réseaux 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sociaux, webinaires, tutoriels vidéo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Prospection B2B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installateurs,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bureaux d'études, institutions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Support technique utilisateurs et </a:t>
            </a:r>
            <a:endParaRPr lang="en-US" sz="16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gestion des licences</a:t>
            </a:r>
            <a:endParaRPr lang="en-US" sz="16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Formation et délivrance du label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 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certification professionnelle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R&amp;D continue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validation terrain, 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intégration des retours utilisateurs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3" name="TextBox 123"/>
          <p:cNvSpPr txBox="1"/>
          <p:nvPr/>
        </p:nvSpPr>
        <p:spPr>
          <a:xfrm>
            <a:off x="3630868" y="4954105"/>
            <a:ext cx="3458762" cy="243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Méthode KEG propriété intellectuelle 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Logiciel KYA-</a:t>
            </a:r>
            <a:r>
              <a:rPr lang="en-US" sz="1600" b="1" dirty="0" err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SolDesign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code 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propriétaire, 5 ans de développement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Prof. Yao AZOUMAH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expertise 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reconnue, réseau panafricain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Base de 300+ utilisateurs bêta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Certification ISO 9001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2015 (seule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entreprise togolaise du secteur)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b="1" dirty="0">
                <a:solidFill>
                  <a:srgbClr val="FF313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Matériel informatique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(CAPEX 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72720" lvl="1"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11,8M F CFA)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4" name="TextBox 124"/>
          <p:cNvSpPr txBox="1"/>
          <p:nvPr/>
        </p:nvSpPr>
        <p:spPr>
          <a:xfrm>
            <a:off x="14564239" y="3849748"/>
            <a:ext cx="3458762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Marché principal 2026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Afrique de l'Ouest francophone (CEDEAO, UEMOA)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Expansion 2028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Afrique anglophone (Est et Australe)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2030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Leader continental avec 2 362 clients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payants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6" name="Freeform 126"/>
          <p:cNvSpPr/>
          <p:nvPr/>
        </p:nvSpPr>
        <p:spPr>
          <a:xfrm>
            <a:off x="15102334" y="1612413"/>
            <a:ext cx="2703814" cy="254487"/>
          </a:xfrm>
          <a:custGeom>
            <a:avLst/>
            <a:gdLst/>
            <a:ahLst/>
            <a:cxnLst/>
            <a:rect l="l" t="t" r="r" b="b"/>
            <a:pathLst>
              <a:path w="712116" h="88680">
                <a:moveTo>
                  <a:pt x="34360" y="0"/>
                </a:moveTo>
                <a:lnTo>
                  <a:pt x="677756" y="0"/>
                </a:lnTo>
                <a:cubicBezTo>
                  <a:pt x="696732" y="0"/>
                  <a:pt x="712116" y="15383"/>
                  <a:pt x="712116" y="34360"/>
                </a:cubicBezTo>
                <a:lnTo>
                  <a:pt x="712116" y="54320"/>
                </a:lnTo>
                <a:cubicBezTo>
                  <a:pt x="712116" y="73296"/>
                  <a:pt x="696732" y="88680"/>
                  <a:pt x="677756" y="88680"/>
                </a:cubicBezTo>
                <a:lnTo>
                  <a:pt x="34360" y="88680"/>
                </a:lnTo>
                <a:cubicBezTo>
                  <a:pt x="15383" y="88680"/>
                  <a:pt x="0" y="73296"/>
                  <a:pt x="0" y="54320"/>
                </a:cubicBezTo>
                <a:lnTo>
                  <a:pt x="0" y="34360"/>
                </a:lnTo>
                <a:cubicBezTo>
                  <a:pt x="0" y="15383"/>
                  <a:pt x="15383" y="0"/>
                  <a:pt x="34360" y="0"/>
                </a:cubicBezTo>
                <a:close/>
              </a:path>
            </a:pathLst>
          </a:custGeom>
          <a:solidFill>
            <a:srgbClr val="FAFEFC"/>
          </a:solidFill>
          <a:ln w="38100" cap="sq">
            <a:solidFill>
              <a:srgbClr val="FEBF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27" name="TextBox 127"/>
          <p:cNvSpPr txBox="1"/>
          <p:nvPr/>
        </p:nvSpPr>
        <p:spPr>
          <a:xfrm>
            <a:off x="15102334" y="1455208"/>
            <a:ext cx="2703814" cy="40903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128" name="TextBox 128"/>
          <p:cNvSpPr txBox="1"/>
          <p:nvPr/>
        </p:nvSpPr>
        <p:spPr>
          <a:xfrm>
            <a:off x="15357549" y="1590675"/>
            <a:ext cx="219338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40"/>
              </a:lnSpc>
            </a:pP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Etudiants</a:t>
            </a:r>
            <a:endParaRPr lang="en-US" sz="17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grpSp>
        <p:nvGrpSpPr>
          <p:cNvPr id="129" name="Group 129"/>
          <p:cNvGrpSpPr/>
          <p:nvPr/>
        </p:nvGrpSpPr>
        <p:grpSpPr>
          <a:xfrm>
            <a:off x="14628035" y="3503169"/>
            <a:ext cx="2154589" cy="312719"/>
            <a:chOff x="0" y="0"/>
            <a:chExt cx="567464" cy="82362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567464" cy="82362"/>
            </a:xfrm>
            <a:custGeom>
              <a:avLst/>
              <a:gdLst/>
              <a:ahLst/>
              <a:cxnLst/>
              <a:rect l="l" t="t" r="r" b="b"/>
              <a:pathLst>
                <a:path w="567464" h="82362">
                  <a:moveTo>
                    <a:pt x="41181" y="0"/>
                  </a:moveTo>
                  <a:lnTo>
                    <a:pt x="526283" y="0"/>
                  </a:lnTo>
                  <a:cubicBezTo>
                    <a:pt x="549026" y="0"/>
                    <a:pt x="567464" y="18437"/>
                    <a:pt x="567464" y="41181"/>
                  </a:cubicBezTo>
                  <a:lnTo>
                    <a:pt x="567464" y="41181"/>
                  </a:lnTo>
                  <a:cubicBezTo>
                    <a:pt x="567464" y="63925"/>
                    <a:pt x="549026" y="82362"/>
                    <a:pt x="526283" y="82362"/>
                  </a:cubicBezTo>
                  <a:lnTo>
                    <a:pt x="41181" y="82362"/>
                  </a:lnTo>
                  <a:cubicBezTo>
                    <a:pt x="18437" y="82362"/>
                    <a:pt x="0" y="63925"/>
                    <a:pt x="0" y="41181"/>
                  </a:cubicBezTo>
                  <a:lnTo>
                    <a:pt x="0" y="41181"/>
                  </a:lnTo>
                  <a:cubicBezTo>
                    <a:pt x="0" y="18437"/>
                    <a:pt x="18437" y="0"/>
                    <a:pt x="41181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0" y="-19050"/>
              <a:ext cx="567464" cy="101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32" name="TextBox 132"/>
          <p:cNvSpPr txBox="1"/>
          <p:nvPr/>
        </p:nvSpPr>
        <p:spPr>
          <a:xfrm>
            <a:off x="14661941" y="3511088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EBF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Géographie cible</a:t>
            </a:r>
            <a:endParaRPr lang="en-US" sz="1900" b="1">
              <a:solidFill>
                <a:srgbClr val="FEBF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grpSp>
        <p:nvGrpSpPr>
          <p:cNvPr id="133" name="Group 133"/>
          <p:cNvGrpSpPr/>
          <p:nvPr/>
        </p:nvGrpSpPr>
        <p:grpSpPr>
          <a:xfrm>
            <a:off x="14656849" y="5575497"/>
            <a:ext cx="2370115" cy="335710"/>
            <a:chOff x="0" y="0"/>
            <a:chExt cx="624228" cy="88417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624228" cy="88417"/>
            </a:xfrm>
            <a:custGeom>
              <a:avLst/>
              <a:gdLst/>
              <a:ahLst/>
              <a:cxnLst/>
              <a:rect l="l" t="t" r="r" b="b"/>
              <a:pathLst>
                <a:path w="624228" h="88417">
                  <a:moveTo>
                    <a:pt x="39198" y="0"/>
                  </a:moveTo>
                  <a:lnTo>
                    <a:pt x="585030" y="0"/>
                  </a:lnTo>
                  <a:cubicBezTo>
                    <a:pt x="595426" y="0"/>
                    <a:pt x="605396" y="4130"/>
                    <a:pt x="612747" y="11481"/>
                  </a:cubicBezTo>
                  <a:cubicBezTo>
                    <a:pt x="620098" y="18832"/>
                    <a:pt x="624228" y="28802"/>
                    <a:pt x="624228" y="39198"/>
                  </a:cubicBezTo>
                  <a:lnTo>
                    <a:pt x="624228" y="49220"/>
                  </a:lnTo>
                  <a:cubicBezTo>
                    <a:pt x="624228" y="59616"/>
                    <a:pt x="620098" y="69586"/>
                    <a:pt x="612747" y="76937"/>
                  </a:cubicBezTo>
                  <a:cubicBezTo>
                    <a:pt x="605396" y="84288"/>
                    <a:pt x="595426" y="88417"/>
                    <a:pt x="585030" y="88417"/>
                  </a:cubicBezTo>
                  <a:lnTo>
                    <a:pt x="39198" y="88417"/>
                  </a:lnTo>
                  <a:cubicBezTo>
                    <a:pt x="28802" y="88417"/>
                    <a:pt x="18832" y="84288"/>
                    <a:pt x="11481" y="76937"/>
                  </a:cubicBezTo>
                  <a:cubicBezTo>
                    <a:pt x="4130" y="69586"/>
                    <a:pt x="0" y="59616"/>
                    <a:pt x="0" y="49220"/>
                  </a:cubicBezTo>
                  <a:lnTo>
                    <a:pt x="0" y="39198"/>
                  </a:lnTo>
                  <a:cubicBezTo>
                    <a:pt x="0" y="28802"/>
                    <a:pt x="4130" y="18832"/>
                    <a:pt x="11481" y="11481"/>
                  </a:cubicBezTo>
                  <a:cubicBezTo>
                    <a:pt x="18832" y="4130"/>
                    <a:pt x="28802" y="0"/>
                    <a:pt x="39198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0" y="-19050"/>
              <a:ext cx="624228" cy="107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36" name="TextBox 136"/>
          <p:cNvSpPr txBox="1"/>
          <p:nvPr/>
        </p:nvSpPr>
        <p:spPr>
          <a:xfrm>
            <a:off x="14745214" y="5602348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EBF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Premiers Adopteurs</a:t>
            </a:r>
            <a:endParaRPr lang="en-US" sz="1900" b="1">
              <a:solidFill>
                <a:srgbClr val="FEBF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grpSp>
        <p:nvGrpSpPr>
          <p:cNvPr id="137" name="Group 137"/>
          <p:cNvGrpSpPr/>
          <p:nvPr/>
        </p:nvGrpSpPr>
        <p:grpSpPr>
          <a:xfrm>
            <a:off x="15055722" y="1943100"/>
            <a:ext cx="2788110" cy="312874"/>
            <a:chOff x="0" y="0"/>
            <a:chExt cx="734317" cy="82403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734317" cy="82403"/>
            </a:xfrm>
            <a:custGeom>
              <a:avLst/>
              <a:gdLst/>
              <a:ahLst/>
              <a:cxnLst/>
              <a:rect l="l" t="t" r="r" b="b"/>
              <a:pathLst>
                <a:path w="734317" h="82403">
                  <a:moveTo>
                    <a:pt x="33321" y="0"/>
                  </a:moveTo>
                  <a:lnTo>
                    <a:pt x="700996" y="0"/>
                  </a:lnTo>
                  <a:cubicBezTo>
                    <a:pt x="719399" y="0"/>
                    <a:pt x="734317" y="14918"/>
                    <a:pt x="734317" y="33321"/>
                  </a:cubicBezTo>
                  <a:lnTo>
                    <a:pt x="734317" y="49082"/>
                  </a:lnTo>
                  <a:cubicBezTo>
                    <a:pt x="734317" y="67485"/>
                    <a:pt x="719399" y="82403"/>
                    <a:pt x="700996" y="82403"/>
                  </a:cubicBezTo>
                  <a:lnTo>
                    <a:pt x="33321" y="82403"/>
                  </a:lnTo>
                  <a:cubicBezTo>
                    <a:pt x="24484" y="82403"/>
                    <a:pt x="16008" y="78892"/>
                    <a:pt x="9760" y="72643"/>
                  </a:cubicBezTo>
                  <a:cubicBezTo>
                    <a:pt x="3511" y="66394"/>
                    <a:pt x="0" y="57919"/>
                    <a:pt x="0" y="49082"/>
                  </a:cubicBezTo>
                  <a:lnTo>
                    <a:pt x="0" y="33321"/>
                  </a:lnTo>
                  <a:cubicBezTo>
                    <a:pt x="0" y="14918"/>
                    <a:pt x="14918" y="0"/>
                    <a:pt x="33321" y="0"/>
                  </a:cubicBezTo>
                  <a:close/>
                </a:path>
              </a:pathLst>
            </a:custGeom>
            <a:solidFill>
              <a:srgbClr val="FAFEFC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0" y="-19050"/>
              <a:ext cx="734317" cy="101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40" name="TextBox 140"/>
          <p:cNvSpPr txBox="1"/>
          <p:nvPr/>
        </p:nvSpPr>
        <p:spPr>
          <a:xfrm>
            <a:off x="15092752" y="1971675"/>
            <a:ext cx="271405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40"/>
              </a:lnSpc>
            </a:pP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Installateurs et PME solaires</a:t>
            </a:r>
            <a:endParaRPr lang="en-US" sz="17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42" name="Freeform 142"/>
          <p:cNvSpPr/>
          <p:nvPr/>
        </p:nvSpPr>
        <p:spPr>
          <a:xfrm>
            <a:off x="15102334" y="2359652"/>
            <a:ext cx="2703814" cy="269248"/>
          </a:xfrm>
          <a:custGeom>
            <a:avLst/>
            <a:gdLst/>
            <a:ahLst/>
            <a:cxnLst/>
            <a:rect l="l" t="t" r="r" b="b"/>
            <a:pathLst>
              <a:path w="712116" h="88680">
                <a:moveTo>
                  <a:pt x="34360" y="0"/>
                </a:moveTo>
                <a:lnTo>
                  <a:pt x="677756" y="0"/>
                </a:lnTo>
                <a:cubicBezTo>
                  <a:pt x="696732" y="0"/>
                  <a:pt x="712116" y="15383"/>
                  <a:pt x="712116" y="34360"/>
                </a:cubicBezTo>
                <a:lnTo>
                  <a:pt x="712116" y="54320"/>
                </a:lnTo>
                <a:cubicBezTo>
                  <a:pt x="712116" y="73296"/>
                  <a:pt x="696732" y="88680"/>
                  <a:pt x="677756" y="88680"/>
                </a:cubicBezTo>
                <a:lnTo>
                  <a:pt x="34360" y="88680"/>
                </a:lnTo>
                <a:cubicBezTo>
                  <a:pt x="15383" y="88680"/>
                  <a:pt x="0" y="73296"/>
                  <a:pt x="0" y="54320"/>
                </a:cubicBezTo>
                <a:lnTo>
                  <a:pt x="0" y="34360"/>
                </a:lnTo>
                <a:cubicBezTo>
                  <a:pt x="0" y="15383"/>
                  <a:pt x="15383" y="0"/>
                  <a:pt x="34360" y="0"/>
                </a:cubicBezTo>
                <a:close/>
              </a:path>
            </a:pathLst>
          </a:custGeom>
          <a:solidFill>
            <a:srgbClr val="FAFEFC"/>
          </a:solidFill>
          <a:ln w="38100" cap="sq">
            <a:solidFill>
              <a:srgbClr val="FEBF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43" name="TextBox 143"/>
          <p:cNvSpPr txBox="1"/>
          <p:nvPr/>
        </p:nvSpPr>
        <p:spPr>
          <a:xfrm>
            <a:off x="15102334" y="2238138"/>
            <a:ext cx="2703814" cy="40903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144" name="TextBox 144"/>
          <p:cNvSpPr txBox="1"/>
          <p:nvPr/>
        </p:nvSpPr>
        <p:spPr>
          <a:xfrm>
            <a:off x="15334092" y="2352675"/>
            <a:ext cx="219338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40"/>
              </a:lnSpc>
            </a:pP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Bureaux d'études</a:t>
            </a:r>
            <a:endParaRPr lang="en-US" sz="17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46" name="Freeform 146"/>
          <p:cNvSpPr/>
          <p:nvPr/>
        </p:nvSpPr>
        <p:spPr>
          <a:xfrm>
            <a:off x="15102334" y="2704326"/>
            <a:ext cx="2703814" cy="284084"/>
          </a:xfrm>
          <a:custGeom>
            <a:avLst/>
            <a:gdLst/>
            <a:ahLst/>
            <a:cxnLst/>
            <a:rect l="l" t="t" r="r" b="b"/>
            <a:pathLst>
              <a:path w="712116" h="88680">
                <a:moveTo>
                  <a:pt x="34360" y="0"/>
                </a:moveTo>
                <a:lnTo>
                  <a:pt x="677756" y="0"/>
                </a:lnTo>
                <a:cubicBezTo>
                  <a:pt x="696732" y="0"/>
                  <a:pt x="712116" y="15383"/>
                  <a:pt x="712116" y="34360"/>
                </a:cubicBezTo>
                <a:lnTo>
                  <a:pt x="712116" y="54320"/>
                </a:lnTo>
                <a:cubicBezTo>
                  <a:pt x="712116" y="73296"/>
                  <a:pt x="696732" y="88680"/>
                  <a:pt x="677756" y="88680"/>
                </a:cubicBezTo>
                <a:lnTo>
                  <a:pt x="34360" y="88680"/>
                </a:lnTo>
                <a:cubicBezTo>
                  <a:pt x="15383" y="88680"/>
                  <a:pt x="0" y="73296"/>
                  <a:pt x="0" y="54320"/>
                </a:cubicBezTo>
                <a:lnTo>
                  <a:pt x="0" y="34360"/>
                </a:lnTo>
                <a:cubicBezTo>
                  <a:pt x="0" y="15383"/>
                  <a:pt x="15383" y="0"/>
                  <a:pt x="34360" y="0"/>
                </a:cubicBezTo>
                <a:close/>
              </a:path>
            </a:pathLst>
          </a:custGeom>
          <a:solidFill>
            <a:srgbClr val="FAFEFC"/>
          </a:solidFill>
          <a:ln w="38100" cap="sq">
            <a:solidFill>
              <a:srgbClr val="FEBF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47" name="TextBox 147"/>
          <p:cNvSpPr txBox="1"/>
          <p:nvPr/>
        </p:nvSpPr>
        <p:spPr>
          <a:xfrm>
            <a:off x="15102334" y="2631995"/>
            <a:ext cx="2703814" cy="40903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148" name="TextBox 148"/>
          <p:cNvSpPr txBox="1"/>
          <p:nvPr/>
        </p:nvSpPr>
        <p:spPr>
          <a:xfrm>
            <a:off x="15247923" y="2713850"/>
            <a:ext cx="2365723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40"/>
              </a:lnSpc>
            </a:pP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Institutions académiques</a:t>
            </a:r>
            <a:endParaRPr lang="en-US" sz="17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50" name="Freeform 150"/>
          <p:cNvSpPr/>
          <p:nvPr/>
        </p:nvSpPr>
        <p:spPr>
          <a:xfrm>
            <a:off x="15102334" y="3107706"/>
            <a:ext cx="2703814" cy="268443"/>
          </a:xfrm>
          <a:custGeom>
            <a:avLst/>
            <a:gdLst/>
            <a:ahLst/>
            <a:cxnLst/>
            <a:rect l="l" t="t" r="r" b="b"/>
            <a:pathLst>
              <a:path w="712116" h="88680">
                <a:moveTo>
                  <a:pt x="34360" y="0"/>
                </a:moveTo>
                <a:lnTo>
                  <a:pt x="677756" y="0"/>
                </a:lnTo>
                <a:cubicBezTo>
                  <a:pt x="696732" y="0"/>
                  <a:pt x="712116" y="15383"/>
                  <a:pt x="712116" y="34360"/>
                </a:cubicBezTo>
                <a:lnTo>
                  <a:pt x="712116" y="54320"/>
                </a:lnTo>
                <a:cubicBezTo>
                  <a:pt x="712116" y="73296"/>
                  <a:pt x="696732" y="88680"/>
                  <a:pt x="677756" y="88680"/>
                </a:cubicBezTo>
                <a:lnTo>
                  <a:pt x="34360" y="88680"/>
                </a:lnTo>
                <a:cubicBezTo>
                  <a:pt x="15383" y="88680"/>
                  <a:pt x="0" y="73296"/>
                  <a:pt x="0" y="54320"/>
                </a:cubicBezTo>
                <a:lnTo>
                  <a:pt x="0" y="34360"/>
                </a:lnTo>
                <a:cubicBezTo>
                  <a:pt x="0" y="15383"/>
                  <a:pt x="15383" y="0"/>
                  <a:pt x="34360" y="0"/>
                </a:cubicBezTo>
                <a:close/>
              </a:path>
            </a:pathLst>
          </a:custGeom>
          <a:solidFill>
            <a:srgbClr val="FAFEFC"/>
          </a:solidFill>
          <a:ln w="38100" cap="sq">
            <a:solidFill>
              <a:srgbClr val="FEBF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51" name="TextBox 151"/>
          <p:cNvSpPr txBox="1"/>
          <p:nvPr/>
        </p:nvSpPr>
        <p:spPr>
          <a:xfrm>
            <a:off x="15102334" y="3035376"/>
            <a:ext cx="2703814" cy="40903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152" name="TextBox 152"/>
          <p:cNvSpPr txBox="1"/>
          <p:nvPr/>
        </p:nvSpPr>
        <p:spPr>
          <a:xfrm>
            <a:off x="15358860" y="3117231"/>
            <a:ext cx="2181833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40"/>
              </a:lnSpc>
            </a:pPr>
            <a:r>
              <a:rPr lang="en-US" sz="1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ONG / Gouvernements</a:t>
            </a:r>
            <a:endParaRPr lang="en-US" sz="17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53" name="TextBox 153"/>
          <p:cNvSpPr txBox="1"/>
          <p:nvPr/>
        </p:nvSpPr>
        <p:spPr>
          <a:xfrm>
            <a:off x="14730398" y="5916673"/>
            <a:ext cx="3341201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Les 300+ professionnels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ayant testé les versions précédentes (2020–2025)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Étudiants en </a:t>
            </a: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master et doctorat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énergie solaire (Togo, Burkina Faso, Bénin)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Installateurs solaires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perdant des clients à cause du surdimensionnement.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5" name="TextBox 155"/>
          <p:cNvSpPr txBox="1"/>
          <p:nvPr/>
        </p:nvSpPr>
        <p:spPr>
          <a:xfrm>
            <a:off x="11034912" y="4894092"/>
            <a:ext cx="3408147" cy="2436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Plateforme web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(téléchargement + Activation de licence)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SEO et réseaux sociaux (</a:t>
            </a: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LinkedIn, Facebook, YouTube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Emailing ciblé et campagnes automatisées</a:t>
            </a:r>
            <a:endParaRPr lang="en-US" sz="16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Institutions académiques CEDEAO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Réseau de formateurs certifiés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Salons et démonstrations terrain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Mobile Money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(Moov, YAS)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6" name="TextBox 156"/>
          <p:cNvSpPr txBox="1"/>
          <p:nvPr/>
        </p:nvSpPr>
        <p:spPr>
          <a:xfrm>
            <a:off x="319097" y="8072025"/>
            <a:ext cx="210520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CAPEX ( Matériel )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11 800 000 F CFA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just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Coût fixe · 26% du total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TextBox 157"/>
          <p:cNvSpPr txBox="1"/>
          <p:nvPr/>
        </p:nvSpPr>
        <p:spPr>
          <a:xfrm>
            <a:off x="2596797" y="8072025"/>
            <a:ext cx="210520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OPEX Année 1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21 500 000 F CFA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Coût variable annuel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TextBox 158"/>
          <p:cNvSpPr txBox="1"/>
          <p:nvPr/>
        </p:nvSpPr>
        <p:spPr>
          <a:xfrm>
            <a:off x="4836098" y="8089502"/>
            <a:ext cx="2308973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Réserve sécurité (12 mois)</a:t>
            </a:r>
            <a:endParaRPr lang="en-US" sz="16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21 500 000 F CFA  </a:t>
            </a:r>
            <a:r>
              <a:rPr 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Trésorerie garantie</a:t>
            </a:r>
            <a:endParaRPr lang="en-US" sz="16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TextBox 159"/>
          <p:cNvSpPr txBox="1"/>
          <p:nvPr/>
        </p:nvSpPr>
        <p:spPr>
          <a:xfrm>
            <a:off x="270869" y="8982075"/>
            <a:ext cx="21052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Total financement 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54 800 000 F CFA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193768" y="9611371"/>
            <a:ext cx="4642330" cy="471300"/>
          </a:xfrm>
          <a:custGeom>
            <a:avLst/>
            <a:gdLst/>
            <a:ahLst/>
            <a:cxnLst/>
            <a:rect l="l" t="t" r="r" b="b"/>
            <a:pathLst>
              <a:path w="1222671" h="124128">
                <a:moveTo>
                  <a:pt x="20012" y="0"/>
                </a:moveTo>
                <a:lnTo>
                  <a:pt x="1202659" y="0"/>
                </a:lnTo>
                <a:cubicBezTo>
                  <a:pt x="1213712" y="0"/>
                  <a:pt x="1222671" y="8960"/>
                  <a:pt x="1222671" y="20012"/>
                </a:cubicBezTo>
                <a:lnTo>
                  <a:pt x="1222671" y="104116"/>
                </a:lnTo>
                <a:cubicBezTo>
                  <a:pt x="1222671" y="115169"/>
                  <a:pt x="1213712" y="124128"/>
                  <a:pt x="1202659" y="124128"/>
                </a:cubicBezTo>
                <a:lnTo>
                  <a:pt x="20012" y="124128"/>
                </a:lnTo>
                <a:cubicBezTo>
                  <a:pt x="8960" y="124128"/>
                  <a:pt x="0" y="115169"/>
                  <a:pt x="0" y="104116"/>
                </a:cubicBezTo>
                <a:lnTo>
                  <a:pt x="0" y="20012"/>
                </a:lnTo>
                <a:cubicBezTo>
                  <a:pt x="0" y="8960"/>
                  <a:pt x="8960" y="0"/>
                  <a:pt x="20012" y="0"/>
                </a:cubicBezTo>
                <a:close/>
              </a:path>
            </a:pathLst>
          </a:custGeom>
          <a:solidFill>
            <a:srgbClr val="FAFEFC"/>
          </a:solidFill>
          <a:ln w="3810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62" name="TextBox 162"/>
          <p:cNvSpPr txBox="1"/>
          <p:nvPr/>
        </p:nvSpPr>
        <p:spPr>
          <a:xfrm>
            <a:off x="193768" y="9539040"/>
            <a:ext cx="4642330" cy="54363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163" name="TextBox 163"/>
          <p:cNvSpPr txBox="1"/>
          <p:nvPr/>
        </p:nvSpPr>
        <p:spPr>
          <a:xfrm>
            <a:off x="162074" y="9779821"/>
            <a:ext cx="468451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FEBF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30% fonds propres</a:t>
            </a: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sz="1600" b="1" dirty="0">
                <a:solidFill>
                  <a:srgbClr val="FF313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70% dette</a:t>
            </a: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Prêt 5 ans à 10%/an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64" name="TextBox 164"/>
          <p:cNvSpPr txBox="1"/>
          <p:nvPr/>
        </p:nvSpPr>
        <p:spPr>
          <a:xfrm>
            <a:off x="1980031" y="9592321"/>
            <a:ext cx="106980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Structure</a:t>
            </a:r>
            <a:endParaRPr lang="en-US" sz="16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65" name="TextBox 165"/>
          <p:cNvSpPr txBox="1"/>
          <p:nvPr/>
        </p:nvSpPr>
        <p:spPr>
          <a:xfrm>
            <a:off x="2615847" y="8972550"/>
            <a:ext cx="21052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Financement sollicité </a:t>
            </a:r>
            <a:endParaRPr lang="en-US" sz="160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38 360 000 F CFA</a:t>
            </a:r>
            <a:endParaRPr lang="en-US" sz="160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66" name="TextBox 166"/>
          <p:cNvSpPr txBox="1"/>
          <p:nvPr/>
        </p:nvSpPr>
        <p:spPr>
          <a:xfrm>
            <a:off x="4721046" y="8898759"/>
            <a:ext cx="2407206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4 emplois directs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créés en Année 1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 net cumulé 5 ans : </a:t>
            </a: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+116M F CFA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345440" lvl="1" indent="-172720" algn="just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Point mort :</a:t>
            </a: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T1 2028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67" name="TextBox 167"/>
          <p:cNvSpPr txBox="1"/>
          <p:nvPr/>
        </p:nvSpPr>
        <p:spPr>
          <a:xfrm>
            <a:off x="10952540" y="8105363"/>
            <a:ext cx="2308973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Licences Étudiants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1 000 – 5 000 F CFA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Volume élevé : futurs pro</a:t>
            </a: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sz="1600" b="1" dirty="0">
                <a:solidFill>
                  <a:srgbClr val="FF75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Taux conversion de 7%</a:t>
            </a:r>
            <a:endParaRPr lang="en-US" sz="1600" b="1" dirty="0">
              <a:solidFill>
                <a:srgbClr val="FF75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grpSp>
        <p:nvGrpSpPr>
          <p:cNvPr id="168" name="Group 168"/>
          <p:cNvGrpSpPr/>
          <p:nvPr/>
        </p:nvGrpSpPr>
        <p:grpSpPr>
          <a:xfrm>
            <a:off x="13336877" y="8052874"/>
            <a:ext cx="2333625" cy="1095579"/>
            <a:chOff x="0" y="0"/>
            <a:chExt cx="614617" cy="288547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614617" cy="288547"/>
            </a:xfrm>
            <a:custGeom>
              <a:avLst/>
              <a:gdLst/>
              <a:ahLst/>
              <a:cxnLst/>
              <a:rect l="l" t="t" r="r" b="b"/>
              <a:pathLst>
                <a:path w="614617" h="288547">
                  <a:moveTo>
                    <a:pt x="39811" y="0"/>
                  </a:moveTo>
                  <a:lnTo>
                    <a:pt x="574807" y="0"/>
                  </a:lnTo>
                  <a:cubicBezTo>
                    <a:pt x="596793" y="0"/>
                    <a:pt x="614617" y="17824"/>
                    <a:pt x="614617" y="39811"/>
                  </a:cubicBezTo>
                  <a:lnTo>
                    <a:pt x="614617" y="248737"/>
                  </a:lnTo>
                  <a:cubicBezTo>
                    <a:pt x="614617" y="270724"/>
                    <a:pt x="596793" y="288547"/>
                    <a:pt x="574807" y="288547"/>
                  </a:cubicBezTo>
                  <a:lnTo>
                    <a:pt x="39811" y="288547"/>
                  </a:lnTo>
                  <a:cubicBezTo>
                    <a:pt x="17824" y="288547"/>
                    <a:pt x="0" y="270724"/>
                    <a:pt x="0" y="248737"/>
                  </a:cubicBezTo>
                  <a:lnTo>
                    <a:pt x="0" y="39811"/>
                  </a:lnTo>
                  <a:cubicBezTo>
                    <a:pt x="0" y="17824"/>
                    <a:pt x="17824" y="0"/>
                    <a:pt x="39811" y="0"/>
                  </a:cubicBezTo>
                  <a:close/>
                </a:path>
              </a:pathLst>
            </a:custGeom>
            <a:solidFill>
              <a:srgbClr val="FAFEFC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0" y="-19050"/>
              <a:ext cx="614617" cy="307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15721213" y="8060355"/>
            <a:ext cx="2333625" cy="1095579"/>
            <a:chOff x="0" y="0"/>
            <a:chExt cx="614617" cy="288547"/>
          </a:xfrm>
        </p:grpSpPr>
        <p:sp>
          <p:nvSpPr>
            <p:cNvPr id="172" name="Freeform 172"/>
            <p:cNvSpPr/>
            <p:nvPr/>
          </p:nvSpPr>
          <p:spPr>
            <a:xfrm>
              <a:off x="0" y="0"/>
              <a:ext cx="614617" cy="288547"/>
            </a:xfrm>
            <a:custGeom>
              <a:avLst/>
              <a:gdLst/>
              <a:ahLst/>
              <a:cxnLst/>
              <a:rect l="l" t="t" r="r" b="b"/>
              <a:pathLst>
                <a:path w="614617" h="288547">
                  <a:moveTo>
                    <a:pt x="39811" y="0"/>
                  </a:moveTo>
                  <a:lnTo>
                    <a:pt x="574807" y="0"/>
                  </a:lnTo>
                  <a:cubicBezTo>
                    <a:pt x="596793" y="0"/>
                    <a:pt x="614617" y="17824"/>
                    <a:pt x="614617" y="39811"/>
                  </a:cubicBezTo>
                  <a:lnTo>
                    <a:pt x="614617" y="248737"/>
                  </a:lnTo>
                  <a:cubicBezTo>
                    <a:pt x="614617" y="270724"/>
                    <a:pt x="596793" y="288547"/>
                    <a:pt x="574807" y="288547"/>
                  </a:cubicBezTo>
                  <a:lnTo>
                    <a:pt x="39811" y="288547"/>
                  </a:lnTo>
                  <a:cubicBezTo>
                    <a:pt x="17824" y="288547"/>
                    <a:pt x="0" y="270724"/>
                    <a:pt x="0" y="248737"/>
                  </a:cubicBezTo>
                  <a:lnTo>
                    <a:pt x="0" y="39811"/>
                  </a:lnTo>
                  <a:cubicBezTo>
                    <a:pt x="0" y="17824"/>
                    <a:pt x="17824" y="0"/>
                    <a:pt x="39811" y="0"/>
                  </a:cubicBezTo>
                  <a:close/>
                </a:path>
              </a:pathLst>
            </a:custGeom>
            <a:solidFill>
              <a:srgbClr val="FAFEFC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0" y="-19050"/>
              <a:ext cx="614617" cy="307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74" name="TextBox 174"/>
          <p:cNvSpPr txBox="1"/>
          <p:nvPr/>
        </p:nvSpPr>
        <p:spPr>
          <a:xfrm>
            <a:off x="13336877" y="8127602"/>
            <a:ext cx="2308973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Licences Commerciales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5 000 – 30 000 F CFA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Moteur principal du CA</a:t>
            </a: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</a:t>
            </a:r>
            <a:r>
              <a:rPr lang="en-US" sz="1600" b="1" dirty="0">
                <a:solidFill>
                  <a:srgbClr val="FF75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Taux conversion de  5%</a:t>
            </a:r>
            <a:endParaRPr lang="en-US" sz="1600" b="1" dirty="0">
              <a:solidFill>
                <a:srgbClr val="FF75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5" name="TextBox 175"/>
          <p:cNvSpPr txBox="1"/>
          <p:nvPr/>
        </p:nvSpPr>
        <p:spPr>
          <a:xfrm>
            <a:off x="15746702" y="8112844"/>
            <a:ext cx="2308973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Licences Académiques 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jusqu'à </a:t>
            </a: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150 000 F CFA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Haute valeur unitaire</a:t>
            </a: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sz="1600" b="1" dirty="0">
                <a:solidFill>
                  <a:srgbClr val="FF75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Taux conversion de 1%</a:t>
            </a:r>
            <a:endParaRPr lang="en-US" sz="1600" b="1" dirty="0">
              <a:solidFill>
                <a:srgbClr val="FF75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grpSp>
        <p:nvGrpSpPr>
          <p:cNvPr id="176" name="Group 176"/>
          <p:cNvGrpSpPr/>
          <p:nvPr/>
        </p:nvGrpSpPr>
        <p:grpSpPr>
          <a:xfrm>
            <a:off x="10952540" y="9236221"/>
            <a:ext cx="2528414" cy="833539"/>
            <a:chOff x="0" y="0"/>
            <a:chExt cx="665920" cy="219533"/>
          </a:xfrm>
        </p:grpSpPr>
        <p:sp>
          <p:nvSpPr>
            <p:cNvPr id="177" name="Freeform 177"/>
            <p:cNvSpPr/>
            <p:nvPr/>
          </p:nvSpPr>
          <p:spPr>
            <a:xfrm>
              <a:off x="0" y="0"/>
              <a:ext cx="665920" cy="219533"/>
            </a:xfrm>
            <a:custGeom>
              <a:avLst/>
              <a:gdLst/>
              <a:ahLst/>
              <a:cxnLst/>
              <a:rect l="l" t="t" r="r" b="b"/>
              <a:pathLst>
                <a:path w="665920" h="219533">
                  <a:moveTo>
                    <a:pt x="36744" y="0"/>
                  </a:moveTo>
                  <a:lnTo>
                    <a:pt x="629176" y="0"/>
                  </a:lnTo>
                  <a:cubicBezTo>
                    <a:pt x="649469" y="0"/>
                    <a:pt x="665920" y="16451"/>
                    <a:pt x="665920" y="36744"/>
                  </a:cubicBezTo>
                  <a:lnTo>
                    <a:pt x="665920" y="182789"/>
                  </a:lnTo>
                  <a:cubicBezTo>
                    <a:pt x="665920" y="203082"/>
                    <a:pt x="649469" y="219533"/>
                    <a:pt x="629176" y="219533"/>
                  </a:cubicBezTo>
                  <a:lnTo>
                    <a:pt x="36744" y="219533"/>
                  </a:lnTo>
                  <a:cubicBezTo>
                    <a:pt x="16451" y="219533"/>
                    <a:pt x="0" y="203082"/>
                    <a:pt x="0" y="182789"/>
                  </a:cubicBezTo>
                  <a:lnTo>
                    <a:pt x="0" y="36744"/>
                  </a:lnTo>
                  <a:cubicBezTo>
                    <a:pt x="0" y="16451"/>
                    <a:pt x="16451" y="0"/>
                    <a:pt x="36744" y="0"/>
                  </a:cubicBezTo>
                  <a:close/>
                </a:path>
              </a:pathLst>
            </a:custGeom>
            <a:solidFill>
              <a:srgbClr val="FAFEFC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0" y="-19050"/>
              <a:ext cx="665920" cy="23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79" name="TextBox 179"/>
          <p:cNvSpPr txBox="1"/>
          <p:nvPr/>
        </p:nvSpPr>
        <p:spPr>
          <a:xfrm>
            <a:off x="10979439" y="9281802"/>
            <a:ext cx="246112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Certifications et Formations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Revenus additionnels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 KYA-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SolDesign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Certified »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80" name="Group 180"/>
          <p:cNvGrpSpPr/>
          <p:nvPr/>
        </p:nvGrpSpPr>
        <p:grpSpPr>
          <a:xfrm>
            <a:off x="13567553" y="9232134"/>
            <a:ext cx="2160973" cy="833539"/>
            <a:chOff x="0" y="0"/>
            <a:chExt cx="569145" cy="219533"/>
          </a:xfrm>
        </p:grpSpPr>
        <p:sp>
          <p:nvSpPr>
            <p:cNvPr id="181" name="Freeform 181"/>
            <p:cNvSpPr/>
            <p:nvPr/>
          </p:nvSpPr>
          <p:spPr>
            <a:xfrm>
              <a:off x="0" y="0"/>
              <a:ext cx="569145" cy="219533"/>
            </a:xfrm>
            <a:custGeom>
              <a:avLst/>
              <a:gdLst/>
              <a:ahLst/>
              <a:cxnLst/>
              <a:rect l="l" t="t" r="r" b="b"/>
              <a:pathLst>
                <a:path w="569145" h="219533">
                  <a:moveTo>
                    <a:pt x="42991" y="0"/>
                  </a:moveTo>
                  <a:lnTo>
                    <a:pt x="526154" y="0"/>
                  </a:lnTo>
                  <a:cubicBezTo>
                    <a:pt x="549897" y="0"/>
                    <a:pt x="569145" y="19248"/>
                    <a:pt x="569145" y="42991"/>
                  </a:cubicBezTo>
                  <a:lnTo>
                    <a:pt x="569145" y="176542"/>
                  </a:lnTo>
                  <a:cubicBezTo>
                    <a:pt x="569145" y="200285"/>
                    <a:pt x="549897" y="219533"/>
                    <a:pt x="526154" y="219533"/>
                  </a:cubicBezTo>
                  <a:lnTo>
                    <a:pt x="42991" y="219533"/>
                  </a:lnTo>
                  <a:cubicBezTo>
                    <a:pt x="19248" y="219533"/>
                    <a:pt x="0" y="200285"/>
                    <a:pt x="0" y="176542"/>
                  </a:cubicBezTo>
                  <a:lnTo>
                    <a:pt x="0" y="42991"/>
                  </a:lnTo>
                  <a:cubicBezTo>
                    <a:pt x="0" y="19248"/>
                    <a:pt x="19248" y="0"/>
                    <a:pt x="42991" y="0"/>
                  </a:cubicBezTo>
                  <a:close/>
                </a:path>
              </a:pathLst>
            </a:custGeom>
            <a:solidFill>
              <a:srgbClr val="FAFEFC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0" y="-19050"/>
              <a:ext cx="569145" cy="23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83" name="TextBox 183"/>
          <p:cNvSpPr txBox="1"/>
          <p:nvPr/>
        </p:nvSpPr>
        <p:spPr>
          <a:xfrm>
            <a:off x="13497940" y="9260709"/>
            <a:ext cx="227546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Modèle de paiement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Mobile Money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sz="1600" b="1" dirty="0">
                <a:solidFill>
                  <a:srgbClr val="FF75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Sans friction</a:t>
            </a:r>
            <a:endParaRPr lang="en-US" sz="1600" b="1" dirty="0">
              <a:solidFill>
                <a:srgbClr val="FF75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4" name="TextBox 184"/>
          <p:cNvSpPr txBox="1"/>
          <p:nvPr/>
        </p:nvSpPr>
        <p:spPr>
          <a:xfrm>
            <a:off x="15644856" y="9276753"/>
            <a:ext cx="245824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Projections CA</a:t>
            </a:r>
            <a:endParaRPr lang="en-US" sz="16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345440" lvl="1" indent="-172720" algn="l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 2026 : </a:t>
            </a:r>
            <a:r>
              <a:rPr lang="en-US" sz="1600" b="1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7,9M F CFA</a:t>
            </a:r>
            <a:endParaRPr lang="en-US" sz="1600" b="1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345440" lvl="1" indent="-172720" algn="l">
              <a:lnSpc>
                <a:spcPts val="1920"/>
              </a:lnSpc>
              <a:buFont typeface="Arial" panose="020B0604020202020204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 2030 : </a:t>
            </a:r>
            <a:r>
              <a:rPr lang="en-US" sz="1600" b="1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143M F CFA</a:t>
            </a:r>
            <a:endParaRPr lang="en-US" sz="1600" b="1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5" name="TextBox 185"/>
          <p:cNvSpPr txBox="1"/>
          <p:nvPr/>
        </p:nvSpPr>
        <p:spPr>
          <a:xfrm>
            <a:off x="7352090" y="9003902"/>
            <a:ext cx="345769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dirty="0">
                <a:solidFill>
                  <a:srgbClr val="FF75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Démocratiser l’accès à l’énergie durable.</a:t>
            </a:r>
            <a:endParaRPr lang="en-US" sz="1600" dirty="0">
              <a:solidFill>
                <a:srgbClr val="FF75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6" name="TextBox 186"/>
          <p:cNvSpPr txBox="1"/>
          <p:nvPr/>
        </p:nvSpPr>
        <p:spPr>
          <a:xfrm>
            <a:off x="7376199" y="7912921"/>
            <a:ext cx="3285531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600" dirty="0">
                <a:solidFill>
                  <a:srgbClr val="76069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Transformer, de façon innovante, des ressources énergétiques renouvelables pour produire de l’énergie propre, fiable et abordable à tous.</a:t>
            </a:r>
            <a:endParaRPr lang="en-US" sz="1600" dirty="0">
              <a:solidFill>
                <a:srgbClr val="76069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TextBox 187"/>
          <p:cNvSpPr txBox="1"/>
          <p:nvPr/>
        </p:nvSpPr>
        <p:spPr>
          <a:xfrm>
            <a:off x="7385666" y="9354196"/>
            <a:ext cx="328564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600" dirty="0">
                <a:solidFill>
                  <a:srgbClr val="22988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Professionnalisme, Rigueur, Esprit d’équipe, Ecoute du client, Intégrité, Transparence, Equité et Innovation.</a:t>
            </a:r>
            <a:endParaRPr lang="en-US" sz="1600" dirty="0">
              <a:solidFill>
                <a:srgbClr val="22988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TextBox 188"/>
          <p:cNvSpPr txBox="1"/>
          <p:nvPr/>
        </p:nvSpPr>
        <p:spPr>
          <a:xfrm>
            <a:off x="7109202" y="464813"/>
            <a:ext cx="4180613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Dimensionner mieux. Coûter moins. Éclairer plus.</a:t>
            </a:r>
            <a:endParaRPr lang="en-US" sz="16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9" name="TextBox 184"/>
          <p:cNvSpPr txBox="1"/>
          <p:nvPr/>
        </p:nvSpPr>
        <p:spPr>
          <a:xfrm>
            <a:off x="11102336" y="1623874"/>
            <a:ext cx="3340724" cy="2707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Modèle Freemium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accès gratuit pour attirer, puis conversion payante;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SEO, Webinaires de démonstration réguliers, tutoriels video, études de cas;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/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Partenariats académiques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(5 institutions);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/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Label de certification professionnelle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; 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/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Communauté de praticiens certifiés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;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Support technique dédié et documentation en ligne; 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Réseau de formateurs (bouche-à-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oreille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).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roupe 291"/>
          <p:cNvGrpSpPr/>
          <p:nvPr/>
        </p:nvGrpSpPr>
        <p:grpSpPr>
          <a:xfrm>
            <a:off x="7267358" y="7541814"/>
            <a:ext cx="3513732" cy="2622007"/>
            <a:chOff x="7267358" y="7541814"/>
            <a:chExt cx="3513732" cy="2622007"/>
          </a:xfrm>
        </p:grpSpPr>
        <p:grpSp>
          <p:nvGrpSpPr>
            <p:cNvPr id="58" name="Group 58"/>
            <p:cNvGrpSpPr/>
            <p:nvPr/>
          </p:nvGrpSpPr>
          <p:grpSpPr>
            <a:xfrm>
              <a:off x="7275890" y="7541814"/>
              <a:ext cx="3505200" cy="2622007"/>
              <a:chOff x="0" y="0"/>
              <a:chExt cx="936875" cy="70081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936875" cy="700814"/>
              </a:xfrm>
              <a:custGeom>
                <a:avLst/>
                <a:gdLst/>
                <a:ahLst/>
                <a:cxnLst/>
                <a:rect l="l" t="t" r="r" b="b"/>
                <a:pathLst>
                  <a:path w="936875" h="700814">
                    <a:moveTo>
                      <a:pt x="30922" y="0"/>
                    </a:moveTo>
                    <a:lnTo>
                      <a:pt x="905953" y="0"/>
                    </a:lnTo>
                    <a:cubicBezTo>
                      <a:pt x="914154" y="0"/>
                      <a:pt x="922019" y="3258"/>
                      <a:pt x="927818" y="9057"/>
                    </a:cubicBezTo>
                    <a:cubicBezTo>
                      <a:pt x="933617" y="14856"/>
                      <a:pt x="936875" y="22721"/>
                      <a:pt x="936875" y="30922"/>
                    </a:cubicBezTo>
                    <a:lnTo>
                      <a:pt x="936875" y="669892"/>
                    </a:lnTo>
                    <a:cubicBezTo>
                      <a:pt x="936875" y="686970"/>
                      <a:pt x="923031" y="700814"/>
                      <a:pt x="905953" y="700814"/>
                    </a:cubicBezTo>
                    <a:lnTo>
                      <a:pt x="30922" y="700814"/>
                    </a:lnTo>
                    <a:cubicBezTo>
                      <a:pt x="13844" y="700814"/>
                      <a:pt x="0" y="686970"/>
                      <a:pt x="0" y="669892"/>
                    </a:cubicBezTo>
                    <a:lnTo>
                      <a:pt x="0" y="30922"/>
                    </a:lnTo>
                    <a:cubicBezTo>
                      <a:pt x="0" y="13844"/>
                      <a:pt x="13844" y="0"/>
                      <a:pt x="309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76069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19050"/>
                <a:ext cx="936875" cy="7198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id="291" name="Flèche : pentagone 290"/>
            <p:cNvSpPr/>
            <p:nvPr/>
          </p:nvSpPr>
          <p:spPr>
            <a:xfrm>
              <a:off x="7268643" y="9426747"/>
              <a:ext cx="147406" cy="112293"/>
            </a:xfrm>
            <a:prstGeom prst="homePlat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89" name="Flèche : pentagone 288"/>
            <p:cNvSpPr/>
            <p:nvPr/>
          </p:nvSpPr>
          <p:spPr>
            <a:xfrm>
              <a:off x="7267358" y="7993070"/>
              <a:ext cx="172959" cy="112293"/>
            </a:xfrm>
            <a:prstGeom prst="homePlat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0" name="Flèche : pentagone 289"/>
            <p:cNvSpPr/>
            <p:nvPr/>
          </p:nvSpPr>
          <p:spPr>
            <a:xfrm>
              <a:off x="7268644" y="9056147"/>
              <a:ext cx="147406" cy="112293"/>
            </a:xfrm>
            <a:prstGeom prst="homePlat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578" y="7542042"/>
            <a:ext cx="7100587" cy="2621779"/>
            <a:chOff x="0" y="0"/>
            <a:chExt cx="1897855" cy="7007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7855" cy="700753"/>
            </a:xfrm>
            <a:custGeom>
              <a:avLst/>
              <a:gdLst/>
              <a:ahLst/>
              <a:cxnLst/>
              <a:rect l="l" t="t" r="r" b="b"/>
              <a:pathLst>
                <a:path w="1897855" h="700753">
                  <a:moveTo>
                    <a:pt x="15264" y="0"/>
                  </a:moveTo>
                  <a:lnTo>
                    <a:pt x="1882591" y="0"/>
                  </a:lnTo>
                  <a:cubicBezTo>
                    <a:pt x="1891021" y="0"/>
                    <a:pt x="1897855" y="6834"/>
                    <a:pt x="1897855" y="15264"/>
                  </a:cubicBezTo>
                  <a:lnTo>
                    <a:pt x="1897855" y="685489"/>
                  </a:lnTo>
                  <a:cubicBezTo>
                    <a:pt x="1897855" y="693919"/>
                    <a:pt x="1891021" y="700753"/>
                    <a:pt x="1882591" y="700753"/>
                  </a:cubicBezTo>
                  <a:lnTo>
                    <a:pt x="15264" y="700753"/>
                  </a:lnTo>
                  <a:cubicBezTo>
                    <a:pt x="6834" y="700753"/>
                    <a:pt x="0" y="693919"/>
                    <a:pt x="0" y="685489"/>
                  </a:cubicBezTo>
                  <a:lnTo>
                    <a:pt x="0" y="15264"/>
                  </a:lnTo>
                  <a:cubicBezTo>
                    <a:pt x="0" y="6834"/>
                    <a:pt x="6834" y="0"/>
                    <a:pt x="152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897855" cy="71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281" name="TextBox 26"/>
          <p:cNvSpPr txBox="1"/>
          <p:nvPr/>
        </p:nvSpPr>
        <p:spPr>
          <a:xfrm>
            <a:off x="4857051" y="7891349"/>
            <a:ext cx="2259402" cy="5950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277" name="Freeform 25"/>
          <p:cNvSpPr/>
          <p:nvPr/>
        </p:nvSpPr>
        <p:spPr>
          <a:xfrm>
            <a:off x="4522398" y="7936907"/>
            <a:ext cx="2259402" cy="549502"/>
          </a:xfrm>
          <a:custGeom>
            <a:avLst/>
            <a:gdLst/>
            <a:ahLst/>
            <a:cxnLst/>
            <a:rect l="l" t="t" r="r" b="b"/>
            <a:pathLst>
              <a:path w="595069" h="229772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88654"/>
                </a:lnTo>
                <a:cubicBezTo>
                  <a:pt x="595069" y="199559"/>
                  <a:pt x="590737" y="210018"/>
                  <a:pt x="583025" y="217729"/>
                </a:cubicBezTo>
                <a:cubicBezTo>
                  <a:pt x="575314" y="225440"/>
                  <a:pt x="564856" y="229772"/>
                  <a:pt x="553950" y="229772"/>
                </a:cubicBezTo>
                <a:lnTo>
                  <a:pt x="41118" y="229772"/>
                </a:lnTo>
                <a:cubicBezTo>
                  <a:pt x="30213" y="229772"/>
                  <a:pt x="19755" y="225440"/>
                  <a:pt x="12043" y="217729"/>
                </a:cubicBezTo>
                <a:cubicBezTo>
                  <a:pt x="4332" y="210018"/>
                  <a:pt x="0" y="199559"/>
                  <a:pt x="0" y="188654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78" name="TextBox 26"/>
          <p:cNvSpPr txBox="1"/>
          <p:nvPr/>
        </p:nvSpPr>
        <p:spPr>
          <a:xfrm>
            <a:off x="2510169" y="7891349"/>
            <a:ext cx="2259402" cy="5950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grpSp>
        <p:nvGrpSpPr>
          <p:cNvPr id="271" name="Groupe 270"/>
          <p:cNvGrpSpPr/>
          <p:nvPr/>
        </p:nvGrpSpPr>
        <p:grpSpPr>
          <a:xfrm>
            <a:off x="3679870" y="4562701"/>
            <a:ext cx="3512827" cy="2841001"/>
            <a:chOff x="3679870" y="4562701"/>
            <a:chExt cx="3512827" cy="2841001"/>
          </a:xfrm>
        </p:grpSpPr>
        <p:grpSp>
          <p:nvGrpSpPr>
            <p:cNvPr id="27" name="Group 27"/>
            <p:cNvGrpSpPr/>
            <p:nvPr/>
          </p:nvGrpSpPr>
          <p:grpSpPr>
            <a:xfrm>
              <a:off x="3687497" y="4562701"/>
              <a:ext cx="3505200" cy="2841001"/>
              <a:chOff x="0" y="0"/>
              <a:chExt cx="936875" cy="75934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36875" cy="759347"/>
              </a:xfrm>
              <a:custGeom>
                <a:avLst/>
                <a:gdLst/>
                <a:ahLst/>
                <a:cxnLst/>
                <a:rect l="l" t="t" r="r" b="b"/>
                <a:pathLst>
                  <a:path w="936875" h="759347">
                    <a:moveTo>
                      <a:pt x="30922" y="0"/>
                    </a:moveTo>
                    <a:lnTo>
                      <a:pt x="905953" y="0"/>
                    </a:lnTo>
                    <a:cubicBezTo>
                      <a:pt x="914154" y="0"/>
                      <a:pt x="922019" y="3258"/>
                      <a:pt x="927818" y="9057"/>
                    </a:cubicBezTo>
                    <a:cubicBezTo>
                      <a:pt x="933617" y="14856"/>
                      <a:pt x="936875" y="22721"/>
                      <a:pt x="936875" y="30922"/>
                    </a:cubicBezTo>
                    <a:lnTo>
                      <a:pt x="936875" y="728425"/>
                    </a:lnTo>
                    <a:cubicBezTo>
                      <a:pt x="936875" y="745503"/>
                      <a:pt x="923031" y="759347"/>
                      <a:pt x="905953" y="759347"/>
                    </a:cubicBezTo>
                    <a:lnTo>
                      <a:pt x="30922" y="759347"/>
                    </a:lnTo>
                    <a:cubicBezTo>
                      <a:pt x="13844" y="759347"/>
                      <a:pt x="0" y="745503"/>
                      <a:pt x="0" y="728425"/>
                    </a:cubicBezTo>
                    <a:lnTo>
                      <a:pt x="0" y="30922"/>
                    </a:lnTo>
                    <a:cubicBezTo>
                      <a:pt x="0" y="13844"/>
                      <a:pt x="13844" y="0"/>
                      <a:pt x="309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2988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 dirty="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19050"/>
                <a:ext cx="936875" cy="7783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id="264" name="Flèche : pentagone 263"/>
            <p:cNvSpPr/>
            <p:nvPr/>
          </p:nvSpPr>
          <p:spPr>
            <a:xfrm>
              <a:off x="3679870" y="5024187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5" name="Flèche : pentagone 264"/>
            <p:cNvSpPr/>
            <p:nvPr/>
          </p:nvSpPr>
          <p:spPr>
            <a:xfrm>
              <a:off x="3679870" y="5524138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6" name="Flèche : pentagone 265"/>
            <p:cNvSpPr/>
            <p:nvPr/>
          </p:nvSpPr>
          <p:spPr>
            <a:xfrm>
              <a:off x="3679870" y="6004885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7" name="Flèche : pentagone 266"/>
            <p:cNvSpPr/>
            <p:nvPr/>
          </p:nvSpPr>
          <p:spPr>
            <a:xfrm>
              <a:off x="3679870" y="6494225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8" name="Flèche : pentagone 267"/>
            <p:cNvSpPr/>
            <p:nvPr/>
          </p:nvSpPr>
          <p:spPr>
            <a:xfrm>
              <a:off x="3679870" y="6739654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9" name="Flèche : pentagone 268"/>
            <p:cNvSpPr/>
            <p:nvPr/>
          </p:nvSpPr>
          <p:spPr>
            <a:xfrm>
              <a:off x="3679870" y="7000214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70" name="Flèche : pentagone 269"/>
            <p:cNvSpPr/>
            <p:nvPr/>
          </p:nvSpPr>
          <p:spPr>
            <a:xfrm>
              <a:off x="3679870" y="7219932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63" name="Groupe 262"/>
          <p:cNvGrpSpPr/>
          <p:nvPr/>
        </p:nvGrpSpPr>
        <p:grpSpPr>
          <a:xfrm>
            <a:off x="3700940" y="1165588"/>
            <a:ext cx="3517800" cy="3263764"/>
            <a:chOff x="3700940" y="1165588"/>
            <a:chExt cx="3517800" cy="3263764"/>
          </a:xfrm>
        </p:grpSpPr>
        <p:grpSp>
          <p:nvGrpSpPr>
            <p:cNvPr id="15" name="Group 15"/>
            <p:cNvGrpSpPr/>
            <p:nvPr/>
          </p:nvGrpSpPr>
          <p:grpSpPr>
            <a:xfrm>
              <a:off x="3713540" y="1165588"/>
              <a:ext cx="3505200" cy="3263764"/>
              <a:chOff x="0" y="0"/>
              <a:chExt cx="936875" cy="87234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936875" cy="872344"/>
              </a:xfrm>
              <a:custGeom>
                <a:avLst/>
                <a:gdLst/>
                <a:ahLst/>
                <a:cxnLst/>
                <a:rect l="l" t="t" r="r" b="b"/>
                <a:pathLst>
                  <a:path w="936875" h="872344">
                    <a:moveTo>
                      <a:pt x="30922" y="0"/>
                    </a:moveTo>
                    <a:lnTo>
                      <a:pt x="905953" y="0"/>
                    </a:lnTo>
                    <a:cubicBezTo>
                      <a:pt x="914154" y="0"/>
                      <a:pt x="922019" y="3258"/>
                      <a:pt x="927818" y="9057"/>
                    </a:cubicBezTo>
                    <a:cubicBezTo>
                      <a:pt x="933617" y="14856"/>
                      <a:pt x="936875" y="22721"/>
                      <a:pt x="936875" y="30922"/>
                    </a:cubicBezTo>
                    <a:lnTo>
                      <a:pt x="936875" y="841422"/>
                    </a:lnTo>
                    <a:cubicBezTo>
                      <a:pt x="936875" y="858500"/>
                      <a:pt x="923031" y="872344"/>
                      <a:pt x="905953" y="872344"/>
                    </a:cubicBezTo>
                    <a:lnTo>
                      <a:pt x="30922" y="872344"/>
                    </a:lnTo>
                    <a:cubicBezTo>
                      <a:pt x="22721" y="872344"/>
                      <a:pt x="14856" y="869086"/>
                      <a:pt x="9057" y="863287"/>
                    </a:cubicBezTo>
                    <a:cubicBezTo>
                      <a:pt x="3258" y="857488"/>
                      <a:pt x="0" y="849623"/>
                      <a:pt x="0" y="841422"/>
                    </a:cubicBezTo>
                    <a:lnTo>
                      <a:pt x="0" y="30922"/>
                    </a:lnTo>
                    <a:cubicBezTo>
                      <a:pt x="0" y="13844"/>
                      <a:pt x="13844" y="0"/>
                      <a:pt x="309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2988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936875" cy="89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id="255" name="Flèche : pentagone 254"/>
            <p:cNvSpPr/>
            <p:nvPr/>
          </p:nvSpPr>
          <p:spPr>
            <a:xfrm>
              <a:off x="3709398" y="1585649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56" name="Flèche : pentagone 255"/>
            <p:cNvSpPr/>
            <p:nvPr/>
          </p:nvSpPr>
          <p:spPr>
            <a:xfrm>
              <a:off x="3700940" y="2072882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57" name="Flèche : pentagone 256"/>
            <p:cNvSpPr/>
            <p:nvPr/>
          </p:nvSpPr>
          <p:spPr>
            <a:xfrm>
              <a:off x="3704316" y="2558920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58" name="Flèche : pentagone 257"/>
            <p:cNvSpPr/>
            <p:nvPr/>
          </p:nvSpPr>
          <p:spPr>
            <a:xfrm>
              <a:off x="3702540" y="2788648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59" name="Flèche : pentagone 258"/>
            <p:cNvSpPr/>
            <p:nvPr/>
          </p:nvSpPr>
          <p:spPr>
            <a:xfrm>
              <a:off x="3709398" y="3016563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0" name="Flèche : pentagone 259"/>
            <p:cNvSpPr/>
            <p:nvPr/>
          </p:nvSpPr>
          <p:spPr>
            <a:xfrm>
              <a:off x="3704316" y="3975725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1" name="Flèche : pentagone 260"/>
            <p:cNvSpPr/>
            <p:nvPr/>
          </p:nvSpPr>
          <p:spPr>
            <a:xfrm>
              <a:off x="3701702" y="3497104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2" name="Flèche : pentagone 261"/>
            <p:cNvSpPr/>
            <p:nvPr/>
          </p:nvSpPr>
          <p:spPr>
            <a:xfrm>
              <a:off x="3709398" y="3740036"/>
              <a:ext cx="252000" cy="96378"/>
            </a:xfrm>
            <a:prstGeom prst="homePlate">
              <a:avLst/>
            </a:prstGeom>
            <a:solidFill>
              <a:srgbClr val="229883"/>
            </a:solidFill>
            <a:ln>
              <a:solidFill>
                <a:srgbClr val="2298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53" name="Groupe 252"/>
          <p:cNvGrpSpPr/>
          <p:nvPr/>
        </p:nvGrpSpPr>
        <p:grpSpPr>
          <a:xfrm>
            <a:off x="10987480" y="1165588"/>
            <a:ext cx="3516209" cy="3295078"/>
            <a:chOff x="10987480" y="1165588"/>
            <a:chExt cx="3516209" cy="3295078"/>
          </a:xfrm>
        </p:grpSpPr>
        <p:sp>
          <p:nvSpPr>
            <p:cNvPr id="31" name="Freeform 31"/>
            <p:cNvSpPr/>
            <p:nvPr/>
          </p:nvSpPr>
          <p:spPr>
            <a:xfrm>
              <a:off x="10998489" y="1165588"/>
              <a:ext cx="3505200" cy="3295078"/>
            </a:xfrm>
            <a:custGeom>
              <a:avLst/>
              <a:gdLst/>
              <a:ahLst/>
              <a:cxnLst/>
              <a:rect l="l" t="t" r="r" b="b"/>
              <a:pathLst>
                <a:path w="936875" h="880713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849792"/>
                  </a:lnTo>
                  <a:cubicBezTo>
                    <a:pt x="936875" y="866869"/>
                    <a:pt x="923031" y="880713"/>
                    <a:pt x="905953" y="880713"/>
                  </a:cubicBezTo>
                  <a:lnTo>
                    <a:pt x="30922" y="880713"/>
                  </a:lnTo>
                  <a:cubicBezTo>
                    <a:pt x="22721" y="880713"/>
                    <a:pt x="14856" y="877455"/>
                    <a:pt x="9057" y="871656"/>
                  </a:cubicBezTo>
                  <a:cubicBezTo>
                    <a:pt x="3258" y="865858"/>
                    <a:pt x="0" y="857992"/>
                    <a:pt x="0" y="849792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7" name="Flèche : pentagone 246"/>
            <p:cNvSpPr/>
            <p:nvPr/>
          </p:nvSpPr>
          <p:spPr>
            <a:xfrm>
              <a:off x="10987480" y="1806220"/>
              <a:ext cx="252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8" name="Flèche : pentagone 247"/>
            <p:cNvSpPr/>
            <p:nvPr/>
          </p:nvSpPr>
          <p:spPr>
            <a:xfrm>
              <a:off x="10992541" y="2091285"/>
              <a:ext cx="252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9" name="Flèche : pentagone 248"/>
            <p:cNvSpPr/>
            <p:nvPr/>
          </p:nvSpPr>
          <p:spPr>
            <a:xfrm>
              <a:off x="10998231" y="2628900"/>
              <a:ext cx="252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0" name="Flèche : pentagone 249"/>
            <p:cNvSpPr/>
            <p:nvPr/>
          </p:nvSpPr>
          <p:spPr>
            <a:xfrm>
              <a:off x="10988659" y="2907731"/>
              <a:ext cx="252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1" name="Flèche : pentagone 250"/>
            <p:cNvSpPr/>
            <p:nvPr/>
          </p:nvSpPr>
          <p:spPr>
            <a:xfrm>
              <a:off x="10988659" y="3456029"/>
              <a:ext cx="252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2" name="Flèche : pentagone 251"/>
            <p:cNvSpPr/>
            <p:nvPr/>
          </p:nvSpPr>
          <p:spPr>
            <a:xfrm>
              <a:off x="10988659" y="4004327"/>
              <a:ext cx="252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4" name="Flèche : pentagone 253"/>
            <p:cNvSpPr/>
            <p:nvPr/>
          </p:nvSpPr>
          <p:spPr>
            <a:xfrm>
              <a:off x="10998488" y="1532925"/>
              <a:ext cx="252000" cy="96378"/>
            </a:xfrm>
            <a:prstGeom prst="homePlat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45" name="Groupe 244"/>
          <p:cNvGrpSpPr/>
          <p:nvPr/>
        </p:nvGrpSpPr>
        <p:grpSpPr>
          <a:xfrm>
            <a:off x="10888980" y="4553176"/>
            <a:ext cx="3643620" cy="2841001"/>
            <a:chOff x="10888980" y="4553176"/>
            <a:chExt cx="3643620" cy="2841001"/>
          </a:xfrm>
        </p:grpSpPr>
        <p:sp>
          <p:nvSpPr>
            <p:cNvPr id="34" name="Freeform 34"/>
            <p:cNvSpPr/>
            <p:nvPr/>
          </p:nvSpPr>
          <p:spPr>
            <a:xfrm>
              <a:off x="10896600" y="4553176"/>
              <a:ext cx="3636000" cy="2841001"/>
            </a:xfrm>
            <a:custGeom>
              <a:avLst/>
              <a:gdLst/>
              <a:ahLst/>
              <a:cxnLst/>
              <a:rect l="l" t="t" r="r" b="b"/>
              <a:pathLst>
                <a:path w="960249" h="759347">
                  <a:moveTo>
                    <a:pt x="30169" y="0"/>
                  </a:moveTo>
                  <a:lnTo>
                    <a:pt x="930080" y="0"/>
                  </a:lnTo>
                  <a:cubicBezTo>
                    <a:pt x="938081" y="0"/>
                    <a:pt x="945755" y="3179"/>
                    <a:pt x="951412" y="8836"/>
                  </a:cubicBezTo>
                  <a:cubicBezTo>
                    <a:pt x="957070" y="14494"/>
                    <a:pt x="960249" y="22168"/>
                    <a:pt x="960249" y="30169"/>
                  </a:cubicBezTo>
                  <a:lnTo>
                    <a:pt x="960249" y="729178"/>
                  </a:lnTo>
                  <a:cubicBezTo>
                    <a:pt x="960249" y="737179"/>
                    <a:pt x="957070" y="744853"/>
                    <a:pt x="951412" y="750511"/>
                  </a:cubicBezTo>
                  <a:cubicBezTo>
                    <a:pt x="945755" y="756168"/>
                    <a:pt x="938081" y="759347"/>
                    <a:pt x="930080" y="759347"/>
                  </a:cubicBezTo>
                  <a:lnTo>
                    <a:pt x="30169" y="759347"/>
                  </a:lnTo>
                  <a:cubicBezTo>
                    <a:pt x="13507" y="759347"/>
                    <a:pt x="0" y="745840"/>
                    <a:pt x="0" y="729178"/>
                  </a:cubicBezTo>
                  <a:lnTo>
                    <a:pt x="0" y="30169"/>
                  </a:lnTo>
                  <a:cubicBezTo>
                    <a:pt x="0" y="22168"/>
                    <a:pt x="3179" y="14494"/>
                    <a:pt x="8836" y="8836"/>
                  </a:cubicBezTo>
                  <a:cubicBezTo>
                    <a:pt x="14494" y="3179"/>
                    <a:pt x="22168" y="0"/>
                    <a:pt x="3016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5" name="Flèche : droite 234"/>
            <p:cNvSpPr/>
            <p:nvPr/>
          </p:nvSpPr>
          <p:spPr>
            <a:xfrm>
              <a:off x="10896600" y="5013424"/>
              <a:ext cx="185826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6" name="Flèche : droite 235"/>
            <p:cNvSpPr/>
            <p:nvPr/>
          </p:nvSpPr>
          <p:spPr>
            <a:xfrm>
              <a:off x="10888980" y="5269213"/>
              <a:ext cx="185826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7" name="Flèche : droite 236"/>
            <p:cNvSpPr/>
            <p:nvPr/>
          </p:nvSpPr>
          <p:spPr>
            <a:xfrm>
              <a:off x="10888980" y="5508136"/>
              <a:ext cx="185826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9" name="Flèche : droite 238"/>
            <p:cNvSpPr/>
            <p:nvPr/>
          </p:nvSpPr>
          <p:spPr>
            <a:xfrm>
              <a:off x="10896600" y="5981700"/>
              <a:ext cx="185826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1" name="Flèche : droite 240"/>
            <p:cNvSpPr/>
            <p:nvPr/>
          </p:nvSpPr>
          <p:spPr>
            <a:xfrm>
              <a:off x="10896600" y="6466089"/>
              <a:ext cx="185826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2" name="Flèche : droite 241"/>
            <p:cNvSpPr/>
            <p:nvPr/>
          </p:nvSpPr>
          <p:spPr>
            <a:xfrm>
              <a:off x="10907768" y="6717391"/>
              <a:ext cx="185826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3" name="Flèche : droite 242"/>
            <p:cNvSpPr/>
            <p:nvPr/>
          </p:nvSpPr>
          <p:spPr>
            <a:xfrm>
              <a:off x="10895746" y="6954216"/>
              <a:ext cx="185826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4" name="Flèche : droite 243"/>
            <p:cNvSpPr/>
            <p:nvPr/>
          </p:nvSpPr>
          <p:spPr>
            <a:xfrm>
              <a:off x="10897549" y="7198489"/>
              <a:ext cx="185826" cy="490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10428" y="1149928"/>
            <a:ext cx="3505200" cy="6234724"/>
            <a:chOff x="0" y="0"/>
            <a:chExt cx="936875" cy="16664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6875" cy="1666426"/>
            </a:xfrm>
            <a:custGeom>
              <a:avLst/>
              <a:gdLst/>
              <a:ahLst/>
              <a:cxnLst/>
              <a:rect l="l" t="t" r="r" b="b"/>
              <a:pathLst>
                <a:path w="936875" h="1666426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1635505"/>
                  </a:lnTo>
                  <a:cubicBezTo>
                    <a:pt x="936875" y="1652582"/>
                    <a:pt x="923031" y="1666426"/>
                    <a:pt x="905953" y="1666426"/>
                  </a:cubicBezTo>
                  <a:lnTo>
                    <a:pt x="30922" y="1666426"/>
                  </a:lnTo>
                  <a:cubicBezTo>
                    <a:pt x="22721" y="1666426"/>
                    <a:pt x="14856" y="1663169"/>
                    <a:pt x="9057" y="1657370"/>
                  </a:cubicBezTo>
                  <a:cubicBezTo>
                    <a:pt x="3258" y="1651571"/>
                    <a:pt x="0" y="1643706"/>
                    <a:pt x="0" y="1635505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36875" cy="1685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1717" y="1562100"/>
            <a:ext cx="3528060" cy="1322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et fournisseurs :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HITECH NEW ENERGY CO. Ltd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(Chine) : partenaire principal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DEYE</a:t>
            </a:r>
            <a:r>
              <a:rPr lang="fr-FR" sz="1700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, </a:t>
            </a: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JINKO</a:t>
            </a:r>
            <a:r>
              <a:rPr lang="fr-FR" sz="1700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, </a:t>
            </a:r>
            <a:r>
              <a:rPr lang="fr-FR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HUAWEI</a:t>
            </a:r>
            <a:r>
              <a:rPr lang="fr-FR" sz="1700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 </a:t>
            </a:r>
            <a:r>
              <a:rPr lang="fr-FR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(composants certifiés)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866815" y="7542042"/>
            <a:ext cx="7273748" cy="2621779"/>
            <a:chOff x="0" y="0"/>
            <a:chExt cx="1944138" cy="7007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4138" cy="700753"/>
            </a:xfrm>
            <a:custGeom>
              <a:avLst/>
              <a:gdLst/>
              <a:ahLst/>
              <a:cxnLst/>
              <a:rect l="l" t="t" r="r" b="b"/>
              <a:pathLst>
                <a:path w="1944138" h="700753">
                  <a:moveTo>
                    <a:pt x="14901" y="0"/>
                  </a:moveTo>
                  <a:lnTo>
                    <a:pt x="1929237" y="0"/>
                  </a:lnTo>
                  <a:cubicBezTo>
                    <a:pt x="1933189" y="0"/>
                    <a:pt x="1936979" y="1570"/>
                    <a:pt x="1939774" y="4364"/>
                  </a:cubicBezTo>
                  <a:cubicBezTo>
                    <a:pt x="1942568" y="7159"/>
                    <a:pt x="1944138" y="10949"/>
                    <a:pt x="1944138" y="14901"/>
                  </a:cubicBezTo>
                  <a:lnTo>
                    <a:pt x="1944138" y="685852"/>
                  </a:lnTo>
                  <a:cubicBezTo>
                    <a:pt x="1944138" y="689804"/>
                    <a:pt x="1942568" y="693594"/>
                    <a:pt x="1939774" y="696389"/>
                  </a:cubicBezTo>
                  <a:cubicBezTo>
                    <a:pt x="1936979" y="699183"/>
                    <a:pt x="1933189" y="700753"/>
                    <a:pt x="1929237" y="700753"/>
                  </a:cubicBezTo>
                  <a:lnTo>
                    <a:pt x="14901" y="700753"/>
                  </a:lnTo>
                  <a:cubicBezTo>
                    <a:pt x="10949" y="700753"/>
                    <a:pt x="7159" y="699183"/>
                    <a:pt x="4364" y="696389"/>
                  </a:cubicBezTo>
                  <a:cubicBezTo>
                    <a:pt x="1570" y="693594"/>
                    <a:pt x="0" y="689804"/>
                    <a:pt x="0" y="685852"/>
                  </a:cubicBezTo>
                  <a:lnTo>
                    <a:pt x="0" y="14901"/>
                  </a:lnTo>
                  <a:cubicBezTo>
                    <a:pt x="0" y="10949"/>
                    <a:pt x="1570" y="7159"/>
                    <a:pt x="4364" y="4364"/>
                  </a:cubicBezTo>
                  <a:cubicBezTo>
                    <a:pt x="7159" y="1570"/>
                    <a:pt x="10949" y="0"/>
                    <a:pt x="1490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944138" cy="71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841039" y="7565627"/>
            <a:ext cx="7273748" cy="366344"/>
            <a:chOff x="0" y="0"/>
            <a:chExt cx="1944138" cy="979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44138" cy="97917"/>
            </a:xfrm>
            <a:custGeom>
              <a:avLst/>
              <a:gdLst/>
              <a:ahLst/>
              <a:cxnLst/>
              <a:rect l="l" t="t" r="r" b="b"/>
              <a:pathLst>
                <a:path w="1944138" h="97917">
                  <a:moveTo>
                    <a:pt x="14901" y="0"/>
                  </a:moveTo>
                  <a:lnTo>
                    <a:pt x="1929237" y="0"/>
                  </a:lnTo>
                  <a:cubicBezTo>
                    <a:pt x="1933189" y="0"/>
                    <a:pt x="1936979" y="1570"/>
                    <a:pt x="1939774" y="4364"/>
                  </a:cubicBezTo>
                  <a:cubicBezTo>
                    <a:pt x="1942568" y="7159"/>
                    <a:pt x="1944138" y="10949"/>
                    <a:pt x="1944138" y="14901"/>
                  </a:cubicBezTo>
                  <a:lnTo>
                    <a:pt x="1944138" y="83016"/>
                  </a:lnTo>
                  <a:cubicBezTo>
                    <a:pt x="1944138" y="86968"/>
                    <a:pt x="1942568" y="90758"/>
                    <a:pt x="1939774" y="93553"/>
                  </a:cubicBezTo>
                  <a:cubicBezTo>
                    <a:pt x="1936979" y="96347"/>
                    <a:pt x="1933189" y="97917"/>
                    <a:pt x="1929237" y="97917"/>
                  </a:cubicBezTo>
                  <a:lnTo>
                    <a:pt x="14901" y="97917"/>
                  </a:lnTo>
                  <a:cubicBezTo>
                    <a:pt x="10949" y="97917"/>
                    <a:pt x="7159" y="96347"/>
                    <a:pt x="4364" y="93553"/>
                  </a:cubicBezTo>
                  <a:cubicBezTo>
                    <a:pt x="1570" y="90758"/>
                    <a:pt x="0" y="86968"/>
                    <a:pt x="0" y="83016"/>
                  </a:cubicBezTo>
                  <a:lnTo>
                    <a:pt x="0" y="14901"/>
                  </a:lnTo>
                  <a:cubicBezTo>
                    <a:pt x="0" y="10949"/>
                    <a:pt x="1570" y="7159"/>
                    <a:pt x="4364" y="4364"/>
                  </a:cubicBezTo>
                  <a:cubicBezTo>
                    <a:pt x="7159" y="1570"/>
                    <a:pt x="10949" y="0"/>
                    <a:pt x="14901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944138" cy="116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290177" y="1149928"/>
            <a:ext cx="3505200" cy="6253774"/>
            <a:chOff x="0" y="0"/>
            <a:chExt cx="936875" cy="16715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6875" cy="1671518"/>
            </a:xfrm>
            <a:custGeom>
              <a:avLst/>
              <a:gdLst/>
              <a:ahLst/>
              <a:cxnLst/>
              <a:rect l="l" t="t" r="r" b="b"/>
              <a:pathLst>
                <a:path w="936875" h="1671518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1640596"/>
                  </a:lnTo>
                  <a:cubicBezTo>
                    <a:pt x="936875" y="1657674"/>
                    <a:pt x="923031" y="1671518"/>
                    <a:pt x="905953" y="1671518"/>
                  </a:cubicBezTo>
                  <a:lnTo>
                    <a:pt x="30922" y="1671518"/>
                  </a:lnTo>
                  <a:cubicBezTo>
                    <a:pt x="13844" y="1671518"/>
                    <a:pt x="0" y="1657674"/>
                    <a:pt x="0" y="1640596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936875" cy="169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4635363" y="1165588"/>
            <a:ext cx="3528000" cy="6219064"/>
          </a:xfrm>
          <a:custGeom>
            <a:avLst/>
            <a:gdLst/>
            <a:ahLst/>
            <a:cxnLst/>
            <a:rect l="l" t="t" r="r" b="b"/>
            <a:pathLst>
              <a:path w="936875" h="1662241">
                <a:moveTo>
                  <a:pt x="30922" y="0"/>
                </a:moveTo>
                <a:lnTo>
                  <a:pt x="905953" y="0"/>
                </a:lnTo>
                <a:cubicBezTo>
                  <a:pt x="914154" y="0"/>
                  <a:pt x="922019" y="3258"/>
                  <a:pt x="927818" y="9057"/>
                </a:cubicBezTo>
                <a:cubicBezTo>
                  <a:pt x="933617" y="14856"/>
                  <a:pt x="936875" y="22721"/>
                  <a:pt x="936875" y="30922"/>
                </a:cubicBezTo>
                <a:lnTo>
                  <a:pt x="936875" y="1631319"/>
                </a:lnTo>
                <a:cubicBezTo>
                  <a:pt x="936875" y="1648397"/>
                  <a:pt x="923031" y="1662241"/>
                  <a:pt x="905953" y="1662241"/>
                </a:cubicBezTo>
                <a:lnTo>
                  <a:pt x="30922" y="1662241"/>
                </a:lnTo>
                <a:cubicBezTo>
                  <a:pt x="13844" y="1662241"/>
                  <a:pt x="0" y="1648397"/>
                  <a:pt x="0" y="1631319"/>
                </a:cubicBezTo>
                <a:lnTo>
                  <a:pt x="0" y="30922"/>
                </a:lnTo>
                <a:cubicBezTo>
                  <a:pt x="0" y="13844"/>
                  <a:pt x="13844" y="0"/>
                  <a:pt x="3092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EBF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Box 23"/>
          <p:cNvSpPr txBox="1"/>
          <p:nvPr/>
        </p:nvSpPr>
        <p:spPr>
          <a:xfrm>
            <a:off x="14635363" y="1094315"/>
            <a:ext cx="3505200" cy="629033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25" name="Freeform 25"/>
          <p:cNvSpPr/>
          <p:nvPr/>
        </p:nvSpPr>
        <p:spPr>
          <a:xfrm>
            <a:off x="609600" y="7936907"/>
            <a:ext cx="2259402" cy="549502"/>
          </a:xfrm>
          <a:custGeom>
            <a:avLst/>
            <a:gdLst/>
            <a:ahLst/>
            <a:cxnLst/>
            <a:rect l="l" t="t" r="r" b="b"/>
            <a:pathLst>
              <a:path w="595069" h="229772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88654"/>
                </a:lnTo>
                <a:cubicBezTo>
                  <a:pt x="595069" y="199559"/>
                  <a:pt x="590737" y="210018"/>
                  <a:pt x="583025" y="217729"/>
                </a:cubicBezTo>
                <a:cubicBezTo>
                  <a:pt x="575314" y="225440"/>
                  <a:pt x="564856" y="229772"/>
                  <a:pt x="553950" y="229772"/>
                </a:cubicBezTo>
                <a:lnTo>
                  <a:pt x="41118" y="229772"/>
                </a:lnTo>
                <a:cubicBezTo>
                  <a:pt x="30213" y="229772"/>
                  <a:pt x="19755" y="225440"/>
                  <a:pt x="12043" y="217729"/>
                </a:cubicBezTo>
                <a:cubicBezTo>
                  <a:pt x="4332" y="210018"/>
                  <a:pt x="0" y="199559"/>
                  <a:pt x="0" y="188654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Box 26"/>
          <p:cNvSpPr txBox="1"/>
          <p:nvPr/>
        </p:nvSpPr>
        <p:spPr>
          <a:xfrm>
            <a:off x="163288" y="7891349"/>
            <a:ext cx="2259402" cy="5950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32" name="TextBox 32"/>
          <p:cNvSpPr txBox="1"/>
          <p:nvPr/>
        </p:nvSpPr>
        <p:spPr>
          <a:xfrm>
            <a:off x="10998489" y="1094315"/>
            <a:ext cx="3505200" cy="33663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35" name="TextBox 35"/>
          <p:cNvSpPr txBox="1"/>
          <p:nvPr/>
        </p:nvSpPr>
        <p:spPr>
          <a:xfrm>
            <a:off x="10896600" y="4481903"/>
            <a:ext cx="3636000" cy="291227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grpSp>
        <p:nvGrpSpPr>
          <p:cNvPr id="36" name="Group 36"/>
          <p:cNvGrpSpPr/>
          <p:nvPr/>
        </p:nvGrpSpPr>
        <p:grpSpPr>
          <a:xfrm>
            <a:off x="0" y="0"/>
            <a:ext cx="1126809" cy="1126809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8025" y="0"/>
                  </a:moveTo>
                  <a:lnTo>
                    <a:pt x="654775" y="0"/>
                  </a:lnTo>
                  <a:cubicBezTo>
                    <a:pt x="742050" y="0"/>
                    <a:pt x="812800" y="70750"/>
                    <a:pt x="812800" y="158025"/>
                  </a:cubicBezTo>
                  <a:lnTo>
                    <a:pt x="812800" y="654775"/>
                  </a:lnTo>
                  <a:cubicBezTo>
                    <a:pt x="812800" y="742050"/>
                    <a:pt x="742050" y="812800"/>
                    <a:pt x="654775" y="812800"/>
                  </a:cubicBezTo>
                  <a:lnTo>
                    <a:pt x="158025" y="812800"/>
                  </a:lnTo>
                  <a:cubicBezTo>
                    <a:pt x="70750" y="812800"/>
                    <a:pt x="0" y="742050"/>
                    <a:pt x="0" y="654775"/>
                  </a:cubicBezTo>
                  <a:lnTo>
                    <a:pt x="0" y="158025"/>
                  </a:lnTo>
                  <a:cubicBezTo>
                    <a:pt x="0" y="70750"/>
                    <a:pt x="70750" y="0"/>
                    <a:pt x="158025" y="0"/>
                  </a:cubicBez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09082" y="57150"/>
            <a:ext cx="2418978" cy="352425"/>
            <a:chOff x="0" y="0"/>
            <a:chExt cx="637097" cy="928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7097" cy="92820"/>
            </a:xfrm>
            <a:custGeom>
              <a:avLst/>
              <a:gdLst/>
              <a:ahLst/>
              <a:cxnLst/>
              <a:rect l="l" t="t" r="r" b="b"/>
              <a:pathLst>
                <a:path w="637097" h="92820">
                  <a:moveTo>
                    <a:pt x="38406" y="0"/>
                  </a:moveTo>
                  <a:lnTo>
                    <a:pt x="598691" y="0"/>
                  </a:lnTo>
                  <a:cubicBezTo>
                    <a:pt x="619902" y="0"/>
                    <a:pt x="637097" y="17195"/>
                    <a:pt x="637097" y="38406"/>
                  </a:cubicBezTo>
                  <a:lnTo>
                    <a:pt x="637097" y="54414"/>
                  </a:lnTo>
                  <a:cubicBezTo>
                    <a:pt x="637097" y="75625"/>
                    <a:pt x="619902" y="92820"/>
                    <a:pt x="598691" y="92820"/>
                  </a:cubicBezTo>
                  <a:lnTo>
                    <a:pt x="38406" y="92820"/>
                  </a:lnTo>
                  <a:cubicBezTo>
                    <a:pt x="17195" y="92820"/>
                    <a:pt x="0" y="75625"/>
                    <a:pt x="0" y="54414"/>
                  </a:cubicBezTo>
                  <a:lnTo>
                    <a:pt x="0" y="38406"/>
                  </a:lnTo>
                  <a:cubicBezTo>
                    <a:pt x="0" y="17195"/>
                    <a:pt x="17195" y="0"/>
                    <a:pt x="38406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637097" cy="111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737092" y="1176155"/>
            <a:ext cx="3458097" cy="323850"/>
            <a:chOff x="0" y="0"/>
            <a:chExt cx="924285" cy="8655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24285" cy="86559"/>
            </a:xfrm>
            <a:custGeom>
              <a:avLst/>
              <a:gdLst/>
              <a:ahLst/>
              <a:cxnLst/>
              <a:rect l="l" t="t" r="r" b="b"/>
              <a:pathLst>
                <a:path w="924285" h="86559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55216"/>
                  </a:lnTo>
                  <a:cubicBezTo>
                    <a:pt x="924285" y="72526"/>
                    <a:pt x="910253" y="86559"/>
                    <a:pt x="892942" y="86559"/>
                  </a:cubicBezTo>
                  <a:lnTo>
                    <a:pt x="31343" y="86559"/>
                  </a:lnTo>
                  <a:cubicBezTo>
                    <a:pt x="14033" y="86559"/>
                    <a:pt x="0" y="72526"/>
                    <a:pt x="0" y="55216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924285" cy="105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44" name="Freeform 44"/>
          <p:cNvSpPr/>
          <p:nvPr/>
        </p:nvSpPr>
        <p:spPr>
          <a:xfrm>
            <a:off x="3793758" y="1184638"/>
            <a:ext cx="276225" cy="279786"/>
          </a:xfrm>
          <a:custGeom>
            <a:avLst/>
            <a:gdLst/>
            <a:ahLst/>
            <a:cxnLst/>
            <a:rect l="l" t="t" r="r" b="b"/>
            <a:pathLst>
              <a:path w="276225" h="279786">
                <a:moveTo>
                  <a:pt x="0" y="0"/>
                </a:moveTo>
                <a:lnTo>
                  <a:pt x="276225" y="0"/>
                </a:lnTo>
                <a:lnTo>
                  <a:pt x="276225" y="279786"/>
                </a:lnTo>
                <a:lnTo>
                  <a:pt x="0" y="279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5" name="Group 45"/>
          <p:cNvGrpSpPr/>
          <p:nvPr/>
        </p:nvGrpSpPr>
        <p:grpSpPr>
          <a:xfrm>
            <a:off x="125668" y="1168978"/>
            <a:ext cx="3458097" cy="365097"/>
            <a:chOff x="0" y="0"/>
            <a:chExt cx="924285" cy="97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24285" cy="97584"/>
            </a:xfrm>
            <a:custGeom>
              <a:avLst/>
              <a:gdLst/>
              <a:ahLst/>
              <a:cxnLst/>
              <a:rect l="l" t="t" r="r" b="b"/>
              <a:pathLst>
                <a:path w="924285" h="97584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66241"/>
                  </a:lnTo>
                  <a:cubicBezTo>
                    <a:pt x="924285" y="83551"/>
                    <a:pt x="910253" y="97584"/>
                    <a:pt x="892942" y="97584"/>
                  </a:cubicBezTo>
                  <a:lnTo>
                    <a:pt x="31343" y="97584"/>
                  </a:lnTo>
                  <a:cubicBezTo>
                    <a:pt x="23030" y="97584"/>
                    <a:pt x="15058" y="94282"/>
                    <a:pt x="9180" y="88404"/>
                  </a:cubicBezTo>
                  <a:cubicBezTo>
                    <a:pt x="3302" y="82526"/>
                    <a:pt x="0" y="74553"/>
                    <a:pt x="0" y="66241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924285" cy="116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48" name="Freeform 48"/>
          <p:cNvSpPr/>
          <p:nvPr/>
        </p:nvSpPr>
        <p:spPr>
          <a:xfrm>
            <a:off x="162074" y="1221695"/>
            <a:ext cx="313670" cy="278311"/>
          </a:xfrm>
          <a:custGeom>
            <a:avLst/>
            <a:gdLst/>
            <a:ahLst/>
            <a:cxnLst/>
            <a:rect l="l" t="t" r="r" b="b"/>
            <a:pathLst>
              <a:path w="313670" h="278311">
                <a:moveTo>
                  <a:pt x="0" y="0"/>
                </a:moveTo>
                <a:lnTo>
                  <a:pt x="313670" y="0"/>
                </a:lnTo>
                <a:lnTo>
                  <a:pt x="313670" y="278310"/>
                </a:lnTo>
                <a:lnTo>
                  <a:pt x="0" y="278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49" name="Group 49"/>
          <p:cNvGrpSpPr/>
          <p:nvPr/>
        </p:nvGrpSpPr>
        <p:grpSpPr>
          <a:xfrm>
            <a:off x="3704015" y="4582630"/>
            <a:ext cx="3458097" cy="365097"/>
            <a:chOff x="0" y="0"/>
            <a:chExt cx="924285" cy="975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24285" cy="97584"/>
            </a:xfrm>
            <a:custGeom>
              <a:avLst/>
              <a:gdLst/>
              <a:ahLst/>
              <a:cxnLst/>
              <a:rect l="l" t="t" r="r" b="b"/>
              <a:pathLst>
                <a:path w="924285" h="97584">
                  <a:moveTo>
                    <a:pt x="31343" y="0"/>
                  </a:moveTo>
                  <a:lnTo>
                    <a:pt x="892942" y="0"/>
                  </a:lnTo>
                  <a:cubicBezTo>
                    <a:pt x="901255" y="0"/>
                    <a:pt x="909227" y="3302"/>
                    <a:pt x="915105" y="9180"/>
                  </a:cubicBezTo>
                  <a:cubicBezTo>
                    <a:pt x="920983" y="15058"/>
                    <a:pt x="924285" y="23030"/>
                    <a:pt x="924285" y="31343"/>
                  </a:cubicBezTo>
                  <a:lnTo>
                    <a:pt x="924285" y="66241"/>
                  </a:lnTo>
                  <a:cubicBezTo>
                    <a:pt x="924285" y="83551"/>
                    <a:pt x="910253" y="97584"/>
                    <a:pt x="892942" y="97584"/>
                  </a:cubicBezTo>
                  <a:lnTo>
                    <a:pt x="31343" y="97584"/>
                  </a:lnTo>
                  <a:cubicBezTo>
                    <a:pt x="23030" y="97584"/>
                    <a:pt x="15058" y="94282"/>
                    <a:pt x="9180" y="88404"/>
                  </a:cubicBezTo>
                  <a:cubicBezTo>
                    <a:pt x="3302" y="82526"/>
                    <a:pt x="0" y="74553"/>
                    <a:pt x="0" y="66241"/>
                  </a:cubicBezTo>
                  <a:lnTo>
                    <a:pt x="0" y="31343"/>
                  </a:lnTo>
                  <a:cubicBezTo>
                    <a:pt x="0" y="14033"/>
                    <a:pt x="14033" y="0"/>
                    <a:pt x="31343" y="0"/>
                  </a:cubicBezTo>
                  <a:close/>
                </a:path>
              </a:pathLst>
            </a:custGeom>
            <a:solidFill>
              <a:srgbClr val="229883"/>
            </a:solidFill>
            <a:ln w="476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924285" cy="116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2" name="Freeform 52"/>
          <p:cNvSpPr/>
          <p:nvPr/>
        </p:nvSpPr>
        <p:spPr>
          <a:xfrm>
            <a:off x="3769157" y="4611428"/>
            <a:ext cx="276225" cy="275123"/>
          </a:xfrm>
          <a:custGeom>
            <a:avLst/>
            <a:gdLst/>
            <a:ahLst/>
            <a:cxnLst/>
            <a:rect l="l" t="t" r="r" b="b"/>
            <a:pathLst>
              <a:path w="276225" h="275123">
                <a:moveTo>
                  <a:pt x="0" y="0"/>
                </a:moveTo>
                <a:lnTo>
                  <a:pt x="276225" y="0"/>
                </a:lnTo>
                <a:lnTo>
                  <a:pt x="276225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3" name="Group 53"/>
          <p:cNvGrpSpPr/>
          <p:nvPr/>
        </p:nvGrpSpPr>
        <p:grpSpPr>
          <a:xfrm>
            <a:off x="11003296" y="1184638"/>
            <a:ext cx="3505200" cy="268951"/>
            <a:chOff x="0" y="0"/>
            <a:chExt cx="936875" cy="8047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36875" cy="80473"/>
            </a:xfrm>
            <a:custGeom>
              <a:avLst/>
              <a:gdLst/>
              <a:ahLst/>
              <a:cxnLst/>
              <a:rect l="l" t="t" r="r" b="b"/>
              <a:pathLst>
                <a:path w="936875" h="80473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49551"/>
                  </a:lnTo>
                  <a:cubicBezTo>
                    <a:pt x="936875" y="66629"/>
                    <a:pt x="923031" y="80473"/>
                    <a:pt x="905953" y="80473"/>
                  </a:cubicBezTo>
                  <a:lnTo>
                    <a:pt x="30922" y="80473"/>
                  </a:lnTo>
                  <a:cubicBezTo>
                    <a:pt x="13844" y="80473"/>
                    <a:pt x="0" y="66629"/>
                    <a:pt x="0" y="49551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936875" cy="99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56" name="Freeform 56"/>
          <p:cNvSpPr/>
          <p:nvPr/>
        </p:nvSpPr>
        <p:spPr>
          <a:xfrm>
            <a:off x="11062077" y="1203688"/>
            <a:ext cx="285750" cy="249901"/>
          </a:xfrm>
          <a:custGeom>
            <a:avLst/>
            <a:gdLst/>
            <a:ahLst/>
            <a:cxnLst/>
            <a:rect l="l" t="t" r="r" b="b"/>
            <a:pathLst>
              <a:path w="285750" h="249901">
                <a:moveTo>
                  <a:pt x="0" y="0"/>
                </a:moveTo>
                <a:lnTo>
                  <a:pt x="285750" y="0"/>
                </a:lnTo>
                <a:lnTo>
                  <a:pt x="285750" y="249901"/>
                </a:lnTo>
                <a:lnTo>
                  <a:pt x="0" y="2499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7" name="Freeform 57"/>
          <p:cNvSpPr/>
          <p:nvPr/>
        </p:nvSpPr>
        <p:spPr>
          <a:xfrm>
            <a:off x="10939374" y="7589439"/>
            <a:ext cx="333375" cy="268224"/>
          </a:xfrm>
          <a:custGeom>
            <a:avLst/>
            <a:gdLst/>
            <a:ahLst/>
            <a:cxnLst/>
            <a:rect l="l" t="t" r="r" b="b"/>
            <a:pathLst>
              <a:path w="333375" h="268224">
                <a:moveTo>
                  <a:pt x="0" y="0"/>
                </a:moveTo>
                <a:lnTo>
                  <a:pt x="333375" y="0"/>
                </a:lnTo>
                <a:lnTo>
                  <a:pt x="333375" y="268224"/>
                </a:lnTo>
                <a:lnTo>
                  <a:pt x="0" y="2682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9" name="TextBox 69"/>
          <p:cNvSpPr txBox="1"/>
          <p:nvPr/>
        </p:nvSpPr>
        <p:spPr>
          <a:xfrm>
            <a:off x="5519128" y="6802884"/>
            <a:ext cx="2259402" cy="62478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75" name="TextBox 75"/>
          <p:cNvSpPr txBox="1"/>
          <p:nvPr/>
        </p:nvSpPr>
        <p:spPr>
          <a:xfrm>
            <a:off x="10952540" y="7973061"/>
            <a:ext cx="2333625" cy="116791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grpSp>
        <p:nvGrpSpPr>
          <p:cNvPr id="76" name="Group 76"/>
          <p:cNvGrpSpPr/>
          <p:nvPr/>
        </p:nvGrpSpPr>
        <p:grpSpPr>
          <a:xfrm>
            <a:off x="14642664" y="1184638"/>
            <a:ext cx="3505200" cy="315368"/>
            <a:chOff x="0" y="0"/>
            <a:chExt cx="936875" cy="8429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36875" cy="84292"/>
            </a:xfrm>
            <a:custGeom>
              <a:avLst/>
              <a:gdLst/>
              <a:ahLst/>
              <a:cxnLst/>
              <a:rect l="l" t="t" r="r" b="b"/>
              <a:pathLst>
                <a:path w="936875" h="84292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53370"/>
                  </a:lnTo>
                  <a:cubicBezTo>
                    <a:pt x="936875" y="70448"/>
                    <a:pt x="923031" y="84292"/>
                    <a:pt x="905953" y="84292"/>
                  </a:cubicBezTo>
                  <a:lnTo>
                    <a:pt x="30922" y="84292"/>
                  </a:lnTo>
                  <a:cubicBezTo>
                    <a:pt x="22721" y="84292"/>
                    <a:pt x="14856" y="81034"/>
                    <a:pt x="9057" y="75235"/>
                  </a:cubicBezTo>
                  <a:cubicBezTo>
                    <a:pt x="3258" y="69436"/>
                    <a:pt x="0" y="61571"/>
                    <a:pt x="0" y="53370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936875" cy="103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79" name="Freeform 79"/>
          <p:cNvSpPr/>
          <p:nvPr/>
        </p:nvSpPr>
        <p:spPr>
          <a:xfrm>
            <a:off x="14713239" y="1186577"/>
            <a:ext cx="304800" cy="300921"/>
          </a:xfrm>
          <a:custGeom>
            <a:avLst/>
            <a:gdLst/>
            <a:ahLst/>
            <a:cxnLst/>
            <a:rect l="l" t="t" r="r" b="b"/>
            <a:pathLst>
              <a:path w="304800" h="300921">
                <a:moveTo>
                  <a:pt x="0" y="0"/>
                </a:moveTo>
                <a:lnTo>
                  <a:pt x="304800" y="0"/>
                </a:lnTo>
                <a:lnTo>
                  <a:pt x="304800" y="300921"/>
                </a:lnTo>
                <a:lnTo>
                  <a:pt x="0" y="3009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0" name="Group 80"/>
          <p:cNvGrpSpPr/>
          <p:nvPr/>
        </p:nvGrpSpPr>
        <p:grpSpPr>
          <a:xfrm>
            <a:off x="7294940" y="1184638"/>
            <a:ext cx="3505200" cy="293534"/>
            <a:chOff x="0" y="0"/>
            <a:chExt cx="936875" cy="81467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936875" cy="81467"/>
            </a:xfrm>
            <a:custGeom>
              <a:avLst/>
              <a:gdLst/>
              <a:ahLst/>
              <a:cxnLst/>
              <a:rect l="l" t="t" r="r" b="b"/>
              <a:pathLst>
                <a:path w="936875" h="81467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50546"/>
                  </a:lnTo>
                  <a:cubicBezTo>
                    <a:pt x="936875" y="67623"/>
                    <a:pt x="923031" y="81467"/>
                    <a:pt x="905953" y="81467"/>
                  </a:cubicBezTo>
                  <a:lnTo>
                    <a:pt x="30922" y="81467"/>
                  </a:lnTo>
                  <a:cubicBezTo>
                    <a:pt x="13844" y="81467"/>
                    <a:pt x="0" y="67623"/>
                    <a:pt x="0" y="50546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936875" cy="100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83" name="Freeform 83"/>
          <p:cNvSpPr/>
          <p:nvPr/>
        </p:nvSpPr>
        <p:spPr>
          <a:xfrm>
            <a:off x="7352090" y="11655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4" name="Group 84"/>
          <p:cNvGrpSpPr/>
          <p:nvPr/>
        </p:nvGrpSpPr>
        <p:grpSpPr>
          <a:xfrm>
            <a:off x="16551113" y="420581"/>
            <a:ext cx="238839" cy="182345"/>
            <a:chOff x="0" y="0"/>
            <a:chExt cx="62904" cy="4802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229883"/>
            </a:solidFill>
            <a:ln w="9525" cap="sq">
              <a:solidFill>
                <a:srgbClr val="229883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6551113" y="672309"/>
            <a:ext cx="238839" cy="182345"/>
            <a:chOff x="0" y="0"/>
            <a:chExt cx="62904" cy="4802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7ED957"/>
            </a:solidFill>
            <a:ln w="9525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6551113" y="171561"/>
            <a:ext cx="238839" cy="182345"/>
            <a:chOff x="0" y="0"/>
            <a:chExt cx="62904" cy="48025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62904" cy="48025"/>
            </a:xfrm>
            <a:custGeom>
              <a:avLst/>
              <a:gdLst/>
              <a:ahLst/>
              <a:cxnLst/>
              <a:rect l="l" t="t" r="r" b="b"/>
              <a:pathLst>
                <a:path w="62904" h="48025">
                  <a:moveTo>
                    <a:pt x="24012" y="0"/>
                  </a:moveTo>
                  <a:lnTo>
                    <a:pt x="38892" y="0"/>
                  </a:lnTo>
                  <a:cubicBezTo>
                    <a:pt x="52153" y="0"/>
                    <a:pt x="62904" y="10751"/>
                    <a:pt x="62904" y="24012"/>
                  </a:cubicBezTo>
                  <a:lnTo>
                    <a:pt x="62904" y="24012"/>
                  </a:lnTo>
                  <a:cubicBezTo>
                    <a:pt x="62904" y="30381"/>
                    <a:pt x="60374" y="36489"/>
                    <a:pt x="55871" y="40992"/>
                  </a:cubicBezTo>
                  <a:cubicBezTo>
                    <a:pt x="51368" y="45495"/>
                    <a:pt x="45260" y="48025"/>
                    <a:pt x="38892" y="48025"/>
                  </a:cubicBezTo>
                  <a:lnTo>
                    <a:pt x="24012" y="48025"/>
                  </a:lnTo>
                  <a:cubicBezTo>
                    <a:pt x="10751" y="48025"/>
                    <a:pt x="0" y="37274"/>
                    <a:pt x="0" y="24012"/>
                  </a:cubicBezTo>
                  <a:lnTo>
                    <a:pt x="0" y="24012"/>
                  </a:lnTo>
                  <a:cubicBezTo>
                    <a:pt x="0" y="10751"/>
                    <a:pt x="10751" y="0"/>
                    <a:pt x="24012" y="0"/>
                  </a:cubicBezTo>
                  <a:close/>
                </a:path>
              </a:pathLst>
            </a:custGeom>
            <a:solidFill>
              <a:srgbClr val="FEBF00"/>
            </a:solidFill>
            <a:ln w="9525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19050"/>
              <a:ext cx="62904" cy="6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9904" y="7546577"/>
            <a:ext cx="7100587" cy="321789"/>
            <a:chOff x="0" y="0"/>
            <a:chExt cx="1897855" cy="98955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897855" cy="98955"/>
            </a:xfrm>
            <a:custGeom>
              <a:avLst/>
              <a:gdLst/>
              <a:ahLst/>
              <a:cxnLst/>
              <a:rect l="l" t="t" r="r" b="b"/>
              <a:pathLst>
                <a:path w="1897855" h="98955">
                  <a:moveTo>
                    <a:pt x="15264" y="0"/>
                  </a:moveTo>
                  <a:lnTo>
                    <a:pt x="1882591" y="0"/>
                  </a:lnTo>
                  <a:cubicBezTo>
                    <a:pt x="1891021" y="0"/>
                    <a:pt x="1897855" y="6834"/>
                    <a:pt x="1897855" y="15264"/>
                  </a:cubicBezTo>
                  <a:lnTo>
                    <a:pt x="1897855" y="83691"/>
                  </a:lnTo>
                  <a:cubicBezTo>
                    <a:pt x="1897855" y="92121"/>
                    <a:pt x="1891021" y="98955"/>
                    <a:pt x="1882591" y="98955"/>
                  </a:cubicBezTo>
                  <a:lnTo>
                    <a:pt x="15264" y="98955"/>
                  </a:lnTo>
                  <a:cubicBezTo>
                    <a:pt x="6834" y="98955"/>
                    <a:pt x="0" y="92121"/>
                    <a:pt x="0" y="83691"/>
                  </a:cubicBezTo>
                  <a:lnTo>
                    <a:pt x="0" y="15264"/>
                  </a:lnTo>
                  <a:cubicBezTo>
                    <a:pt x="0" y="6834"/>
                    <a:pt x="6834" y="0"/>
                    <a:pt x="15264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19050"/>
              <a:ext cx="1897855" cy="118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96" name="Freeform 96"/>
          <p:cNvSpPr/>
          <p:nvPr/>
        </p:nvSpPr>
        <p:spPr>
          <a:xfrm>
            <a:off x="176034" y="7575152"/>
            <a:ext cx="285750" cy="293214"/>
          </a:xfrm>
          <a:custGeom>
            <a:avLst/>
            <a:gdLst/>
            <a:ahLst/>
            <a:cxnLst/>
            <a:rect l="l" t="t" r="r" b="b"/>
            <a:pathLst>
              <a:path w="285750" h="293214">
                <a:moveTo>
                  <a:pt x="0" y="0"/>
                </a:moveTo>
                <a:lnTo>
                  <a:pt x="285750" y="0"/>
                </a:lnTo>
                <a:lnTo>
                  <a:pt x="285750" y="293213"/>
                </a:lnTo>
                <a:lnTo>
                  <a:pt x="0" y="2932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97" name="Group 97"/>
          <p:cNvGrpSpPr/>
          <p:nvPr/>
        </p:nvGrpSpPr>
        <p:grpSpPr>
          <a:xfrm>
            <a:off x="7275890" y="7565627"/>
            <a:ext cx="3505200" cy="351178"/>
            <a:chOff x="0" y="0"/>
            <a:chExt cx="936875" cy="93863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936875" cy="93863"/>
            </a:xfrm>
            <a:custGeom>
              <a:avLst/>
              <a:gdLst/>
              <a:ahLst/>
              <a:cxnLst/>
              <a:rect l="l" t="t" r="r" b="b"/>
              <a:pathLst>
                <a:path w="936875" h="93863">
                  <a:moveTo>
                    <a:pt x="30922" y="0"/>
                  </a:moveTo>
                  <a:lnTo>
                    <a:pt x="905953" y="0"/>
                  </a:lnTo>
                  <a:cubicBezTo>
                    <a:pt x="914154" y="0"/>
                    <a:pt x="922019" y="3258"/>
                    <a:pt x="927818" y="9057"/>
                  </a:cubicBezTo>
                  <a:cubicBezTo>
                    <a:pt x="933617" y="14856"/>
                    <a:pt x="936875" y="22721"/>
                    <a:pt x="936875" y="30922"/>
                  </a:cubicBezTo>
                  <a:lnTo>
                    <a:pt x="936875" y="62942"/>
                  </a:lnTo>
                  <a:cubicBezTo>
                    <a:pt x="936875" y="80019"/>
                    <a:pt x="923031" y="93863"/>
                    <a:pt x="905953" y="93863"/>
                  </a:cubicBezTo>
                  <a:lnTo>
                    <a:pt x="30922" y="93863"/>
                  </a:lnTo>
                  <a:cubicBezTo>
                    <a:pt x="22721" y="93863"/>
                    <a:pt x="14856" y="90605"/>
                    <a:pt x="9057" y="84807"/>
                  </a:cubicBezTo>
                  <a:cubicBezTo>
                    <a:pt x="3258" y="79008"/>
                    <a:pt x="0" y="71143"/>
                    <a:pt x="0" y="62942"/>
                  </a:cubicBezTo>
                  <a:lnTo>
                    <a:pt x="0" y="30922"/>
                  </a:lnTo>
                  <a:cubicBezTo>
                    <a:pt x="0" y="13844"/>
                    <a:pt x="13844" y="0"/>
                    <a:pt x="30922" y="0"/>
                  </a:cubicBezTo>
                  <a:close/>
                </a:path>
              </a:pathLst>
            </a:custGeom>
            <a:solidFill>
              <a:srgbClr val="760690"/>
            </a:solidFill>
            <a:ln w="38100" cap="sq">
              <a:solidFill>
                <a:srgbClr val="76069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936875" cy="112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00" name="Freeform 100"/>
          <p:cNvSpPr/>
          <p:nvPr/>
        </p:nvSpPr>
        <p:spPr>
          <a:xfrm>
            <a:off x="7362736" y="7569956"/>
            <a:ext cx="333375" cy="290945"/>
          </a:xfrm>
          <a:custGeom>
            <a:avLst/>
            <a:gdLst/>
            <a:ahLst/>
            <a:cxnLst/>
            <a:rect l="l" t="t" r="r" b="b"/>
            <a:pathLst>
              <a:path w="333375" h="290945">
                <a:moveTo>
                  <a:pt x="0" y="0"/>
                </a:moveTo>
                <a:lnTo>
                  <a:pt x="333375" y="0"/>
                </a:lnTo>
                <a:lnTo>
                  <a:pt x="333375" y="290946"/>
                </a:lnTo>
                <a:lnTo>
                  <a:pt x="0" y="2909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01" name="Group 101"/>
          <p:cNvGrpSpPr/>
          <p:nvPr/>
        </p:nvGrpSpPr>
        <p:grpSpPr>
          <a:xfrm>
            <a:off x="10926194" y="4532083"/>
            <a:ext cx="3592649" cy="333653"/>
            <a:chOff x="0" y="0"/>
            <a:chExt cx="960249" cy="96631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960249" cy="96631"/>
            </a:xfrm>
            <a:custGeom>
              <a:avLst/>
              <a:gdLst/>
              <a:ahLst/>
              <a:cxnLst/>
              <a:rect l="l" t="t" r="r" b="b"/>
              <a:pathLst>
                <a:path w="960249" h="96631">
                  <a:moveTo>
                    <a:pt x="30169" y="0"/>
                  </a:moveTo>
                  <a:lnTo>
                    <a:pt x="930080" y="0"/>
                  </a:lnTo>
                  <a:cubicBezTo>
                    <a:pt x="938081" y="0"/>
                    <a:pt x="945755" y="3179"/>
                    <a:pt x="951412" y="8836"/>
                  </a:cubicBezTo>
                  <a:cubicBezTo>
                    <a:pt x="957070" y="14494"/>
                    <a:pt x="960249" y="22168"/>
                    <a:pt x="960249" y="30169"/>
                  </a:cubicBezTo>
                  <a:lnTo>
                    <a:pt x="960249" y="66461"/>
                  </a:lnTo>
                  <a:cubicBezTo>
                    <a:pt x="960249" y="74463"/>
                    <a:pt x="957070" y="82136"/>
                    <a:pt x="951412" y="87794"/>
                  </a:cubicBezTo>
                  <a:cubicBezTo>
                    <a:pt x="945755" y="93452"/>
                    <a:pt x="938081" y="96631"/>
                    <a:pt x="930080" y="96631"/>
                  </a:cubicBezTo>
                  <a:lnTo>
                    <a:pt x="30169" y="96631"/>
                  </a:lnTo>
                  <a:cubicBezTo>
                    <a:pt x="22168" y="96631"/>
                    <a:pt x="14494" y="93452"/>
                    <a:pt x="8836" y="87794"/>
                  </a:cubicBezTo>
                  <a:cubicBezTo>
                    <a:pt x="3179" y="82136"/>
                    <a:pt x="0" y="74463"/>
                    <a:pt x="0" y="66461"/>
                  </a:cubicBezTo>
                  <a:lnTo>
                    <a:pt x="0" y="30169"/>
                  </a:lnTo>
                  <a:cubicBezTo>
                    <a:pt x="0" y="22168"/>
                    <a:pt x="3179" y="14494"/>
                    <a:pt x="8836" y="8836"/>
                  </a:cubicBezTo>
                  <a:cubicBezTo>
                    <a:pt x="14494" y="3179"/>
                    <a:pt x="22168" y="0"/>
                    <a:pt x="30169" y="0"/>
                  </a:cubicBezTo>
                  <a:close/>
                </a:path>
              </a:pathLst>
            </a:custGeom>
            <a:solidFill>
              <a:srgbClr val="FEBF00"/>
            </a:solidFill>
            <a:ln w="38100" cap="sq">
              <a:solidFill>
                <a:srgbClr val="FEBF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19050"/>
              <a:ext cx="960249" cy="115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04" name="Freeform 104"/>
          <p:cNvSpPr/>
          <p:nvPr/>
        </p:nvSpPr>
        <p:spPr>
          <a:xfrm>
            <a:off x="10992541" y="4589737"/>
            <a:ext cx="333375" cy="224998"/>
          </a:xfrm>
          <a:custGeom>
            <a:avLst/>
            <a:gdLst/>
            <a:ahLst/>
            <a:cxnLst/>
            <a:rect l="l" t="t" r="r" b="b"/>
            <a:pathLst>
              <a:path w="333375" h="224998">
                <a:moveTo>
                  <a:pt x="0" y="0"/>
                </a:moveTo>
                <a:lnTo>
                  <a:pt x="333375" y="0"/>
                </a:lnTo>
                <a:lnTo>
                  <a:pt x="333375" y="224997"/>
                </a:lnTo>
                <a:lnTo>
                  <a:pt x="0" y="22499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7" name="Freeform 127"/>
          <p:cNvSpPr/>
          <p:nvPr/>
        </p:nvSpPr>
        <p:spPr>
          <a:xfrm>
            <a:off x="162074" y="8572500"/>
            <a:ext cx="6961744" cy="700724"/>
          </a:xfrm>
          <a:custGeom>
            <a:avLst/>
            <a:gdLst/>
            <a:ahLst/>
            <a:cxnLst/>
            <a:rect l="l" t="t" r="r" b="b"/>
            <a:pathLst>
              <a:path w="1222671" h="124128">
                <a:moveTo>
                  <a:pt x="20012" y="0"/>
                </a:moveTo>
                <a:lnTo>
                  <a:pt x="1202659" y="0"/>
                </a:lnTo>
                <a:cubicBezTo>
                  <a:pt x="1213712" y="0"/>
                  <a:pt x="1222671" y="8960"/>
                  <a:pt x="1222671" y="20012"/>
                </a:cubicBezTo>
                <a:lnTo>
                  <a:pt x="1222671" y="104116"/>
                </a:lnTo>
                <a:cubicBezTo>
                  <a:pt x="1222671" y="115169"/>
                  <a:pt x="1213712" y="124128"/>
                  <a:pt x="1202659" y="124128"/>
                </a:cubicBezTo>
                <a:lnTo>
                  <a:pt x="20012" y="124128"/>
                </a:lnTo>
                <a:cubicBezTo>
                  <a:pt x="8960" y="124128"/>
                  <a:pt x="0" y="115169"/>
                  <a:pt x="0" y="104116"/>
                </a:cubicBezTo>
                <a:lnTo>
                  <a:pt x="0" y="20012"/>
                </a:lnTo>
                <a:cubicBezTo>
                  <a:pt x="0" y="8960"/>
                  <a:pt x="8960" y="0"/>
                  <a:pt x="20012" y="0"/>
                </a:cubicBezTo>
                <a:close/>
              </a:path>
            </a:pathLst>
          </a:cu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128" name="TextBox 128"/>
          <p:cNvSpPr txBox="1"/>
          <p:nvPr/>
        </p:nvSpPr>
        <p:spPr>
          <a:xfrm>
            <a:off x="193768" y="9539040"/>
            <a:ext cx="4642330" cy="54363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</a:p>
        </p:txBody>
      </p:sp>
      <p:sp>
        <p:nvSpPr>
          <p:cNvPr id="173" name="TextBox 173"/>
          <p:cNvSpPr txBox="1"/>
          <p:nvPr/>
        </p:nvSpPr>
        <p:spPr>
          <a:xfrm>
            <a:off x="1342519" y="1184638"/>
            <a:ext cx="2185541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Partenaires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4" name="TextBox 174"/>
          <p:cNvSpPr txBox="1"/>
          <p:nvPr/>
        </p:nvSpPr>
        <p:spPr>
          <a:xfrm>
            <a:off x="1126809" y="390525"/>
            <a:ext cx="2193386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Lomé, Togo</a:t>
            </a:r>
            <a:endParaRPr lang="en-US" sz="15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1800"/>
              </a:lnSpc>
            </a:pPr>
            <a:r>
              <a:rPr lang="en-US" sz="1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Certifié ISO 9001</a:t>
            </a: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2015</a:t>
            </a:r>
            <a:endParaRPr lang="en-US" sz="15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Lancement : </a:t>
            </a:r>
            <a:r>
              <a:rPr lang="en-US" sz="1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Janvier 2026</a:t>
            </a:r>
            <a:endParaRPr lang="en-US" sz="1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5" name="TextBox 175"/>
          <p:cNvSpPr txBox="1"/>
          <p:nvPr/>
        </p:nvSpPr>
        <p:spPr>
          <a:xfrm>
            <a:off x="12310303" y="1175113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Relations clientèle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6" name="TextBox 176"/>
          <p:cNvSpPr txBox="1"/>
          <p:nvPr/>
        </p:nvSpPr>
        <p:spPr>
          <a:xfrm>
            <a:off x="4915817" y="4592378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Ressources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7" name="TextBox 177"/>
          <p:cNvSpPr txBox="1"/>
          <p:nvPr/>
        </p:nvSpPr>
        <p:spPr>
          <a:xfrm>
            <a:off x="4944392" y="1180918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Activités clés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8" name="TextBox 178"/>
          <p:cNvSpPr txBox="1"/>
          <p:nvPr/>
        </p:nvSpPr>
        <p:spPr>
          <a:xfrm>
            <a:off x="15790110" y="1175113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Segments de clientèle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79" name="TextBox 179"/>
          <p:cNvSpPr txBox="1"/>
          <p:nvPr/>
        </p:nvSpPr>
        <p:spPr>
          <a:xfrm>
            <a:off x="12384261" y="4563580"/>
            <a:ext cx="1750437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Canaux</a:t>
            </a:r>
            <a:endParaRPr lang="en-US" sz="1900" b="1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0" name="TextBox 180"/>
          <p:cNvSpPr txBox="1"/>
          <p:nvPr/>
        </p:nvSpPr>
        <p:spPr>
          <a:xfrm>
            <a:off x="4989786" y="7570389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Structure de coûts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1" name="TextBox 181"/>
          <p:cNvSpPr txBox="1"/>
          <p:nvPr/>
        </p:nvSpPr>
        <p:spPr>
          <a:xfrm>
            <a:off x="15935363" y="7546577"/>
            <a:ext cx="21933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Sources de Revenus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2" name="TextBox 182"/>
          <p:cNvSpPr txBox="1"/>
          <p:nvPr/>
        </p:nvSpPr>
        <p:spPr>
          <a:xfrm>
            <a:off x="8050310" y="7556102"/>
            <a:ext cx="269755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Mission, vision et </a:t>
            </a:r>
            <a:r>
              <a:rPr lang="en-US" sz="1900" b="1" dirty="0" err="1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valeurs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3" name="TextBox 183"/>
          <p:cNvSpPr txBox="1"/>
          <p:nvPr/>
        </p:nvSpPr>
        <p:spPr>
          <a:xfrm>
            <a:off x="1176007" y="97214"/>
            <a:ext cx="2399957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Projet n° : 005-26-KYA</a:t>
            </a:r>
            <a:endParaRPr lang="en-US" sz="18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4" name="TextBox 184"/>
          <p:cNvSpPr txBox="1"/>
          <p:nvPr/>
        </p:nvSpPr>
        <p:spPr>
          <a:xfrm>
            <a:off x="3599777" y="-12122"/>
            <a:ext cx="12630823" cy="996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fr-FR" sz="3300" b="1" dirty="0">
                <a:solidFill>
                  <a:srgbClr val="FF75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Assemblage et commercialisation des batteries et lampadaires solaires au Togo.</a:t>
            </a:r>
            <a:endParaRPr lang="en-US" sz="3300" b="1" dirty="0">
              <a:solidFill>
                <a:srgbClr val="FF75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6" name="TextBox 186"/>
          <p:cNvSpPr txBox="1"/>
          <p:nvPr/>
        </p:nvSpPr>
        <p:spPr>
          <a:xfrm>
            <a:off x="16886802" y="92653"/>
            <a:ext cx="1186934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Désirabilité 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Faisabilité  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Viabilité</a:t>
            </a:r>
            <a:endParaRPr lang="en-US" sz="1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7" name="TextBox 187"/>
          <p:cNvSpPr txBox="1"/>
          <p:nvPr/>
        </p:nvSpPr>
        <p:spPr>
          <a:xfrm>
            <a:off x="8002033" y="1121353"/>
            <a:ext cx="269755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0"/>
              </a:lnSpc>
            </a:pPr>
            <a:r>
              <a:rPr lang="en-US" sz="1900" b="1" dirty="0">
                <a:solidFill>
                  <a:srgbClr val="FFFFF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Proposition de Valeur</a:t>
            </a:r>
            <a:endParaRPr lang="en-US" sz="1900" b="1" dirty="0">
              <a:solidFill>
                <a:srgbClr val="FFFFF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8" name="TextBox 188"/>
          <p:cNvSpPr txBox="1"/>
          <p:nvPr/>
        </p:nvSpPr>
        <p:spPr>
          <a:xfrm>
            <a:off x="7334089" y="1516864"/>
            <a:ext cx="3365501" cy="1112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</a:pPr>
            <a:r>
              <a:rPr lang="en-US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“</a:t>
            </a:r>
            <a:r>
              <a:rPr lang="fr-FR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Des batteries et lampadaires solaires assemblés localement au Togo, plus fiables, plus abordables et mieux adaptés à l'Afrique </a:t>
            </a:r>
            <a:r>
              <a:rPr lang="en-US" sz="1800" b="1" dirty="0">
                <a:solidFill>
                  <a:srgbClr val="FFC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“</a:t>
            </a:r>
            <a:endParaRPr lang="en-US" sz="1800" b="1" dirty="0">
              <a:solidFill>
                <a:srgbClr val="FFC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89" name="TextBox 189"/>
          <p:cNvSpPr txBox="1"/>
          <p:nvPr/>
        </p:nvSpPr>
        <p:spPr>
          <a:xfrm>
            <a:off x="7334089" y="2705100"/>
            <a:ext cx="3410111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Produits 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conçus pour le tropique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stabilité thermique, résistance humidité;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Réduction du coût  des systèmes solaires : Coûts maîtrisés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Traçabilité complète par numéro de lot (fiche technique + tests);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Indépendance vis-à-vis des importations fluctuantes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Offre 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clé en main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étude, dimensionnement, installation, maintenance 5 ans;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Financement flexible : 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location-vente échelonnée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via banques partenaires;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social, environnemental mesurable 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emplois, CO₂ évité, économie circulaire.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TextBox 190"/>
          <p:cNvSpPr txBox="1"/>
          <p:nvPr/>
        </p:nvSpPr>
        <p:spPr>
          <a:xfrm>
            <a:off x="3709398" y="1498963"/>
            <a:ext cx="3483164" cy="2917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/>
            <a:r>
              <a:rPr lang="fr-FR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Assemblage local de </a:t>
            </a:r>
            <a:r>
              <a:rPr lang="fr-FR" sz="15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batteries </a:t>
            </a:r>
            <a:endParaRPr lang="fr-FR" sz="158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5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LiFePO₄</a:t>
            </a:r>
            <a:r>
              <a:rPr lang="fr-FR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(BMS intégré)</a:t>
            </a:r>
            <a:endParaRPr lang="fr-FR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Assemblage de </a:t>
            </a:r>
            <a:r>
              <a:rPr lang="fr-FR" sz="15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lampadaires solaires </a:t>
            </a:r>
            <a:endParaRPr lang="fr-FR" sz="158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5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All-in-One</a:t>
            </a:r>
            <a:endParaRPr lang="fr-FR" sz="158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Contrôle qualité &amp; traçabilité</a:t>
            </a:r>
            <a:endParaRPr lang="fr-FR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Marketing, prospection institutionnelle</a:t>
            </a:r>
            <a:endParaRPr lang="fr-FR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Dimensionnement avec logiciel </a:t>
            </a:r>
            <a:r>
              <a:rPr lang="fr-FR" sz="158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KYA-</a:t>
            </a:r>
            <a:endParaRPr lang="fr-FR" sz="158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58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SolDesign</a:t>
            </a:r>
            <a:endParaRPr lang="fr-FR" sz="158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Installation, mise en service</a:t>
            </a:r>
            <a:endParaRPr lang="fr-FR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Maintenance sur 7 ans et SAV</a:t>
            </a:r>
            <a:endParaRPr lang="fr-FR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R&amp;D et Formation continue du </a:t>
            </a:r>
            <a:endParaRPr lang="fr-FR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personnel</a:t>
            </a:r>
            <a:endParaRPr lang="fr-FR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TextBox 191"/>
          <p:cNvSpPr txBox="1"/>
          <p:nvPr/>
        </p:nvSpPr>
        <p:spPr>
          <a:xfrm>
            <a:off x="3729990" y="4956192"/>
            <a:ext cx="3375402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Unité d'assemblage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à Agoè Logopé 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(Lomé) : site 100% solaire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Équipe de 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ingénieurs et   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techniciens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qualifiés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   Prof. Yao AZOUMAH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expertise </a:t>
            </a: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reconnue, réseau panafricain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Logiciel propriétaire </a:t>
            </a:r>
            <a:r>
              <a:rPr lang="fr-F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KYA- SolDesign</a:t>
            </a:r>
            <a:endParaRPr lang="fr-FR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Partenariat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exclusif HITECH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   Accords bancaires SIAB, ECOBANK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lvl="0" algn="just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  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ISO 9001: 2015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93" name="TextBox 193"/>
          <p:cNvSpPr txBox="1"/>
          <p:nvPr/>
        </p:nvSpPr>
        <p:spPr>
          <a:xfrm>
            <a:off x="14630400" y="1525063"/>
            <a:ext cx="34991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publiques :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ts val="204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Centres de santé, écoles, mairies, administrations, sites militaires</a:t>
            </a:r>
            <a:endParaRPr lang="en-US" b="1" dirty="0">
              <a:solidFill>
                <a:schemeClr val="accent6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203" name="TextBox 203"/>
          <p:cNvSpPr txBox="1"/>
          <p:nvPr/>
        </p:nvSpPr>
        <p:spPr>
          <a:xfrm>
            <a:off x="756117" y="7999095"/>
            <a:ext cx="210520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CAPEX investissement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800 000 000 F CFA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04" name="TextBox 204"/>
          <p:cNvSpPr txBox="1"/>
          <p:nvPr/>
        </p:nvSpPr>
        <p:spPr>
          <a:xfrm>
            <a:off x="4494978" y="7989270"/>
            <a:ext cx="22777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OPEX Achat de matières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2 041 779 047 F CFA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07" name="TextBox 207"/>
          <p:cNvSpPr txBox="1"/>
          <p:nvPr/>
        </p:nvSpPr>
        <p:spPr>
          <a:xfrm>
            <a:off x="207381" y="9321508"/>
            <a:ext cx="680252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08" name="TextBox 208"/>
          <p:cNvSpPr txBox="1"/>
          <p:nvPr/>
        </p:nvSpPr>
        <p:spPr>
          <a:xfrm>
            <a:off x="306899" y="8557377"/>
            <a:ext cx="662940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Autres coûts d’ OPEX</a:t>
            </a:r>
            <a:endParaRPr lang="en-US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818 385 607 F CFA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Assemblage  </a:t>
            </a: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+</a:t>
            </a: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Coordination   </a:t>
            </a: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+</a:t>
            </a: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Communication et marketing   </a:t>
            </a:r>
            <a:r>
              <a:rPr lang="en-US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+</a:t>
            </a: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 R&amp;D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17" name="TextBox 217"/>
          <p:cNvSpPr txBox="1"/>
          <p:nvPr/>
        </p:nvSpPr>
        <p:spPr>
          <a:xfrm>
            <a:off x="7416049" y="9003534"/>
            <a:ext cx="345769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dirty="0">
                <a:solidFill>
                  <a:srgbClr val="FF75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Démocratiser l’accès à l’énergie durable.</a:t>
            </a:r>
            <a:endParaRPr lang="en-US" sz="1600" dirty="0">
              <a:solidFill>
                <a:srgbClr val="FF75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TextBox 218"/>
          <p:cNvSpPr txBox="1"/>
          <p:nvPr/>
        </p:nvSpPr>
        <p:spPr>
          <a:xfrm>
            <a:off x="7458669" y="7912921"/>
            <a:ext cx="3285531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600" dirty="0">
                <a:solidFill>
                  <a:srgbClr val="76069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Transformer, de façon innovante, des ressources énergétiques renouvelables pour produire de l’énergie propre, fiable et abordable à tous.</a:t>
            </a:r>
            <a:endParaRPr lang="en-US" sz="1600" dirty="0">
              <a:solidFill>
                <a:srgbClr val="76069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TextBox 219"/>
          <p:cNvSpPr txBox="1"/>
          <p:nvPr/>
        </p:nvSpPr>
        <p:spPr>
          <a:xfrm>
            <a:off x="7431036" y="9362621"/>
            <a:ext cx="328564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600" dirty="0">
                <a:solidFill>
                  <a:srgbClr val="22988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Professionnalisme, Rigueur, Esprit d’équipe, Ecoute du client, Intégrité, Transparence, Equité et Innovation.</a:t>
            </a:r>
            <a:endParaRPr lang="en-US" sz="1600" dirty="0">
              <a:solidFill>
                <a:srgbClr val="22988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1" name="TextBox 5"/>
          <p:cNvSpPr txBox="1"/>
          <p:nvPr/>
        </p:nvSpPr>
        <p:spPr>
          <a:xfrm>
            <a:off x="43865" y="2980116"/>
            <a:ext cx="3583765" cy="1061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Financiers :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SIAB, ECOBANK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(accords signés)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ORABANK, BOAD</a:t>
            </a:r>
            <a:endParaRPr lang="en-US" sz="1700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222" name="TextBox 5"/>
          <p:cNvSpPr txBox="1"/>
          <p:nvPr/>
        </p:nvSpPr>
        <p:spPr>
          <a:xfrm>
            <a:off x="43865" y="5339736"/>
            <a:ext cx="358376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/>
            <a:r>
              <a:rPr lang="en-US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Institutionnels et sectoriels :</a:t>
            </a:r>
            <a:endParaRPr lang="en-US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CCIT </a:t>
            </a:r>
            <a:endParaRPr lang="fr-FR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CNP</a:t>
            </a:r>
            <a:endParaRPr lang="fr-FR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223" name="TextBox 5"/>
          <p:cNvSpPr txBox="1"/>
          <p:nvPr/>
        </p:nvSpPr>
        <p:spPr>
          <a:xfrm>
            <a:off x="43865" y="6265823"/>
            <a:ext cx="3583765" cy="1087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>
              <a:lnSpc>
                <a:spcPts val="204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Environnement et Recyclage :</a:t>
            </a:r>
            <a:endParaRPr lang="en-US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ASRI </a:t>
            </a:r>
            <a:r>
              <a:rPr lang="fr-FR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(déchets électroniques)</a:t>
            </a:r>
            <a:endParaRPr lang="fr-FR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AGR </a:t>
            </a:r>
            <a:r>
              <a:rPr lang="fr-FR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(cartons/papiers)</a:t>
            </a:r>
            <a:endParaRPr lang="fr-FR" b="1" dirty="0"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Mairie d'</a:t>
            </a:r>
            <a:r>
              <a:rPr lang="fr-FR" b="1" dirty="0" err="1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Agoè-Nyivé</a:t>
            </a:r>
            <a:endParaRPr lang="en-US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224" name="TextBox 5"/>
          <p:cNvSpPr txBox="1"/>
          <p:nvPr/>
        </p:nvSpPr>
        <p:spPr>
          <a:xfrm>
            <a:off x="43865" y="4136650"/>
            <a:ext cx="3583765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3515" lvl="1"/>
            <a:r>
              <a:rPr lang="en-US" b="1" dirty="0"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Étatiques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 : 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ARSE, AT2ER, </a:t>
            </a:r>
            <a:endParaRPr lang="fr-FR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Ministère de l'Énergie</a:t>
            </a:r>
            <a:endParaRPr lang="fr-FR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  <a:p>
            <a:pPr marL="469265" lvl="1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229883"/>
                </a:solidFill>
                <a:latin typeface="Times New Roman" panose="02020603050405020304" pitchFamily="18" charset="0"/>
                <a:ea typeface="Times New Roman Bold" panose="02020803070505020304"/>
                <a:cs typeface="Times New Roman" panose="02020603050405020304" pitchFamily="18" charset="0"/>
                <a:sym typeface="Times New Roman Bold" panose="02020803070505020304"/>
              </a:rPr>
              <a:t>Ministère de l'Économie</a:t>
            </a:r>
            <a:endParaRPr lang="en-US" b="1" dirty="0">
              <a:solidFill>
                <a:srgbClr val="229883"/>
              </a:solidFill>
              <a:latin typeface="Times New Roman" panose="02020603050405020304" pitchFamily="18" charset="0"/>
              <a:ea typeface="Times New Roman Bold" panose="02020803070505020304"/>
              <a:cs typeface="Times New Roman" panose="02020603050405020304" pitchFamily="18" charset="0"/>
              <a:sym typeface="Times New Roman Bold" panose="02020803070505020304"/>
            </a:endParaRPr>
          </a:p>
        </p:txBody>
      </p:sp>
      <p:sp>
        <p:nvSpPr>
          <p:cNvPr id="226" name="TextBox 193"/>
          <p:cNvSpPr txBox="1"/>
          <p:nvPr/>
        </p:nvSpPr>
        <p:spPr>
          <a:xfrm>
            <a:off x="14755082" y="2382386"/>
            <a:ext cx="3299178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privées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PME, PMI, pharmacies, hôtels   cliniques, agroalimentaire, </a:t>
            </a:r>
            <a:r>
              <a:rPr lang="fr-FR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TextBox 193"/>
          <p:cNvSpPr txBox="1"/>
          <p:nvPr/>
        </p:nvSpPr>
        <p:spPr>
          <a:xfrm>
            <a:off x="14717131" y="4220144"/>
            <a:ext cx="333712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Collectivités locales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(</a:t>
            </a: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remplace-</a:t>
            </a:r>
            <a:endParaRPr lang="fr-FR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 lampadaires défectueux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TextBox 193"/>
          <p:cNvSpPr txBox="1"/>
          <p:nvPr/>
        </p:nvSpPr>
        <p:spPr>
          <a:xfrm>
            <a:off x="14717131" y="3301265"/>
            <a:ext cx="337508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Installateurs solaires :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Revendeurs et intégrateurs systèmes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Box 193"/>
          <p:cNvSpPr txBox="1"/>
          <p:nvPr/>
        </p:nvSpPr>
        <p:spPr>
          <a:xfrm>
            <a:off x="14717131" y="4862024"/>
            <a:ext cx="333712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Zones rurales et périurbaines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sans accès fiable au réseau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TextBox 193"/>
          <p:cNvSpPr txBox="1"/>
          <p:nvPr/>
        </p:nvSpPr>
        <p:spPr>
          <a:xfrm>
            <a:off x="14745717" y="5503902"/>
            <a:ext cx="333712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Marchés régionaux CEDEAO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fr-FR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 à moyen terme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TextBox 193"/>
          <p:cNvSpPr txBox="1"/>
          <p:nvPr/>
        </p:nvSpPr>
        <p:spPr>
          <a:xfrm>
            <a:off x="14684365" y="6116901"/>
            <a:ext cx="3429996" cy="1225868"/>
          </a:xfrm>
          <a:prstGeom prst="roundRect">
            <a:avLst/>
          </a:prstGeom>
          <a:solidFill>
            <a:schemeClr val="tx1"/>
          </a:solidFill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Priorité (2026) :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Togo</a:t>
            </a: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Extension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sous-région Ouest-Africaine (Bénin, Ghana, Burkina, Sahel…)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TextBox 193"/>
          <p:cNvSpPr txBox="1"/>
          <p:nvPr/>
        </p:nvSpPr>
        <p:spPr>
          <a:xfrm>
            <a:off x="11095440" y="1434330"/>
            <a:ext cx="3382560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Prospection directe B2B;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Contrats cadre avec institutions;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Accompagnement personnalisé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(analyse de besoin énergétique);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SAV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Formation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équipes techniques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clients;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Offre 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location-vente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pour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accessibilité financière;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Démonstrations terrain et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études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 cas réels.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TextBox 193"/>
          <p:cNvSpPr txBox="1"/>
          <p:nvPr/>
        </p:nvSpPr>
        <p:spPr>
          <a:xfrm>
            <a:off x="10896600" y="4908709"/>
            <a:ext cx="365246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Vente directe B2B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Appels d'offres publics et institutionnels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Partenariats bancaires pour financement 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client 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Relations institutionnelles (ARSE, CCIT,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Ministères, etc.)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Réseau installateurs solaires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Réseau revendeurs locaux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Marketing digital, réseaux professionnels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Salons, foires des énergies renouvelables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Freeform 67"/>
          <p:cNvSpPr/>
          <p:nvPr/>
        </p:nvSpPr>
        <p:spPr>
          <a:xfrm>
            <a:off x="176034" y="9354197"/>
            <a:ext cx="2130554" cy="729898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FFFF00"/>
          </a:solidFill>
          <a:ln w="3810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75" name="TextBox 68"/>
          <p:cNvSpPr txBox="1"/>
          <p:nvPr/>
        </p:nvSpPr>
        <p:spPr>
          <a:xfrm>
            <a:off x="201388" y="9566587"/>
            <a:ext cx="2259402" cy="4435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0"/>
              </a:lnSpc>
            </a:pPr>
            <a:endParaRPr dirty="0"/>
          </a:p>
        </p:txBody>
      </p:sp>
      <p:sp>
        <p:nvSpPr>
          <p:cNvPr id="282" name="TextBox 203"/>
          <p:cNvSpPr txBox="1"/>
          <p:nvPr/>
        </p:nvSpPr>
        <p:spPr>
          <a:xfrm>
            <a:off x="184463" y="9351896"/>
            <a:ext cx="2105200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Coûts total du projet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3 660 164 654 F CFA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Sur 5 ans 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84" name="Freeform 67"/>
          <p:cNvSpPr/>
          <p:nvPr/>
        </p:nvSpPr>
        <p:spPr>
          <a:xfrm>
            <a:off x="4774517" y="9350669"/>
            <a:ext cx="2330583" cy="733425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92D050"/>
          </a:solidFill>
          <a:ln w="3810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85" name="Freeform 67"/>
          <p:cNvSpPr/>
          <p:nvPr/>
        </p:nvSpPr>
        <p:spPr>
          <a:xfrm>
            <a:off x="2375261" y="9362621"/>
            <a:ext cx="2330583" cy="729897"/>
          </a:xfrm>
          <a:custGeom>
            <a:avLst/>
            <a:gdLst/>
            <a:ahLst/>
            <a:cxnLst/>
            <a:rect l="l" t="t" r="r" b="b"/>
            <a:pathLst>
              <a:path w="595069" h="145501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04383"/>
                </a:lnTo>
                <a:cubicBezTo>
                  <a:pt x="595069" y="115288"/>
                  <a:pt x="590737" y="125747"/>
                  <a:pt x="583025" y="133458"/>
                </a:cubicBezTo>
                <a:cubicBezTo>
                  <a:pt x="575314" y="141169"/>
                  <a:pt x="564856" y="145501"/>
                  <a:pt x="553950" y="145501"/>
                </a:cubicBezTo>
                <a:lnTo>
                  <a:pt x="41118" y="145501"/>
                </a:lnTo>
                <a:cubicBezTo>
                  <a:pt x="30213" y="145501"/>
                  <a:pt x="19755" y="141169"/>
                  <a:pt x="12043" y="133458"/>
                </a:cubicBezTo>
                <a:cubicBezTo>
                  <a:pt x="4332" y="125747"/>
                  <a:pt x="0" y="115288"/>
                  <a:pt x="0" y="104383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rgbClr val="C00000"/>
          </a:solidFill>
          <a:ln w="3810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86" name="TextBox 203"/>
          <p:cNvSpPr txBox="1"/>
          <p:nvPr/>
        </p:nvSpPr>
        <p:spPr>
          <a:xfrm>
            <a:off x="2475460" y="9365531"/>
            <a:ext cx="2105200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Financement sollicité </a:t>
            </a:r>
            <a:endParaRPr lang="en-US" sz="160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804 000 000  F CFA</a:t>
            </a:r>
            <a:endParaRPr lang="en-US" sz="160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Année 1</a:t>
            </a:r>
            <a:endParaRPr lang="en-US" sz="160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87" name="TextBox 203"/>
          <p:cNvSpPr txBox="1"/>
          <p:nvPr/>
        </p:nvSpPr>
        <p:spPr>
          <a:xfrm>
            <a:off x="4791442" y="9346280"/>
            <a:ext cx="2275071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Apport en fonds propres 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344 550 000 F CFA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6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Année 1</a:t>
            </a:r>
            <a:endParaRPr lang="en-US" sz="16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93" name="Freeform 25"/>
          <p:cNvSpPr/>
          <p:nvPr/>
        </p:nvSpPr>
        <p:spPr>
          <a:xfrm>
            <a:off x="10920186" y="8001911"/>
            <a:ext cx="2259402" cy="1061149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4" name="TextBox 205"/>
          <p:cNvSpPr txBox="1"/>
          <p:nvPr/>
        </p:nvSpPr>
        <p:spPr>
          <a:xfrm>
            <a:off x="10889708" y="8088434"/>
            <a:ext cx="2308973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Vente batteries LiFePO₄</a:t>
            </a:r>
            <a:endParaRPr lang="fr-FR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2 462 unités</a:t>
            </a:r>
            <a:endParaRPr lang="fr-FR" sz="16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60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100–150 batteries/mois </a:t>
            </a:r>
            <a:r>
              <a:rPr lang="fr-FR" sz="1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(court terme)</a:t>
            </a:r>
            <a:endParaRPr lang="en-US" sz="160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95" name="Freeform 25"/>
          <p:cNvSpPr/>
          <p:nvPr/>
        </p:nvSpPr>
        <p:spPr>
          <a:xfrm>
            <a:off x="13240623" y="7990544"/>
            <a:ext cx="2333625" cy="1072516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6" name="Freeform 25"/>
          <p:cNvSpPr/>
          <p:nvPr/>
        </p:nvSpPr>
        <p:spPr>
          <a:xfrm>
            <a:off x="15637083" y="7999095"/>
            <a:ext cx="2455129" cy="767730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7" name="TextBox 205"/>
          <p:cNvSpPr txBox="1"/>
          <p:nvPr/>
        </p:nvSpPr>
        <p:spPr>
          <a:xfrm>
            <a:off x="15627718" y="8009644"/>
            <a:ext cx="2455129" cy="717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sz="158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Service de maintenance</a:t>
            </a:r>
            <a:endParaRPr lang="fr-FR" sz="158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58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Revenus récurrents</a:t>
            </a:r>
            <a:endParaRPr lang="fr-FR" sz="158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58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Contrats  long terme (5 ans)</a:t>
            </a:r>
            <a:endParaRPr lang="en-US" sz="158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98" name="TextBox 205"/>
          <p:cNvSpPr txBox="1"/>
          <p:nvPr/>
        </p:nvSpPr>
        <p:spPr>
          <a:xfrm>
            <a:off x="13198681" y="8085985"/>
            <a:ext cx="2455129" cy="961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sz="158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Vente lampadaires solaires</a:t>
            </a:r>
            <a:endParaRPr lang="fr-FR" sz="158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58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7 386 unités</a:t>
            </a:r>
            <a:endParaRPr lang="fr-FR" sz="158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58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300 lampadaires/mois</a:t>
            </a:r>
            <a:endParaRPr lang="fr-FR" sz="1580" b="1" dirty="0">
              <a:solidFill>
                <a:srgbClr val="22988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fr-FR" sz="1580" b="1" dirty="0">
                <a:solidFill>
                  <a:srgbClr val="22988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fr-FR" sz="158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(court terme)</a:t>
            </a:r>
            <a:endParaRPr lang="en-US" sz="158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00" name="Freeform 25"/>
          <p:cNvSpPr/>
          <p:nvPr/>
        </p:nvSpPr>
        <p:spPr>
          <a:xfrm>
            <a:off x="10937691" y="9203529"/>
            <a:ext cx="2259402" cy="237040"/>
          </a:xfrm>
          <a:custGeom>
            <a:avLst/>
            <a:gdLst/>
            <a:ahLst/>
            <a:cxnLst/>
            <a:rect l="l" t="t" r="r" b="b"/>
            <a:pathLst>
              <a:path w="595069" h="229772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88654"/>
                </a:lnTo>
                <a:cubicBezTo>
                  <a:pt x="595069" y="199559"/>
                  <a:pt x="590737" y="210018"/>
                  <a:pt x="583025" y="217729"/>
                </a:cubicBezTo>
                <a:cubicBezTo>
                  <a:pt x="575314" y="225440"/>
                  <a:pt x="564856" y="229772"/>
                  <a:pt x="553950" y="229772"/>
                </a:cubicBezTo>
                <a:lnTo>
                  <a:pt x="41118" y="229772"/>
                </a:lnTo>
                <a:cubicBezTo>
                  <a:pt x="30213" y="229772"/>
                  <a:pt x="19755" y="225440"/>
                  <a:pt x="12043" y="217729"/>
                </a:cubicBezTo>
                <a:cubicBezTo>
                  <a:pt x="4332" y="210018"/>
                  <a:pt x="0" y="199559"/>
                  <a:pt x="0" y="188654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 cap="sq">
            <a:solidFill>
              <a:schemeClr val="accent6">
                <a:lumMod val="20000"/>
                <a:lumOff val="80000"/>
              </a:schemeClr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01" name="TextBox 205"/>
          <p:cNvSpPr txBox="1"/>
          <p:nvPr/>
        </p:nvSpPr>
        <p:spPr>
          <a:xfrm>
            <a:off x="10970045" y="9223715"/>
            <a:ext cx="2145549" cy="230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nn-NO" sz="158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 2026 : </a:t>
            </a:r>
            <a:r>
              <a:rPr lang="nn-NO" sz="1580" b="1" dirty="0">
                <a:solidFill>
                  <a:schemeClr val="accent6">
                    <a:lumMod val="75000"/>
                  </a:schemeClr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480 M FCFA</a:t>
            </a:r>
            <a:endParaRPr lang="en-US" sz="1580" b="1" dirty="0">
              <a:solidFill>
                <a:schemeClr val="accent6">
                  <a:lumMod val="75000"/>
                </a:schemeClr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08" name="Freeform 25"/>
          <p:cNvSpPr/>
          <p:nvPr/>
        </p:nvSpPr>
        <p:spPr>
          <a:xfrm>
            <a:off x="13334972" y="9192232"/>
            <a:ext cx="2942402" cy="343796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09" name="TextBox 205"/>
          <p:cNvSpPr txBox="1"/>
          <p:nvPr/>
        </p:nvSpPr>
        <p:spPr>
          <a:xfrm>
            <a:off x="13366750" y="9245142"/>
            <a:ext cx="2940050" cy="230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sz="1580" b="1" dirty="0">
                <a:solidFill>
                  <a:srgbClr val="00B05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Résultat net 5 ans : 380 M FCFA</a:t>
            </a:r>
            <a:endParaRPr lang="en-US" sz="1580" b="1" dirty="0">
              <a:solidFill>
                <a:srgbClr val="00B05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12" name="Freeform 25"/>
          <p:cNvSpPr/>
          <p:nvPr/>
        </p:nvSpPr>
        <p:spPr>
          <a:xfrm>
            <a:off x="13339987" y="9730176"/>
            <a:ext cx="2942402" cy="343796"/>
          </a:xfrm>
          <a:prstGeom prst="rect">
            <a:avLst/>
          </a:prstGeom>
          <a:solidFill>
            <a:srgbClr val="FAFEFC"/>
          </a:solidFill>
          <a:ln w="19050" cap="sq">
            <a:solidFill>
              <a:srgbClr val="7ED95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13" name="TextBox 205"/>
          <p:cNvSpPr txBox="1"/>
          <p:nvPr/>
        </p:nvSpPr>
        <p:spPr>
          <a:xfrm>
            <a:off x="13340064" y="9782574"/>
            <a:ext cx="2940050" cy="230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fr-FR" sz="1580" b="1" dirty="0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Point mort : </a:t>
            </a:r>
            <a:r>
              <a:rPr lang="fr-FR" sz="158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Septembre 2027</a:t>
            </a:r>
            <a:endParaRPr lang="en-US" sz="158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14" name="Freeform 25"/>
          <p:cNvSpPr/>
          <p:nvPr/>
        </p:nvSpPr>
        <p:spPr>
          <a:xfrm>
            <a:off x="10937691" y="9530435"/>
            <a:ext cx="2259402" cy="237040"/>
          </a:xfrm>
          <a:custGeom>
            <a:avLst/>
            <a:gdLst/>
            <a:ahLst/>
            <a:cxnLst/>
            <a:rect l="l" t="t" r="r" b="b"/>
            <a:pathLst>
              <a:path w="595069" h="229772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88654"/>
                </a:lnTo>
                <a:cubicBezTo>
                  <a:pt x="595069" y="199559"/>
                  <a:pt x="590737" y="210018"/>
                  <a:pt x="583025" y="217729"/>
                </a:cubicBezTo>
                <a:cubicBezTo>
                  <a:pt x="575314" y="225440"/>
                  <a:pt x="564856" y="229772"/>
                  <a:pt x="553950" y="229772"/>
                </a:cubicBezTo>
                <a:lnTo>
                  <a:pt x="41118" y="229772"/>
                </a:lnTo>
                <a:cubicBezTo>
                  <a:pt x="30213" y="229772"/>
                  <a:pt x="19755" y="225440"/>
                  <a:pt x="12043" y="217729"/>
                </a:cubicBezTo>
                <a:cubicBezTo>
                  <a:pt x="4332" y="210018"/>
                  <a:pt x="0" y="199559"/>
                  <a:pt x="0" y="188654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 cap="sq">
            <a:solidFill>
              <a:schemeClr val="accent6">
                <a:lumMod val="20000"/>
                <a:lumOff val="80000"/>
              </a:schemeClr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15" name="Freeform 25"/>
          <p:cNvSpPr/>
          <p:nvPr/>
        </p:nvSpPr>
        <p:spPr>
          <a:xfrm>
            <a:off x="11039502" y="9857341"/>
            <a:ext cx="2259402" cy="237040"/>
          </a:xfrm>
          <a:custGeom>
            <a:avLst/>
            <a:gdLst/>
            <a:ahLst/>
            <a:cxnLst/>
            <a:rect l="l" t="t" r="r" b="b"/>
            <a:pathLst>
              <a:path w="595069" h="229772">
                <a:moveTo>
                  <a:pt x="41118" y="0"/>
                </a:moveTo>
                <a:lnTo>
                  <a:pt x="553950" y="0"/>
                </a:lnTo>
                <a:cubicBezTo>
                  <a:pt x="576659" y="0"/>
                  <a:pt x="595069" y="18409"/>
                  <a:pt x="595069" y="41118"/>
                </a:cubicBezTo>
                <a:lnTo>
                  <a:pt x="595069" y="188654"/>
                </a:lnTo>
                <a:cubicBezTo>
                  <a:pt x="595069" y="199559"/>
                  <a:pt x="590737" y="210018"/>
                  <a:pt x="583025" y="217729"/>
                </a:cubicBezTo>
                <a:cubicBezTo>
                  <a:pt x="575314" y="225440"/>
                  <a:pt x="564856" y="229772"/>
                  <a:pt x="553950" y="229772"/>
                </a:cubicBezTo>
                <a:lnTo>
                  <a:pt x="41118" y="229772"/>
                </a:lnTo>
                <a:cubicBezTo>
                  <a:pt x="30213" y="229772"/>
                  <a:pt x="19755" y="225440"/>
                  <a:pt x="12043" y="217729"/>
                </a:cubicBezTo>
                <a:cubicBezTo>
                  <a:pt x="4332" y="210018"/>
                  <a:pt x="0" y="199559"/>
                  <a:pt x="0" y="188654"/>
                </a:cubicBezTo>
                <a:lnTo>
                  <a:pt x="0" y="41118"/>
                </a:lnTo>
                <a:cubicBezTo>
                  <a:pt x="0" y="30213"/>
                  <a:pt x="4332" y="19755"/>
                  <a:pt x="12043" y="12043"/>
                </a:cubicBezTo>
                <a:cubicBezTo>
                  <a:pt x="19755" y="4332"/>
                  <a:pt x="30213" y="0"/>
                  <a:pt x="41118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 cap="sq">
            <a:solidFill>
              <a:schemeClr val="accent6">
                <a:lumMod val="20000"/>
                <a:lumOff val="80000"/>
              </a:schemeClr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04" name="TextBox 205"/>
          <p:cNvSpPr txBox="1"/>
          <p:nvPr/>
        </p:nvSpPr>
        <p:spPr>
          <a:xfrm>
            <a:off x="10956566" y="9535261"/>
            <a:ext cx="2145549" cy="230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nn-NO" sz="158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 2028 : </a:t>
            </a:r>
            <a:r>
              <a:rPr lang="nn-NO" sz="1580" b="1" dirty="0">
                <a:solidFill>
                  <a:schemeClr val="accent6">
                    <a:lumMod val="75000"/>
                  </a:schemeClr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750 M FCFA</a:t>
            </a:r>
            <a:endParaRPr lang="en-US" sz="1580" b="1" dirty="0">
              <a:solidFill>
                <a:schemeClr val="accent6">
                  <a:lumMod val="75000"/>
                </a:schemeClr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05" name="TextBox 205"/>
          <p:cNvSpPr txBox="1"/>
          <p:nvPr/>
        </p:nvSpPr>
        <p:spPr>
          <a:xfrm>
            <a:off x="10907213" y="9858483"/>
            <a:ext cx="2275071" cy="230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nn-NO" sz="158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 2030 : </a:t>
            </a:r>
            <a:r>
              <a:rPr lang="nn-NO" sz="1580" b="1" dirty="0">
                <a:solidFill>
                  <a:schemeClr val="accent6">
                    <a:lumMod val="75000"/>
                  </a:schemeClr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1 172 M FCFA</a:t>
            </a:r>
            <a:endParaRPr lang="en-US" sz="1580" b="1" dirty="0">
              <a:solidFill>
                <a:schemeClr val="accent6">
                  <a:lumMod val="75000"/>
                </a:schemeClr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16" name="Freeform 25"/>
          <p:cNvSpPr/>
          <p:nvPr/>
        </p:nvSpPr>
        <p:spPr>
          <a:xfrm>
            <a:off x="16922973" y="8934901"/>
            <a:ext cx="762000" cy="508635"/>
          </a:xfrm>
          <a:prstGeom prst="rect">
            <a:avLst/>
          </a:prstGeom>
          <a:solidFill>
            <a:srgbClr val="002060"/>
          </a:solidFill>
          <a:ln w="28575" cap="sq">
            <a:solidFill>
              <a:srgbClr val="00B05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17" name="Freeform 25"/>
          <p:cNvSpPr/>
          <p:nvPr/>
        </p:nvSpPr>
        <p:spPr>
          <a:xfrm>
            <a:off x="16383000" y="9565716"/>
            <a:ext cx="1671259" cy="508635"/>
          </a:xfrm>
          <a:prstGeom prst="rect">
            <a:avLst/>
          </a:prstGeom>
          <a:solidFill>
            <a:srgbClr val="002060"/>
          </a:solidFill>
          <a:ln w="28575" cap="sq">
            <a:solidFill>
              <a:srgbClr val="00B05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18" name="TextBox 205"/>
          <p:cNvSpPr txBox="1"/>
          <p:nvPr/>
        </p:nvSpPr>
        <p:spPr>
          <a:xfrm>
            <a:off x="16894796" y="8977301"/>
            <a:ext cx="770671" cy="473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58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42%</a:t>
            </a:r>
            <a:endParaRPr lang="en-US" sz="158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58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TRI</a:t>
            </a:r>
            <a:endParaRPr lang="en-US" sz="158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19" name="TextBox 205"/>
          <p:cNvSpPr txBox="1"/>
          <p:nvPr/>
        </p:nvSpPr>
        <p:spPr>
          <a:xfrm>
            <a:off x="16341711" y="9610182"/>
            <a:ext cx="1750501" cy="473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58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196 384 935 F CFA</a:t>
            </a:r>
            <a:endParaRPr lang="en-US" sz="158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1920"/>
              </a:lnSpc>
            </a:pPr>
            <a:r>
              <a:rPr lang="en-US" sz="1580" b="1" dirty="0">
                <a:solidFill>
                  <a:schemeClr val="bg1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VAN</a:t>
            </a:r>
            <a:endParaRPr lang="en-US" sz="1580" b="1" dirty="0">
              <a:solidFill>
                <a:schemeClr val="bg1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19718</Words>
  <Application>WPS Presentation</Application>
  <PresentationFormat>Personnalisé</PresentationFormat>
  <Paragraphs>864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Times New Roman Bold</vt:lpstr>
      <vt:lpstr>Times New Roman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Modèles d'affaire</dc:title>
  <dc:creator/>
  <cp:lastModifiedBy>Xavier GBANDI</cp:lastModifiedBy>
  <cp:revision>16</cp:revision>
  <dcterms:created xsi:type="dcterms:W3CDTF">2006-08-16T00:00:00Z</dcterms:created>
  <dcterms:modified xsi:type="dcterms:W3CDTF">2026-04-10T08:10:24Z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08CD7AAEB7DA420296873C18566A63CF_13</vt:lpwstr>
  </property>
  <property fmtid="{D5CDD505-2E9C-101B-9397-08002B2CF9AE}" pid="3" name="KSOProductBuildVer">
    <vt:lpwstr>1036-12.1.0.25242</vt:lpwstr>
  </property>
</Properties>
</file>